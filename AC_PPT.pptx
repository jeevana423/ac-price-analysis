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5" r:id="rId2"/>
    <p:sldMasterId id="2147483706" r:id="rId3"/>
  </p:sldMasterIdLst>
  <p:notesMasterIdLst>
    <p:notesMasterId r:id="rId42"/>
  </p:notesMasterIdLst>
  <p:sldIdLst>
    <p:sldId id="256" r:id="rId4"/>
    <p:sldId id="257" r:id="rId5"/>
    <p:sldId id="350" r:id="rId6"/>
    <p:sldId id="259" r:id="rId7"/>
    <p:sldId id="261" r:id="rId8"/>
    <p:sldId id="262" r:id="rId9"/>
    <p:sldId id="351" r:id="rId10"/>
    <p:sldId id="265" r:id="rId11"/>
    <p:sldId id="263" r:id="rId12"/>
    <p:sldId id="353" r:id="rId13"/>
    <p:sldId id="354" r:id="rId14"/>
    <p:sldId id="264" r:id="rId15"/>
    <p:sldId id="266" r:id="rId16"/>
    <p:sldId id="267" r:id="rId17"/>
    <p:sldId id="355" r:id="rId18"/>
    <p:sldId id="270" r:id="rId19"/>
    <p:sldId id="274" r:id="rId20"/>
    <p:sldId id="269" r:id="rId21"/>
    <p:sldId id="349" r:id="rId22"/>
    <p:sldId id="271"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9" r:id="rId37"/>
    <p:sldId id="290" r:id="rId38"/>
    <p:sldId id="291" r:id="rId39"/>
    <p:sldId id="292" r:id="rId40"/>
    <p:sldId id="356" r:id="rId41"/>
  </p:sldIdLst>
  <p:sldSz cx="9144000" cy="5143500" type="screen16x9"/>
  <p:notesSz cx="6858000" cy="9144000"/>
  <p:embeddedFontLst>
    <p:embeddedFont>
      <p:font typeface="Montserrat" panose="00000500000000000000" pitchFamily="2" charset="0"/>
      <p:regular r:id="rId43"/>
      <p:bold r:id="rId44"/>
      <p:italic r:id="rId45"/>
      <p:boldItalic r:id="rId46"/>
    </p:embeddedFont>
    <p:embeddedFont>
      <p:font typeface="Vidaloka" panose="020B0604020202020204" charset="0"/>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ABC8A7-C7B1-890D-3D20-FA974E7A4574}" v="237" dt="2026-02-11T04:05:52.905"/>
    <p1510:client id="{E8501C1B-5E4E-EA43-F539-827184DD6072}" v="1" dt="2026-02-11T03:37:57.126"/>
  </p1510:revLst>
</p1510:revInfo>
</file>

<file path=ppt/tableStyles.xml><?xml version="1.0" encoding="utf-8"?>
<a:tblStyleLst xmlns:a="http://schemas.openxmlformats.org/drawingml/2006/main" def="{D900DD65-6FC7-4018-B9A3-4BCA8313AED7}">
  <a:tblStyle styleId="{D900DD65-6FC7-4018-B9A3-4BCA8313AED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3.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2.fntdata"/><Relationship Id="rId52"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1.fntdata"/><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4.fntdata"/><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cc7554a049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c7554a049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105aad17dc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105aad17dc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05aad17dc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05aad17dc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105aad17dc0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105aad17dc0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cc7554a049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cc7554a049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cf7a3c50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cf7a3c50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107a9a8b46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107a9a8b46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cc7554a049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cc7554a049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cf7a3c503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 name="Google Shape;665;gcf7a3c503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107a9a8b46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107a9a8b46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107a9a8b46f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107a9a8b46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07aaa41fe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107aaa41fe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cc7554a049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cc7554a049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107aaa41fe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107aaa41fe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cc7554a049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cc7554a049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07aaa41fe9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07aaa41fe9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cc7554a049_0_4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cc7554a049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107aaa41fe9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107aaa41fe9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cc7554a049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cc7554a049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107aaa41fe9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2" name="Google Shape;812;g107aaa41fe9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cc7554a049_0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cc7554a049_0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107aaa41fe9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107aaa41fe9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cc7554a049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2" name="Google Shape;882;gcc7554a049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107aaa41fe9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9" name="Google Shape;909;g107aaa41fe9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107aaa41fe9_0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 name="Google Shape;973;g107aaa41fe9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cc7554a049_0_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cc7554a049_0_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107aaa41fe9_0_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107aaa41fe9_0_4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cc7554a049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cc7554a049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867300" y="2366275"/>
            <a:ext cx="7409400" cy="8184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8" name="Google Shape;18;p3"/>
          <p:cNvSpPr txBox="1">
            <a:spLocks noGrp="1"/>
          </p:cNvSpPr>
          <p:nvPr>
            <p:ph type="subTitle" idx="1"/>
          </p:nvPr>
        </p:nvSpPr>
        <p:spPr>
          <a:xfrm>
            <a:off x="2291400" y="3305275"/>
            <a:ext cx="4561200" cy="39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9" name="Google Shape;19;p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 name="Google Shape;25;p4"/>
          <p:cNvSpPr txBox="1">
            <a:spLocks noGrp="1"/>
          </p:cNvSpPr>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a:endParaRPr/>
          </a:p>
        </p:txBody>
      </p:sp>
      <p:cxnSp>
        <p:nvCxnSpPr>
          <p:cNvPr id="26" name="Google Shape;26;p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5"/>
          <p:cNvSpPr txBox="1">
            <a:spLocks noGrp="1"/>
          </p:cNvSpPr>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 name="Google Shape;33;p5"/>
          <p:cNvSpPr txBox="1">
            <a:spLocks noGrp="1"/>
          </p:cNvSpPr>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2400" b="1">
                <a:latin typeface="Vidaloka"/>
                <a:ea typeface="Vidaloka"/>
                <a:cs typeface="Vidaloka"/>
                <a:sym typeface="Vidaloka"/>
              </a:defRPr>
            </a:lvl2pPr>
            <a:lvl3pPr lvl="2" algn="ctr" rtl="0">
              <a:spcBef>
                <a:spcPts val="0"/>
              </a:spcBef>
              <a:spcAft>
                <a:spcPts val="0"/>
              </a:spcAft>
              <a:buSzPts val="2400"/>
              <a:buFont typeface="Vidaloka"/>
              <a:buNone/>
              <a:defRPr sz="2400" b="1">
                <a:latin typeface="Vidaloka"/>
                <a:ea typeface="Vidaloka"/>
                <a:cs typeface="Vidaloka"/>
                <a:sym typeface="Vidaloka"/>
              </a:defRPr>
            </a:lvl3pPr>
            <a:lvl4pPr lvl="3" algn="ctr" rtl="0">
              <a:spcBef>
                <a:spcPts val="0"/>
              </a:spcBef>
              <a:spcAft>
                <a:spcPts val="0"/>
              </a:spcAft>
              <a:buSzPts val="2400"/>
              <a:buFont typeface="Vidaloka"/>
              <a:buNone/>
              <a:defRPr sz="2400" b="1">
                <a:latin typeface="Vidaloka"/>
                <a:ea typeface="Vidaloka"/>
                <a:cs typeface="Vidaloka"/>
                <a:sym typeface="Vidaloka"/>
              </a:defRPr>
            </a:lvl4pPr>
            <a:lvl5pPr lvl="4" algn="ctr" rtl="0">
              <a:spcBef>
                <a:spcPts val="0"/>
              </a:spcBef>
              <a:spcAft>
                <a:spcPts val="0"/>
              </a:spcAft>
              <a:buSzPts val="2400"/>
              <a:buFont typeface="Vidaloka"/>
              <a:buNone/>
              <a:defRPr sz="2400" b="1">
                <a:latin typeface="Vidaloka"/>
                <a:ea typeface="Vidaloka"/>
                <a:cs typeface="Vidaloka"/>
                <a:sym typeface="Vidaloka"/>
              </a:defRPr>
            </a:lvl5pPr>
            <a:lvl6pPr lvl="5" algn="ctr" rtl="0">
              <a:spcBef>
                <a:spcPts val="0"/>
              </a:spcBef>
              <a:spcAft>
                <a:spcPts val="0"/>
              </a:spcAft>
              <a:buSzPts val="2400"/>
              <a:buFont typeface="Vidaloka"/>
              <a:buNone/>
              <a:defRPr sz="2400" b="1">
                <a:latin typeface="Vidaloka"/>
                <a:ea typeface="Vidaloka"/>
                <a:cs typeface="Vidaloka"/>
                <a:sym typeface="Vidaloka"/>
              </a:defRPr>
            </a:lvl6pPr>
            <a:lvl7pPr lvl="6" algn="ctr" rtl="0">
              <a:spcBef>
                <a:spcPts val="0"/>
              </a:spcBef>
              <a:spcAft>
                <a:spcPts val="0"/>
              </a:spcAft>
              <a:buSzPts val="2400"/>
              <a:buFont typeface="Vidaloka"/>
              <a:buNone/>
              <a:defRPr sz="2400" b="1">
                <a:latin typeface="Vidaloka"/>
                <a:ea typeface="Vidaloka"/>
                <a:cs typeface="Vidaloka"/>
                <a:sym typeface="Vidaloka"/>
              </a:defRPr>
            </a:lvl7pPr>
            <a:lvl8pPr lvl="7" algn="ctr" rtl="0">
              <a:spcBef>
                <a:spcPts val="0"/>
              </a:spcBef>
              <a:spcAft>
                <a:spcPts val="0"/>
              </a:spcAft>
              <a:buSzPts val="2400"/>
              <a:buFont typeface="Vidaloka"/>
              <a:buNone/>
              <a:defRPr sz="2400" b="1">
                <a:latin typeface="Vidaloka"/>
                <a:ea typeface="Vidaloka"/>
                <a:cs typeface="Vidaloka"/>
                <a:sym typeface="Vidaloka"/>
              </a:defRPr>
            </a:lvl8pPr>
            <a:lvl9pPr lvl="8" algn="ctr" rtl="0">
              <a:spcBef>
                <a:spcPts val="0"/>
              </a:spcBef>
              <a:spcAft>
                <a:spcPts val="0"/>
              </a:spcAft>
              <a:buSzPts val="2400"/>
              <a:buFont typeface="Vidaloka"/>
              <a:buNone/>
              <a:defRPr sz="2400" b="1">
                <a:latin typeface="Vidaloka"/>
                <a:ea typeface="Vidaloka"/>
                <a:cs typeface="Vidaloka"/>
                <a:sym typeface="Vidaloka"/>
              </a:defRPr>
            </a:lvl9pPr>
          </a:lstStyle>
          <a:p>
            <a:endParaRPr/>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247500" y="1433050"/>
            <a:ext cx="18381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a:endParaRPr/>
          </a:p>
        </p:txBody>
      </p:sp>
      <p:sp>
        <p:nvSpPr>
          <p:cNvPr id="44" name="Google Shape;44;p7"/>
          <p:cNvSpPr txBox="1">
            <a:spLocks noGrp="1"/>
          </p:cNvSpPr>
          <p:nvPr>
            <p:ph type="subTitle" idx="2"/>
          </p:nvPr>
        </p:nvSpPr>
        <p:spPr>
          <a:xfrm>
            <a:off x="2247500" y="1790050"/>
            <a:ext cx="5160300" cy="2754000"/>
          </a:xfrm>
          <a:prstGeom prst="rect">
            <a:avLst/>
          </a:prstGeom>
        </p:spPr>
        <p:txBody>
          <a:bodyPr spcFirstLastPara="1" wrap="square" lIns="91425" tIns="91425" rIns="91425" bIns="91425" anchor="t" anchorCtr="0">
            <a:noAutofit/>
          </a:bodyPr>
          <a:lstStyle>
            <a:lvl1pPr marR="50800" lvl="0" rtl="0">
              <a:lnSpc>
                <a:spcPct val="166000"/>
              </a:lnSpc>
              <a:spcBef>
                <a:spcPts val="0"/>
              </a:spcBef>
              <a:spcAft>
                <a:spcPts val="0"/>
              </a:spcAft>
              <a:buClr>
                <a:schemeClr val="accent1"/>
              </a:buClr>
              <a:buSzPts val="1400"/>
              <a:buChar char="●"/>
              <a:defRPr sz="1400">
                <a:solidFill>
                  <a:srgbClr val="374957"/>
                </a:solidFill>
              </a:defRPr>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5" name="Google Shape;45;p7"/>
          <p:cNvSpPr txBox="1">
            <a:spLocks noGrp="1"/>
          </p:cNvSpPr>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46" name="Google Shape;46;p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 name="Google Shape;47;p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122500" y="1073000"/>
            <a:ext cx="6899100" cy="2856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50" name="Google Shape;50;p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1" name="Google Shape;51;p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 name="Google Shape;52;p8"/>
          <p:cNvCxnSpPr/>
          <p:nvPr/>
        </p:nvCxnSpPr>
        <p:spPr>
          <a:xfrm flipH="1">
            <a:off x="7093250" y="3935075"/>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3" name="Google Shape;53;p8"/>
          <p:cNvCxnSpPr/>
          <p:nvPr/>
        </p:nvCxnSpPr>
        <p:spPr>
          <a:xfrm flipH="1">
            <a:off x="-420450" y="-121600"/>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713225" y="441927"/>
            <a:ext cx="3557100" cy="9777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800"/>
              <a:buNone/>
              <a:defRPr sz="3000">
                <a:latin typeface="Vidaloka"/>
                <a:ea typeface="Vidaloka"/>
                <a:cs typeface="Vidaloka"/>
                <a:sym typeface="Vidaloka"/>
              </a:defRPr>
            </a:lvl1pPr>
          </a:lstStyle>
          <a:p>
            <a:endParaRPr/>
          </a:p>
        </p:txBody>
      </p:sp>
      <p:cxnSp>
        <p:nvCxnSpPr>
          <p:cNvPr id="62" name="Google Shape;62;p1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 name="Google Shape;63;p1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4" name="Google Shape;64;p10"/>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713225" y="1345363"/>
            <a:ext cx="7717500" cy="1644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a:spLocks noGrp="1"/>
          </p:cNvSpPr>
          <p:nvPr>
            <p:ph type="subTitle" idx="1"/>
          </p:nvPr>
        </p:nvSpPr>
        <p:spPr>
          <a:xfrm>
            <a:off x="1514325" y="3188648"/>
            <a:ext cx="6120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cxnSp>
        <p:nvCxnSpPr>
          <p:cNvPr id="68" name="Google Shape;68;p1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 name="Google Shape;69;p1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0" name="Google Shape;70;p1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 name="Google Shape;71;p1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 name="Google Shape;91;p14"/>
          <p:cNvSpPr txBox="1">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a:spLocks noGrp="1"/>
          </p:cNvSpPr>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4"/>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4" name="Google Shape;94;p14"/>
          <p:cNvSpPr txBox="1">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a:spLocks noGrp="1"/>
          </p:cNvSpPr>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6" name="Google Shape;96;p14"/>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7" name="Google Shape;97;p14"/>
          <p:cNvSpPr txBox="1">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a:spLocks noGrp="1"/>
          </p:cNvSpPr>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9" name="Google Shape;99;p14"/>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0" name="Google Shape;100;p14"/>
          <p:cNvSpPr txBox="1">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a:spLocks noGrp="1"/>
          </p:cNvSpPr>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2" name="Google Shape;102;p14"/>
          <p:cNvSpPr txBox="1">
            <a:spLocks noGrp="1"/>
          </p:cNvSpPr>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3" name="Google Shape;103;p14"/>
          <p:cNvSpPr txBox="1">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a:spLocks noGrp="1"/>
          </p:cNvSpPr>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 name="Google Shape;106;p14"/>
          <p:cNvSpPr txBox="1">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a:spLocks noGrp="1"/>
          </p:cNvSpPr>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8" name="Google Shape;108;p14"/>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SECTION_TITLE_AND_DESCRIPTION_1">
    <p:spTree>
      <p:nvGrpSpPr>
        <p:cNvPr id="1" name="Shape 132"/>
        <p:cNvGrpSpPr/>
        <p:nvPr/>
      </p:nvGrpSpPr>
      <p:grpSpPr>
        <a:xfrm>
          <a:off x="0" y="0"/>
          <a:ext cx="0" cy="0"/>
          <a:chOff x="0" y="0"/>
          <a:chExt cx="0" cy="0"/>
        </a:xfrm>
      </p:grpSpPr>
      <p:sp>
        <p:nvSpPr>
          <p:cNvPr id="133" name="Google Shape;133;p18"/>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a:endParaRPr/>
          </a:p>
        </p:txBody>
      </p:sp>
      <p:sp>
        <p:nvSpPr>
          <p:cNvPr id="134" name="Google Shape;134;p18"/>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7" name="Google Shape;137;p18"/>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845550" y="1482825"/>
            <a:ext cx="74529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7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40" name="Google Shape;140;p19"/>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41" name="Google Shape;141;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43"/>
        <p:cNvGrpSpPr/>
        <p:nvPr/>
      </p:nvGrpSpPr>
      <p:grpSpPr>
        <a:xfrm>
          <a:off x="0" y="0"/>
          <a:ext cx="0" cy="0"/>
          <a:chOff x="0" y="0"/>
          <a:chExt cx="0" cy="0"/>
        </a:xfrm>
      </p:grpSpPr>
      <p:sp>
        <p:nvSpPr>
          <p:cNvPr id="144" name="Google Shape;144;p20"/>
          <p:cNvSpPr txBox="1">
            <a:spLocks noGrp="1"/>
          </p:cNvSpPr>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a:endParaRPr/>
          </a:p>
        </p:txBody>
      </p:sp>
      <p:sp>
        <p:nvSpPr>
          <p:cNvPr id="145" name="Google Shape;145;p20"/>
          <p:cNvSpPr txBox="1">
            <a:spLocks noGrp="1"/>
          </p:cNvSpPr>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cxnSp>
        <p:nvCxnSpPr>
          <p:cNvPr id="146" name="Google Shape;146;p2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7" name="Google Shape;147;p2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8" name="Google Shape;148;p2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9" name="Google Shape;149;p2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0" name="Google Shape;150;p2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1" name="Google Shape;151;p2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52"/>
        <p:cNvGrpSpPr/>
        <p:nvPr/>
      </p:nvGrpSpPr>
      <p:grpSpPr>
        <a:xfrm>
          <a:off x="0" y="0"/>
          <a:ext cx="0" cy="0"/>
          <a:chOff x="0" y="0"/>
          <a:chExt cx="0" cy="0"/>
        </a:xfrm>
      </p:grpSpPr>
      <p:sp>
        <p:nvSpPr>
          <p:cNvPr id="153" name="Google Shape;153;p21"/>
          <p:cNvSpPr txBox="1">
            <a:spLocks noGrp="1"/>
          </p:cNvSpPr>
          <p:nvPr>
            <p:ph type="title"/>
          </p:nvPr>
        </p:nvSpPr>
        <p:spPr>
          <a:xfrm>
            <a:off x="427325" y="2511800"/>
            <a:ext cx="4965600" cy="11133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4" name="Google Shape;154;p21"/>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55" name="Google Shape;155;p21"/>
          <p:cNvSpPr txBox="1">
            <a:spLocks noGrp="1"/>
          </p:cNvSpPr>
          <p:nvPr>
            <p:ph type="subTitle" idx="1"/>
          </p:nvPr>
        </p:nvSpPr>
        <p:spPr>
          <a:xfrm>
            <a:off x="831625" y="3625000"/>
            <a:ext cx="4561200" cy="39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56" name="Google Shape;156;p21"/>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7" name="Google Shape;157;p21"/>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8" name="Google Shape;158;p21"/>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9" name="Google Shape;159;p21"/>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60"/>
        <p:cNvGrpSpPr/>
        <p:nvPr/>
      </p:nvGrpSpPr>
      <p:grpSpPr>
        <a:xfrm>
          <a:off x="0" y="0"/>
          <a:ext cx="0" cy="0"/>
          <a:chOff x="0" y="0"/>
          <a:chExt cx="0" cy="0"/>
        </a:xfrm>
      </p:grpSpPr>
      <p:sp>
        <p:nvSpPr>
          <p:cNvPr id="161" name="Google Shape;161;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62" name="Google Shape;162;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3" name="Google Shape;163;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4" name="Google Shape;164;p22"/>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65"/>
        <p:cNvGrpSpPr/>
        <p:nvPr/>
      </p:nvGrpSpPr>
      <p:grpSpPr>
        <a:xfrm>
          <a:off x="0" y="0"/>
          <a:ext cx="0" cy="0"/>
          <a:chOff x="0" y="0"/>
          <a:chExt cx="0" cy="0"/>
        </a:xfrm>
      </p:grpSpPr>
      <p:cxnSp>
        <p:nvCxnSpPr>
          <p:cNvPr id="166" name="Google Shape;166;p2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7" name="Google Shape;167;p2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8" name="Google Shape;168;p2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9" name="Google Shape;169;p2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70" name="Google Shape;170;p2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71" name="Google Shape;171;p2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72" name="Google Shape;172;p2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5" name="Google Shape;175;p24"/>
          <p:cNvSpPr txBox="1">
            <a:spLocks noGrp="1"/>
          </p:cNvSpPr>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6" name="Google Shape;176;p24"/>
          <p:cNvSpPr txBox="1">
            <a:spLocks noGrp="1"/>
          </p:cNvSpPr>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7" name="Google Shape;177;p24"/>
          <p:cNvSpPr txBox="1">
            <a:spLocks noGrp="1"/>
          </p:cNvSpPr>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8" name="Google Shape;178;p24"/>
          <p:cNvSpPr txBox="1">
            <a:spLocks noGrp="1"/>
          </p:cNvSpPr>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9" name="Google Shape;179;p24"/>
          <p:cNvSpPr txBox="1">
            <a:spLocks noGrp="1"/>
          </p:cNvSpPr>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80" name="Google Shape;180;p24"/>
          <p:cNvSpPr txBox="1">
            <a:spLocks noGrp="1"/>
          </p:cNvSpPr>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1" name="Google Shape;181;p24"/>
          <p:cNvSpPr txBox="1">
            <a:spLocks noGrp="1"/>
          </p:cNvSpPr>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82" name="Google Shape;182;p24"/>
          <p:cNvSpPr txBox="1">
            <a:spLocks noGrp="1"/>
          </p:cNvSpPr>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83" name="Google Shape;183;p2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4" name="Google Shape;184;p2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Shape 185"/>
        <p:cNvGrpSpPr/>
        <p:nvPr/>
      </p:nvGrpSpPr>
      <p:grpSpPr>
        <a:xfrm>
          <a:off x="0" y="0"/>
          <a:ext cx="0" cy="0"/>
          <a:chOff x="0" y="0"/>
          <a:chExt cx="0" cy="0"/>
        </a:xfrm>
      </p:grpSpPr>
      <p:cxnSp>
        <p:nvCxnSpPr>
          <p:cNvPr id="186" name="Google Shape;186;p2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7" name="Google Shape;187;p2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8" name="Google Shape;188;p25"/>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89" name="Google Shape;189;p2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90" name="Google Shape;190;p25"/>
          <p:cNvSpPr txBox="1">
            <a:spLocks noGrp="1"/>
          </p:cNvSpPr>
          <p:nvPr>
            <p:ph type="body" idx="1"/>
          </p:nvPr>
        </p:nvSpPr>
        <p:spPr>
          <a:xfrm>
            <a:off x="5547900" y="3007750"/>
            <a:ext cx="2883000" cy="15954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marL="914400" lvl="1" indent="-317500" rtl="0">
              <a:lnSpc>
                <a:spcPct val="100000"/>
              </a:lnSpc>
              <a:spcBef>
                <a:spcPts val="0"/>
              </a:spcBef>
              <a:spcAft>
                <a:spcPts val="0"/>
              </a:spcAft>
              <a:buSzPts val="1400"/>
              <a:buChar char="○"/>
              <a:defRPr sz="3000">
                <a:latin typeface="Vidaloka"/>
                <a:ea typeface="Vidaloka"/>
                <a:cs typeface="Vidaloka"/>
                <a:sym typeface="Vidaloka"/>
              </a:defRPr>
            </a:lvl2pPr>
            <a:lvl3pPr marL="1371600" lvl="2" indent="-317500" rtl="0">
              <a:lnSpc>
                <a:spcPct val="100000"/>
              </a:lnSpc>
              <a:spcBef>
                <a:spcPts val="0"/>
              </a:spcBef>
              <a:spcAft>
                <a:spcPts val="0"/>
              </a:spcAft>
              <a:buSzPts val="1400"/>
              <a:buChar char="■"/>
              <a:defRPr sz="3000">
                <a:latin typeface="Vidaloka"/>
                <a:ea typeface="Vidaloka"/>
                <a:cs typeface="Vidaloka"/>
                <a:sym typeface="Vidaloka"/>
              </a:defRPr>
            </a:lvl3pPr>
            <a:lvl4pPr marL="1828800" lvl="3" indent="-317500" rtl="0">
              <a:lnSpc>
                <a:spcPct val="100000"/>
              </a:lnSpc>
              <a:spcBef>
                <a:spcPts val="0"/>
              </a:spcBef>
              <a:spcAft>
                <a:spcPts val="0"/>
              </a:spcAft>
              <a:buSzPts val="1400"/>
              <a:buChar char="●"/>
              <a:defRPr sz="3000">
                <a:latin typeface="Vidaloka"/>
                <a:ea typeface="Vidaloka"/>
                <a:cs typeface="Vidaloka"/>
                <a:sym typeface="Vidaloka"/>
              </a:defRPr>
            </a:lvl4pPr>
            <a:lvl5pPr marL="2286000" lvl="4" indent="-317500" rtl="0">
              <a:lnSpc>
                <a:spcPct val="100000"/>
              </a:lnSpc>
              <a:spcBef>
                <a:spcPts val="0"/>
              </a:spcBef>
              <a:spcAft>
                <a:spcPts val="0"/>
              </a:spcAft>
              <a:buSzPts val="1400"/>
              <a:buChar char="○"/>
              <a:defRPr sz="3000">
                <a:latin typeface="Vidaloka"/>
                <a:ea typeface="Vidaloka"/>
                <a:cs typeface="Vidaloka"/>
                <a:sym typeface="Vidaloka"/>
              </a:defRPr>
            </a:lvl5pPr>
            <a:lvl6pPr marL="2743200" lvl="5" indent="-317500" rtl="0">
              <a:lnSpc>
                <a:spcPct val="100000"/>
              </a:lnSpc>
              <a:spcBef>
                <a:spcPts val="0"/>
              </a:spcBef>
              <a:spcAft>
                <a:spcPts val="0"/>
              </a:spcAft>
              <a:buSzPts val="1400"/>
              <a:buChar char="■"/>
              <a:defRPr sz="3000">
                <a:latin typeface="Vidaloka"/>
                <a:ea typeface="Vidaloka"/>
                <a:cs typeface="Vidaloka"/>
                <a:sym typeface="Vidaloka"/>
              </a:defRPr>
            </a:lvl6pPr>
            <a:lvl7pPr marL="3200400" lvl="6" indent="-317500" rtl="0">
              <a:lnSpc>
                <a:spcPct val="100000"/>
              </a:lnSpc>
              <a:spcBef>
                <a:spcPts val="0"/>
              </a:spcBef>
              <a:spcAft>
                <a:spcPts val="0"/>
              </a:spcAft>
              <a:buSzPts val="1400"/>
              <a:buChar char="●"/>
              <a:defRPr sz="3000">
                <a:latin typeface="Vidaloka"/>
                <a:ea typeface="Vidaloka"/>
                <a:cs typeface="Vidaloka"/>
                <a:sym typeface="Vidaloka"/>
              </a:defRPr>
            </a:lvl7pPr>
            <a:lvl8pPr marL="3657600" lvl="7" indent="-317500" rtl="0">
              <a:lnSpc>
                <a:spcPct val="100000"/>
              </a:lnSpc>
              <a:spcBef>
                <a:spcPts val="0"/>
              </a:spcBef>
              <a:spcAft>
                <a:spcPts val="0"/>
              </a:spcAft>
              <a:buSzPts val="1400"/>
              <a:buChar char="○"/>
              <a:defRPr sz="3000">
                <a:latin typeface="Vidaloka"/>
                <a:ea typeface="Vidaloka"/>
                <a:cs typeface="Vidaloka"/>
                <a:sym typeface="Vidaloka"/>
              </a:defRPr>
            </a:lvl8pPr>
            <a:lvl9pPr marL="4114800" lvl="8" indent="-317500" rtl="0">
              <a:lnSpc>
                <a:spcPct val="100000"/>
              </a:lnSpc>
              <a:spcBef>
                <a:spcPts val="0"/>
              </a:spcBef>
              <a:spcAft>
                <a:spcPts val="0"/>
              </a:spcAft>
              <a:buSzPts val="1400"/>
              <a:buChar char="■"/>
              <a:defRPr sz="3000">
                <a:latin typeface="Vidaloka"/>
                <a:ea typeface="Vidaloka"/>
                <a:cs typeface="Vidaloka"/>
                <a:sym typeface="Vidalok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Shape 191"/>
        <p:cNvGrpSpPr/>
        <p:nvPr/>
      </p:nvGrpSpPr>
      <p:grpSpPr>
        <a:xfrm>
          <a:off x="0" y="0"/>
          <a:ext cx="0" cy="0"/>
          <a:chOff x="0" y="0"/>
          <a:chExt cx="0" cy="0"/>
        </a:xfrm>
      </p:grpSpPr>
      <p:sp>
        <p:nvSpPr>
          <p:cNvPr id="192" name="Google Shape;192;p26"/>
          <p:cNvSpPr txBox="1">
            <a:spLocks noGrp="1"/>
          </p:cNvSpPr>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93" name="Google Shape;193;p26"/>
          <p:cNvSpPr txBox="1">
            <a:spLocks noGrp="1"/>
          </p:cNvSpPr>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cxnSp>
        <p:nvCxnSpPr>
          <p:cNvPr id="194" name="Google Shape;194;p2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5" name="Google Shape;195;p2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6" name="Google Shape;196;p2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97" name="Google Shape;197;p2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Shape 198"/>
        <p:cNvGrpSpPr/>
        <p:nvPr/>
      </p:nvGrpSpPr>
      <p:grpSpPr>
        <a:xfrm>
          <a:off x="0" y="0"/>
          <a:ext cx="0" cy="0"/>
          <a:chOff x="0" y="0"/>
          <a:chExt cx="0" cy="0"/>
        </a:xfrm>
      </p:grpSpPr>
      <p:sp>
        <p:nvSpPr>
          <p:cNvPr id="199" name="Google Shape;199;p27"/>
          <p:cNvSpPr txBox="1">
            <a:spLocks noGrp="1"/>
          </p:cNvSpPr>
          <p:nvPr>
            <p:ph type="title"/>
          </p:nvPr>
        </p:nvSpPr>
        <p:spPr>
          <a:xfrm>
            <a:off x="4346500" y="2467375"/>
            <a:ext cx="4083600" cy="1200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0" name="Google Shape;200;p27"/>
          <p:cNvSpPr txBox="1">
            <a:spLocks noGrp="1"/>
          </p:cNvSpPr>
          <p:nvPr>
            <p:ph type="title" idx="2" hasCustomPrompt="1"/>
          </p:nvPr>
        </p:nvSpPr>
        <p:spPr>
          <a:xfrm>
            <a:off x="4956100" y="1021325"/>
            <a:ext cx="1650900" cy="978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1" name="Google Shape;201;p27"/>
          <p:cNvSpPr txBox="1">
            <a:spLocks noGrp="1"/>
          </p:cNvSpPr>
          <p:nvPr>
            <p:ph type="subTitle" idx="1"/>
          </p:nvPr>
        </p:nvSpPr>
        <p:spPr>
          <a:xfrm>
            <a:off x="4346500" y="3649675"/>
            <a:ext cx="40836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02" name="Google Shape;202;p2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3" name="Google Shape;203;p2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4" name="Google Shape;204;p27"/>
          <p:cNvCxnSpPr/>
          <p:nvPr/>
        </p:nvCxnSpPr>
        <p:spPr>
          <a:xfrm>
            <a:off x="-209600" y="2402450"/>
            <a:ext cx="3144300" cy="27897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Shape 205"/>
        <p:cNvGrpSpPr/>
        <p:nvPr/>
      </p:nvGrpSpPr>
      <p:grpSpPr>
        <a:xfrm>
          <a:off x="0" y="0"/>
          <a:ext cx="0" cy="0"/>
          <a:chOff x="0" y="0"/>
          <a:chExt cx="0" cy="0"/>
        </a:xfrm>
      </p:grpSpPr>
      <p:sp>
        <p:nvSpPr>
          <p:cNvPr id="206" name="Google Shape;206;p28"/>
          <p:cNvSpPr txBox="1">
            <a:spLocks noGrp="1"/>
          </p:cNvSpPr>
          <p:nvPr>
            <p:ph type="title"/>
          </p:nvPr>
        </p:nvSpPr>
        <p:spPr>
          <a:xfrm>
            <a:off x="4373850" y="944250"/>
            <a:ext cx="4009500" cy="648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07" name="Google Shape;207;p28"/>
          <p:cNvSpPr txBox="1">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7000">
                <a:solidFill>
                  <a:schemeClr val="accent1"/>
                </a:solidFill>
              </a:defRPr>
            </a:lvl1pPr>
            <a:lvl2pPr lvl="1" rtl="0">
              <a:spcBef>
                <a:spcPts val="0"/>
              </a:spcBef>
              <a:spcAft>
                <a:spcPts val="0"/>
              </a:spcAft>
              <a:buSzPts val="6000"/>
              <a:buNone/>
              <a:defRPr sz="6000" b="1"/>
            </a:lvl2pPr>
            <a:lvl3pPr lvl="2" rtl="0">
              <a:spcBef>
                <a:spcPts val="0"/>
              </a:spcBef>
              <a:spcAft>
                <a:spcPts val="0"/>
              </a:spcAft>
              <a:buSzPts val="6000"/>
              <a:buNone/>
              <a:defRPr sz="6000" b="1"/>
            </a:lvl3pPr>
            <a:lvl4pPr lvl="3" rtl="0">
              <a:spcBef>
                <a:spcPts val="0"/>
              </a:spcBef>
              <a:spcAft>
                <a:spcPts val="0"/>
              </a:spcAft>
              <a:buSzPts val="6000"/>
              <a:buNone/>
              <a:defRPr sz="6000" b="1"/>
            </a:lvl4pPr>
            <a:lvl5pPr lvl="4" rtl="0">
              <a:spcBef>
                <a:spcPts val="0"/>
              </a:spcBef>
              <a:spcAft>
                <a:spcPts val="0"/>
              </a:spcAft>
              <a:buSzPts val="6000"/>
              <a:buNone/>
              <a:defRPr sz="6000" b="1"/>
            </a:lvl5pPr>
            <a:lvl6pPr lvl="5" rtl="0">
              <a:spcBef>
                <a:spcPts val="0"/>
              </a:spcBef>
              <a:spcAft>
                <a:spcPts val="0"/>
              </a:spcAft>
              <a:buSzPts val="6000"/>
              <a:buNone/>
              <a:defRPr sz="6000" b="1"/>
            </a:lvl6pPr>
            <a:lvl7pPr lvl="6" rtl="0">
              <a:spcBef>
                <a:spcPts val="0"/>
              </a:spcBef>
              <a:spcAft>
                <a:spcPts val="0"/>
              </a:spcAft>
              <a:buSzPts val="6000"/>
              <a:buNone/>
              <a:defRPr sz="6000" b="1"/>
            </a:lvl7pPr>
            <a:lvl8pPr lvl="7" rtl="0">
              <a:spcBef>
                <a:spcPts val="0"/>
              </a:spcBef>
              <a:spcAft>
                <a:spcPts val="0"/>
              </a:spcAft>
              <a:buSzPts val="6000"/>
              <a:buNone/>
              <a:defRPr sz="6000" b="1"/>
            </a:lvl8pPr>
            <a:lvl9pPr lvl="8" rtl="0">
              <a:spcBef>
                <a:spcPts val="0"/>
              </a:spcBef>
              <a:spcAft>
                <a:spcPts val="0"/>
              </a:spcAft>
              <a:buSzPts val="6000"/>
              <a:buNone/>
              <a:defRPr sz="6000" b="1"/>
            </a:lvl9pPr>
          </a:lstStyle>
          <a:p>
            <a:r>
              <a:t>xx%</a:t>
            </a:r>
          </a:p>
        </p:txBody>
      </p:sp>
      <p:sp>
        <p:nvSpPr>
          <p:cNvPr id="208" name="Google Shape;208;p28"/>
          <p:cNvSpPr txBox="1">
            <a:spLocks noGrp="1"/>
          </p:cNvSpPr>
          <p:nvPr>
            <p:ph type="subTitle" idx="1"/>
          </p:nvPr>
        </p:nvSpPr>
        <p:spPr>
          <a:xfrm>
            <a:off x="4373850" y="1593150"/>
            <a:ext cx="2475300" cy="624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209" name="Google Shape;209;p2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0" name="Google Shape;210;p2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1" name="Google Shape;211;p2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12" name="Google Shape;212;p2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13" name="Google Shape;213;p28"/>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14" name="Google Shape;214;p28"/>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1043725" y="922567"/>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7" name="Google Shape;217;p29"/>
          <p:cNvSpPr txBox="1">
            <a:spLocks noGrp="1"/>
          </p:cNvSpPr>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18" name="Google Shape;218;p2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9" name="Google Shape;219;p2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0" name="Google Shape;220;p29"/>
          <p:cNvCxnSpPr/>
          <p:nvPr/>
        </p:nvCxnSpPr>
        <p:spPr>
          <a:xfrm>
            <a:off x="5322650" y="-80625"/>
            <a:ext cx="4005000" cy="20073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Shape 221"/>
        <p:cNvGrpSpPr/>
        <p:nvPr/>
      </p:nvGrpSpPr>
      <p:grpSpPr>
        <a:xfrm>
          <a:off x="0" y="0"/>
          <a:ext cx="0" cy="0"/>
          <a:chOff x="0" y="0"/>
          <a:chExt cx="0" cy="0"/>
        </a:xfrm>
      </p:grpSpPr>
      <p:sp>
        <p:nvSpPr>
          <p:cNvPr id="222" name="Google Shape;222;p30"/>
          <p:cNvSpPr txBox="1">
            <a:spLocks noGrp="1"/>
          </p:cNvSpPr>
          <p:nvPr>
            <p:ph type="title"/>
          </p:nvPr>
        </p:nvSpPr>
        <p:spPr>
          <a:xfrm>
            <a:off x="5310925" y="962565"/>
            <a:ext cx="3123000" cy="225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3" name="Google Shape;223;p30"/>
          <p:cNvSpPr txBox="1">
            <a:spLocks noGrp="1"/>
          </p:cNvSpPr>
          <p:nvPr>
            <p:ph type="subTitle" idx="1"/>
          </p:nvPr>
        </p:nvSpPr>
        <p:spPr>
          <a:xfrm>
            <a:off x="5310925" y="3400935"/>
            <a:ext cx="3013500" cy="7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solidFill>
                  <a:schemeClr val="dk1"/>
                </a:solidFill>
              </a:defRPr>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cxnSp>
        <p:nvCxnSpPr>
          <p:cNvPr id="224" name="Google Shape;224;p3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5" name="Google Shape;225;p3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6" name="Google Shape;226;p3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7" name="Google Shape;227;p3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8" name="Google Shape;228;p3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9" name="Google Shape;229;p30"/>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30"/>
        <p:cNvGrpSpPr/>
        <p:nvPr/>
      </p:nvGrpSpPr>
      <p:grpSpPr>
        <a:xfrm>
          <a:off x="0" y="0"/>
          <a:ext cx="0" cy="0"/>
          <a:chOff x="0" y="0"/>
          <a:chExt cx="0" cy="0"/>
        </a:xfrm>
      </p:grpSpPr>
      <p:sp>
        <p:nvSpPr>
          <p:cNvPr id="231" name="Google Shape;231;p31"/>
          <p:cNvSpPr txBox="1">
            <a:spLocks noGrp="1"/>
          </p:cNvSpPr>
          <p:nvPr>
            <p:ph type="subTitle" idx="1"/>
          </p:nvPr>
        </p:nvSpPr>
        <p:spPr>
          <a:xfrm>
            <a:off x="3509000"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2" name="Google Shape;232;p31"/>
          <p:cNvSpPr txBox="1">
            <a:spLocks noGrp="1"/>
          </p:cNvSpPr>
          <p:nvPr>
            <p:ph type="subTitle" idx="2"/>
          </p:nvPr>
        </p:nvSpPr>
        <p:spPr>
          <a:xfrm>
            <a:off x="35090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3" name="Google Shape;233;p31"/>
          <p:cNvSpPr txBox="1">
            <a:spLocks noGrp="1"/>
          </p:cNvSpPr>
          <p:nvPr>
            <p:ph type="subTitle" idx="3"/>
          </p:nvPr>
        </p:nvSpPr>
        <p:spPr>
          <a:xfrm>
            <a:off x="95302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4" name="Google Shape;234;p31"/>
          <p:cNvSpPr txBox="1">
            <a:spLocks noGrp="1"/>
          </p:cNvSpPr>
          <p:nvPr>
            <p:ph type="subTitle" idx="4"/>
          </p:nvPr>
        </p:nvSpPr>
        <p:spPr>
          <a:xfrm>
            <a:off x="95312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5" name="Google Shape;235;p31"/>
          <p:cNvSpPr txBox="1">
            <a:spLocks noGrp="1"/>
          </p:cNvSpPr>
          <p:nvPr>
            <p:ph type="subTitle" idx="5"/>
          </p:nvPr>
        </p:nvSpPr>
        <p:spPr>
          <a:xfrm>
            <a:off x="6064875" y="25320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36" name="Google Shape;236;p31"/>
          <p:cNvSpPr txBox="1">
            <a:spLocks noGrp="1"/>
          </p:cNvSpPr>
          <p:nvPr>
            <p:ph type="subTitle" idx="6"/>
          </p:nvPr>
        </p:nvSpPr>
        <p:spPr>
          <a:xfrm>
            <a:off x="6064875" y="2948247"/>
            <a:ext cx="2126100" cy="813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7" name="Google Shape;237;p31"/>
          <p:cNvSpPr txBox="1">
            <a:spLocks noGrp="1"/>
          </p:cNvSpPr>
          <p:nvPr>
            <p:ph type="title"/>
          </p:nvPr>
        </p:nvSpPr>
        <p:spPr>
          <a:xfrm>
            <a:off x="713225" y="445025"/>
            <a:ext cx="6655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38" name="Google Shape;238;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9" name="Google Shape;239;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Shape 240"/>
        <p:cNvGrpSpPr/>
        <p:nvPr/>
      </p:nvGrpSpPr>
      <p:grpSpPr>
        <a:xfrm>
          <a:off x="0" y="0"/>
          <a:ext cx="0" cy="0"/>
          <a:chOff x="0" y="0"/>
          <a:chExt cx="0" cy="0"/>
        </a:xfrm>
      </p:grpSpPr>
      <p:sp>
        <p:nvSpPr>
          <p:cNvPr id="241" name="Google Shape;241;p32"/>
          <p:cNvSpPr txBox="1">
            <a:spLocks noGrp="1"/>
          </p:cNvSpPr>
          <p:nvPr>
            <p:ph type="subTitle" idx="1"/>
          </p:nvPr>
        </p:nvSpPr>
        <p:spPr>
          <a:xfrm>
            <a:off x="3509000"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2" name="Google Shape;242;p32"/>
          <p:cNvSpPr txBox="1">
            <a:spLocks noGrp="1"/>
          </p:cNvSpPr>
          <p:nvPr>
            <p:ph type="subTitle" idx="2"/>
          </p:nvPr>
        </p:nvSpPr>
        <p:spPr>
          <a:xfrm>
            <a:off x="350902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3" name="Google Shape;243;p32"/>
          <p:cNvSpPr txBox="1">
            <a:spLocks noGrp="1"/>
          </p:cNvSpPr>
          <p:nvPr>
            <p:ph type="subTitle" idx="3"/>
          </p:nvPr>
        </p:nvSpPr>
        <p:spPr>
          <a:xfrm>
            <a:off x="953025"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4" name="Google Shape;244;p32"/>
          <p:cNvSpPr txBox="1">
            <a:spLocks noGrp="1"/>
          </p:cNvSpPr>
          <p:nvPr>
            <p:ph type="subTitle" idx="4"/>
          </p:nvPr>
        </p:nvSpPr>
        <p:spPr>
          <a:xfrm>
            <a:off x="95312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5" name="Google Shape;245;p32"/>
          <p:cNvSpPr txBox="1">
            <a:spLocks noGrp="1"/>
          </p:cNvSpPr>
          <p:nvPr>
            <p:ph type="subTitle" idx="5"/>
          </p:nvPr>
        </p:nvSpPr>
        <p:spPr>
          <a:xfrm>
            <a:off x="6064875" y="16938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6" name="Google Shape;246;p32"/>
          <p:cNvSpPr txBox="1">
            <a:spLocks noGrp="1"/>
          </p:cNvSpPr>
          <p:nvPr>
            <p:ph type="subTitle" idx="6"/>
          </p:nvPr>
        </p:nvSpPr>
        <p:spPr>
          <a:xfrm>
            <a:off x="6064875" y="21100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7" name="Google Shape;247;p32"/>
          <p:cNvSpPr txBox="1">
            <a:spLocks noGrp="1"/>
          </p:cNvSpPr>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248" name="Google Shape;248;p32"/>
          <p:cNvSpPr txBox="1">
            <a:spLocks noGrp="1"/>
          </p:cNvSpPr>
          <p:nvPr>
            <p:ph type="subTitle" idx="7"/>
          </p:nvPr>
        </p:nvSpPr>
        <p:spPr>
          <a:xfrm>
            <a:off x="3509000"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49" name="Google Shape;249;p32"/>
          <p:cNvSpPr txBox="1">
            <a:spLocks noGrp="1"/>
          </p:cNvSpPr>
          <p:nvPr>
            <p:ph type="subTitle" idx="8"/>
          </p:nvPr>
        </p:nvSpPr>
        <p:spPr>
          <a:xfrm>
            <a:off x="350902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0" name="Google Shape;250;p32"/>
          <p:cNvSpPr txBox="1">
            <a:spLocks noGrp="1"/>
          </p:cNvSpPr>
          <p:nvPr>
            <p:ph type="subTitle" idx="9"/>
          </p:nvPr>
        </p:nvSpPr>
        <p:spPr>
          <a:xfrm>
            <a:off x="95302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51" name="Google Shape;251;p32"/>
          <p:cNvSpPr txBox="1">
            <a:spLocks noGrp="1"/>
          </p:cNvSpPr>
          <p:nvPr>
            <p:ph type="subTitle" idx="13"/>
          </p:nvPr>
        </p:nvSpPr>
        <p:spPr>
          <a:xfrm>
            <a:off x="95312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52" name="Google Shape;252;p32"/>
          <p:cNvSpPr txBox="1">
            <a:spLocks noGrp="1"/>
          </p:cNvSpPr>
          <p:nvPr>
            <p:ph type="subTitle" idx="14"/>
          </p:nvPr>
        </p:nvSpPr>
        <p:spPr>
          <a:xfrm>
            <a:off x="606487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253" name="Google Shape;253;p32"/>
          <p:cNvSpPr txBox="1">
            <a:spLocks noGrp="1"/>
          </p:cNvSpPr>
          <p:nvPr>
            <p:ph type="subTitle" idx="15"/>
          </p:nvPr>
        </p:nvSpPr>
        <p:spPr>
          <a:xfrm>
            <a:off x="6064875" y="3814949"/>
            <a:ext cx="2126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254" name="Google Shape;254;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55" name="Google Shape;255;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56" name="Google Shape;256;p3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57" name="Google Shape;257;p3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p:cSld name="CUSTOM_32">
    <p:spTree>
      <p:nvGrpSpPr>
        <p:cNvPr id="1" name="Shape 258"/>
        <p:cNvGrpSpPr/>
        <p:nvPr/>
      </p:nvGrpSpPr>
      <p:grpSpPr>
        <a:xfrm>
          <a:off x="0" y="0"/>
          <a:ext cx="0" cy="0"/>
          <a:chOff x="0" y="0"/>
          <a:chExt cx="0" cy="0"/>
        </a:xfrm>
      </p:grpSpPr>
      <p:sp>
        <p:nvSpPr>
          <p:cNvPr id="259" name="Google Shape;259;p33"/>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0" name="Google Shape;260;p33"/>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1" name="Google Shape;261;p33"/>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2" name="Google Shape;262;p33"/>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3" name="Google Shape;263;p33"/>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4" name="Google Shape;264;p33"/>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5" name="Google Shape;265;p33"/>
          <p:cNvSpPr txBox="1">
            <a:spLocks noGrp="1"/>
          </p:cNvSpPr>
          <p:nvPr>
            <p:ph type="subTitle" idx="7"/>
          </p:nvPr>
        </p:nvSpPr>
        <p:spPr>
          <a:xfrm>
            <a:off x="3414050"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6" name="Google Shape;266;p33"/>
          <p:cNvSpPr txBox="1">
            <a:spLocks noGrp="1"/>
          </p:cNvSpPr>
          <p:nvPr>
            <p:ph type="subTitle" idx="8"/>
          </p:nvPr>
        </p:nvSpPr>
        <p:spPr>
          <a:xfrm>
            <a:off x="3564200"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7" name="Google Shape;267;p33"/>
          <p:cNvSpPr txBox="1">
            <a:spLocks noGrp="1"/>
          </p:cNvSpPr>
          <p:nvPr>
            <p:ph type="subTitle" idx="9"/>
          </p:nvPr>
        </p:nvSpPr>
        <p:spPr>
          <a:xfrm>
            <a:off x="705725"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68" name="Google Shape;268;p33"/>
          <p:cNvSpPr txBox="1">
            <a:spLocks noGrp="1"/>
          </p:cNvSpPr>
          <p:nvPr>
            <p:ph type="subTitle" idx="13"/>
          </p:nvPr>
        </p:nvSpPr>
        <p:spPr>
          <a:xfrm>
            <a:off x="855875"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9" name="Google Shape;269;p33"/>
          <p:cNvSpPr txBox="1">
            <a:spLocks noGrp="1"/>
          </p:cNvSpPr>
          <p:nvPr>
            <p:ph type="subTitle" idx="14"/>
          </p:nvPr>
        </p:nvSpPr>
        <p:spPr>
          <a:xfrm>
            <a:off x="6122325" y="34533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0" name="Google Shape;270;p33"/>
          <p:cNvSpPr txBox="1">
            <a:spLocks noGrp="1"/>
          </p:cNvSpPr>
          <p:nvPr>
            <p:ph type="subTitle" idx="15"/>
          </p:nvPr>
        </p:nvSpPr>
        <p:spPr>
          <a:xfrm>
            <a:off x="6272475" y="38695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1" name="Google Shape;271;p33"/>
          <p:cNvSpPr txBox="1">
            <a:spLocks noGrp="1"/>
          </p:cNvSpPr>
          <p:nvPr>
            <p:ph type="title"/>
          </p:nvPr>
        </p:nvSpPr>
        <p:spPr>
          <a:xfrm>
            <a:off x="713225" y="445025"/>
            <a:ext cx="6080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72" name="Google Shape;272;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3" name="Google Shape;273;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Shape 274"/>
        <p:cNvGrpSpPr/>
        <p:nvPr/>
      </p:nvGrpSpPr>
      <p:grpSpPr>
        <a:xfrm>
          <a:off x="0" y="0"/>
          <a:ext cx="0" cy="0"/>
          <a:chOff x="0" y="0"/>
          <a:chExt cx="0" cy="0"/>
        </a:xfrm>
      </p:grpSpPr>
      <p:sp>
        <p:nvSpPr>
          <p:cNvPr id="275" name="Google Shape;275;p34"/>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6" name="Google Shape;276;p34"/>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7" name="Google Shape;277;p34"/>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8" name="Google Shape;278;p34"/>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9" name="Google Shape;279;p34"/>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80" name="Google Shape;280;p34"/>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81" name="Google Shape;281;p34"/>
          <p:cNvSpPr txBox="1">
            <a:spLocks noGrp="1"/>
          </p:cNvSpPr>
          <p:nvPr>
            <p:ph type="subTitle" idx="7"/>
          </p:nvPr>
        </p:nvSpPr>
        <p:spPr>
          <a:xfrm>
            <a:off x="2059863"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82" name="Google Shape;282;p34"/>
          <p:cNvSpPr txBox="1">
            <a:spLocks noGrp="1"/>
          </p:cNvSpPr>
          <p:nvPr>
            <p:ph type="subTitle" idx="8"/>
          </p:nvPr>
        </p:nvSpPr>
        <p:spPr>
          <a:xfrm>
            <a:off x="2210013"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83" name="Google Shape;283;p34"/>
          <p:cNvSpPr txBox="1">
            <a:spLocks noGrp="1"/>
          </p:cNvSpPr>
          <p:nvPr>
            <p:ph type="subTitle" idx="9"/>
          </p:nvPr>
        </p:nvSpPr>
        <p:spPr>
          <a:xfrm>
            <a:off x="4768138"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84" name="Google Shape;284;p34"/>
          <p:cNvSpPr txBox="1">
            <a:spLocks noGrp="1"/>
          </p:cNvSpPr>
          <p:nvPr>
            <p:ph type="subTitle" idx="13"/>
          </p:nvPr>
        </p:nvSpPr>
        <p:spPr>
          <a:xfrm>
            <a:off x="4918288"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85" name="Google Shape;285;p34"/>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86" name="Google Shape;286;p3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7" name="Google Shape;287;p3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8" name="Google Shape;288;p3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9" name="Google Shape;289;p3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Shape 290"/>
        <p:cNvGrpSpPr/>
        <p:nvPr/>
      </p:nvGrpSpPr>
      <p:grpSpPr>
        <a:xfrm>
          <a:off x="0" y="0"/>
          <a:ext cx="0" cy="0"/>
          <a:chOff x="0" y="0"/>
          <a:chExt cx="0" cy="0"/>
        </a:xfrm>
      </p:grpSpPr>
      <p:sp>
        <p:nvSpPr>
          <p:cNvPr id="291" name="Google Shape;291;p35"/>
          <p:cNvSpPr txBox="1">
            <a:spLocks noGrp="1"/>
          </p:cNvSpPr>
          <p:nvPr>
            <p:ph type="title"/>
          </p:nvPr>
        </p:nvSpPr>
        <p:spPr>
          <a:xfrm>
            <a:off x="716225" y="1073000"/>
            <a:ext cx="5640600" cy="28566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cxnSp>
        <p:nvCxnSpPr>
          <p:cNvPr id="292" name="Google Shape;292;p3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93" name="Google Shape;293;p3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94" name="Google Shape;294;p35"/>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5" name="Google Shape;295;p3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6" name="Google Shape;296;p3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7" name="Google Shape;297;p35"/>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Shape 298"/>
        <p:cNvGrpSpPr/>
        <p:nvPr/>
      </p:nvGrpSpPr>
      <p:grpSpPr>
        <a:xfrm>
          <a:off x="0" y="0"/>
          <a:ext cx="0" cy="0"/>
          <a:chOff x="0" y="0"/>
          <a:chExt cx="0" cy="0"/>
        </a:xfrm>
      </p:grpSpPr>
      <p:sp>
        <p:nvSpPr>
          <p:cNvPr id="299" name="Google Shape;299;p36"/>
          <p:cNvSpPr txBox="1">
            <a:spLocks noGrp="1"/>
          </p:cNvSpPr>
          <p:nvPr>
            <p:ph type="subTitle" idx="1"/>
          </p:nvPr>
        </p:nvSpPr>
        <p:spPr>
          <a:xfrm>
            <a:off x="4916850" y="1894200"/>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0" name="Google Shape;300;p36"/>
          <p:cNvSpPr txBox="1">
            <a:spLocks noGrp="1"/>
          </p:cNvSpPr>
          <p:nvPr>
            <p:ph type="subTitle" idx="2"/>
          </p:nvPr>
        </p:nvSpPr>
        <p:spPr>
          <a:xfrm>
            <a:off x="5058900" y="229647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1" name="Google Shape;301;p36"/>
          <p:cNvSpPr txBox="1">
            <a:spLocks noGrp="1"/>
          </p:cNvSpPr>
          <p:nvPr>
            <p:ph type="subTitle" idx="3"/>
          </p:nvPr>
        </p:nvSpPr>
        <p:spPr>
          <a:xfrm>
            <a:off x="1911150" y="1894200"/>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2" name="Google Shape;302;p36"/>
          <p:cNvSpPr txBox="1">
            <a:spLocks noGrp="1"/>
          </p:cNvSpPr>
          <p:nvPr>
            <p:ph type="subTitle" idx="4"/>
          </p:nvPr>
        </p:nvSpPr>
        <p:spPr>
          <a:xfrm>
            <a:off x="2053300" y="229647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3" name="Google Shape;303;p36"/>
          <p:cNvSpPr txBox="1">
            <a:spLocks noGrp="1"/>
          </p:cNvSpPr>
          <p:nvPr>
            <p:ph type="subTitle" idx="5"/>
          </p:nvPr>
        </p:nvSpPr>
        <p:spPr>
          <a:xfrm>
            <a:off x="4916850" y="3528902"/>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4" name="Google Shape;304;p36"/>
          <p:cNvSpPr txBox="1">
            <a:spLocks noGrp="1"/>
          </p:cNvSpPr>
          <p:nvPr>
            <p:ph type="subTitle" idx="6"/>
          </p:nvPr>
        </p:nvSpPr>
        <p:spPr>
          <a:xfrm>
            <a:off x="5058900" y="392373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5" name="Google Shape;305;p36"/>
          <p:cNvSpPr txBox="1">
            <a:spLocks noGrp="1"/>
          </p:cNvSpPr>
          <p:nvPr>
            <p:ph type="subTitle" idx="7"/>
          </p:nvPr>
        </p:nvSpPr>
        <p:spPr>
          <a:xfrm>
            <a:off x="1911150" y="3528902"/>
            <a:ext cx="2316000" cy="48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06" name="Google Shape;306;p36"/>
          <p:cNvSpPr txBox="1">
            <a:spLocks noGrp="1"/>
          </p:cNvSpPr>
          <p:nvPr>
            <p:ph type="subTitle" idx="8"/>
          </p:nvPr>
        </p:nvSpPr>
        <p:spPr>
          <a:xfrm>
            <a:off x="2053200" y="3923733"/>
            <a:ext cx="20319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7" name="Google Shape;307;p36"/>
          <p:cNvSpPr txBox="1">
            <a:spLocks noGrp="1"/>
          </p:cNvSpPr>
          <p:nvPr>
            <p:ph type="title"/>
          </p:nvPr>
        </p:nvSpPr>
        <p:spPr>
          <a:xfrm>
            <a:off x="713225" y="445025"/>
            <a:ext cx="648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08" name="Google Shape;308;p3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09" name="Google Shape;309;p3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Shape 310"/>
        <p:cNvGrpSpPr/>
        <p:nvPr/>
      </p:nvGrpSpPr>
      <p:grpSpPr>
        <a:xfrm>
          <a:off x="0" y="0"/>
          <a:ext cx="0" cy="0"/>
          <a:chOff x="0" y="0"/>
          <a:chExt cx="0" cy="0"/>
        </a:xfrm>
      </p:grpSpPr>
      <p:sp>
        <p:nvSpPr>
          <p:cNvPr id="311" name="Google Shape;311;p37"/>
          <p:cNvSpPr txBox="1">
            <a:spLocks noGrp="1"/>
          </p:cNvSpPr>
          <p:nvPr>
            <p:ph type="subTitle" idx="1"/>
          </p:nvPr>
        </p:nvSpPr>
        <p:spPr>
          <a:xfrm>
            <a:off x="3571925"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12" name="Google Shape;312;p37"/>
          <p:cNvSpPr txBox="1">
            <a:spLocks noGrp="1"/>
          </p:cNvSpPr>
          <p:nvPr>
            <p:ph type="subTitle" idx="2"/>
          </p:nvPr>
        </p:nvSpPr>
        <p:spPr>
          <a:xfrm>
            <a:off x="3571925"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3" name="Google Shape;313;p37"/>
          <p:cNvSpPr txBox="1">
            <a:spLocks noGrp="1"/>
          </p:cNvSpPr>
          <p:nvPr>
            <p:ph type="subTitle" idx="3"/>
          </p:nvPr>
        </p:nvSpPr>
        <p:spPr>
          <a:xfrm>
            <a:off x="1088400"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14" name="Google Shape;314;p37"/>
          <p:cNvSpPr txBox="1">
            <a:spLocks noGrp="1"/>
          </p:cNvSpPr>
          <p:nvPr>
            <p:ph type="subTitle" idx="4"/>
          </p:nvPr>
        </p:nvSpPr>
        <p:spPr>
          <a:xfrm>
            <a:off x="1088400"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5" name="Google Shape;315;p37"/>
          <p:cNvSpPr txBox="1">
            <a:spLocks noGrp="1"/>
          </p:cNvSpPr>
          <p:nvPr>
            <p:ph type="subTitle" idx="5"/>
          </p:nvPr>
        </p:nvSpPr>
        <p:spPr>
          <a:xfrm>
            <a:off x="6055450" y="2904446"/>
            <a:ext cx="2015400" cy="4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16" name="Google Shape;316;p37"/>
          <p:cNvSpPr txBox="1">
            <a:spLocks noGrp="1"/>
          </p:cNvSpPr>
          <p:nvPr>
            <p:ph type="subTitle" idx="6"/>
          </p:nvPr>
        </p:nvSpPr>
        <p:spPr>
          <a:xfrm>
            <a:off x="6055450" y="3306722"/>
            <a:ext cx="2015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7" name="Google Shape;317;p37"/>
          <p:cNvSpPr txBox="1">
            <a:spLocks noGrp="1"/>
          </p:cNvSpPr>
          <p:nvPr>
            <p:ph type="title"/>
          </p:nvPr>
        </p:nvSpPr>
        <p:spPr>
          <a:xfrm>
            <a:off x="713225" y="445025"/>
            <a:ext cx="5517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18" name="Google Shape;318;p3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9" name="Google Shape;319;p3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20" name="Google Shape;320;p37"/>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Shape 321"/>
        <p:cNvGrpSpPr/>
        <p:nvPr/>
      </p:nvGrpSpPr>
      <p:grpSpPr>
        <a:xfrm>
          <a:off x="0" y="0"/>
          <a:ext cx="0" cy="0"/>
          <a:chOff x="0" y="0"/>
          <a:chExt cx="0" cy="0"/>
        </a:xfrm>
      </p:grpSpPr>
      <p:cxnSp>
        <p:nvCxnSpPr>
          <p:cNvPr id="322" name="Google Shape;322;p3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23" name="Google Shape;323;p3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24" name="Google Shape;324;p3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5" name="Google Shape;325;p3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6" name="Google Shape;326;p38"/>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7" name="Google Shape;327;p38"/>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28" name="Google Shape;328;p38"/>
          <p:cNvSpPr txBox="1">
            <a:spLocks noGrp="1"/>
          </p:cNvSpPr>
          <p:nvPr>
            <p:ph type="title"/>
          </p:nvPr>
        </p:nvSpPr>
        <p:spPr>
          <a:xfrm>
            <a:off x="2780100" y="445025"/>
            <a:ext cx="3583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9" name="Google Shape;329;p38"/>
          <p:cNvSpPr txBox="1">
            <a:spLocks noGrp="1"/>
          </p:cNvSpPr>
          <p:nvPr>
            <p:ph type="subTitle" idx="1"/>
          </p:nvPr>
        </p:nvSpPr>
        <p:spPr>
          <a:xfrm>
            <a:off x="5306650" y="1710190"/>
            <a:ext cx="2486100" cy="4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30" name="Google Shape;330;p38"/>
          <p:cNvSpPr txBox="1">
            <a:spLocks noGrp="1"/>
          </p:cNvSpPr>
          <p:nvPr>
            <p:ph type="subTitle" idx="2"/>
          </p:nvPr>
        </p:nvSpPr>
        <p:spPr>
          <a:xfrm>
            <a:off x="5306650" y="211121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1" name="Google Shape;331;p38"/>
          <p:cNvSpPr txBox="1">
            <a:spLocks noGrp="1"/>
          </p:cNvSpPr>
          <p:nvPr>
            <p:ph type="subTitle" idx="3"/>
          </p:nvPr>
        </p:nvSpPr>
        <p:spPr>
          <a:xfrm>
            <a:off x="1351250" y="1710190"/>
            <a:ext cx="2486100" cy="40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32" name="Google Shape;332;p38"/>
          <p:cNvSpPr txBox="1">
            <a:spLocks noGrp="1"/>
          </p:cNvSpPr>
          <p:nvPr>
            <p:ph type="subTitle" idx="4"/>
          </p:nvPr>
        </p:nvSpPr>
        <p:spPr>
          <a:xfrm>
            <a:off x="1351250" y="211121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3" name="Google Shape;333;p38"/>
          <p:cNvSpPr txBox="1">
            <a:spLocks noGrp="1"/>
          </p:cNvSpPr>
          <p:nvPr>
            <p:ph type="subTitle" idx="5"/>
          </p:nvPr>
        </p:nvSpPr>
        <p:spPr>
          <a:xfrm>
            <a:off x="5306650" y="3552118"/>
            <a:ext cx="24861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34" name="Google Shape;334;p38"/>
          <p:cNvSpPr txBox="1">
            <a:spLocks noGrp="1"/>
          </p:cNvSpPr>
          <p:nvPr>
            <p:ph type="subTitle" idx="6"/>
          </p:nvPr>
        </p:nvSpPr>
        <p:spPr>
          <a:xfrm>
            <a:off x="5306650" y="394648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5" name="Google Shape;335;p38"/>
          <p:cNvSpPr txBox="1">
            <a:spLocks noGrp="1"/>
          </p:cNvSpPr>
          <p:nvPr>
            <p:ph type="subTitle" idx="7"/>
          </p:nvPr>
        </p:nvSpPr>
        <p:spPr>
          <a:xfrm>
            <a:off x="1351250" y="3552118"/>
            <a:ext cx="2486100" cy="461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336" name="Google Shape;336;p38"/>
          <p:cNvSpPr txBox="1">
            <a:spLocks noGrp="1"/>
          </p:cNvSpPr>
          <p:nvPr>
            <p:ph type="subTitle" idx="8"/>
          </p:nvPr>
        </p:nvSpPr>
        <p:spPr>
          <a:xfrm>
            <a:off x="1351300" y="3946487"/>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7" name="Google Shape;337;p38"/>
          <p:cNvSpPr txBox="1">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8" name="Google Shape;338;p38"/>
          <p:cNvSpPr txBox="1">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39" name="Google Shape;339;p38"/>
          <p:cNvSpPr txBox="1">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340" name="Google Shape;340;p38"/>
          <p:cNvSpPr txBox="1">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Shape 341"/>
        <p:cNvGrpSpPr/>
        <p:nvPr/>
      </p:nvGrpSpPr>
      <p:grpSpPr>
        <a:xfrm>
          <a:off x="0" y="0"/>
          <a:ext cx="0" cy="0"/>
          <a:chOff x="0" y="0"/>
          <a:chExt cx="0" cy="0"/>
        </a:xfrm>
      </p:grpSpPr>
      <p:sp>
        <p:nvSpPr>
          <p:cNvPr id="342" name="Google Shape;342;p39"/>
          <p:cNvSpPr txBox="1">
            <a:spLocks noGrp="1"/>
          </p:cNvSpPr>
          <p:nvPr>
            <p:ph type="subTitle" idx="1"/>
          </p:nvPr>
        </p:nvSpPr>
        <p:spPr>
          <a:xfrm>
            <a:off x="3718325" y="3294199"/>
            <a:ext cx="16428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3" name="Google Shape;343;p39"/>
          <p:cNvSpPr txBox="1">
            <a:spLocks noGrp="1"/>
          </p:cNvSpPr>
          <p:nvPr>
            <p:ph type="subTitle" idx="2"/>
          </p:nvPr>
        </p:nvSpPr>
        <p:spPr>
          <a:xfrm>
            <a:off x="3617675"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4" name="Google Shape;344;p39"/>
          <p:cNvSpPr txBox="1">
            <a:spLocks noGrp="1"/>
          </p:cNvSpPr>
          <p:nvPr>
            <p:ph type="subTitle" idx="3"/>
          </p:nvPr>
        </p:nvSpPr>
        <p:spPr>
          <a:xfrm>
            <a:off x="1328025" y="3294199"/>
            <a:ext cx="16428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5" name="Google Shape;345;p39"/>
          <p:cNvSpPr txBox="1">
            <a:spLocks noGrp="1"/>
          </p:cNvSpPr>
          <p:nvPr>
            <p:ph type="subTitle" idx="4"/>
          </p:nvPr>
        </p:nvSpPr>
        <p:spPr>
          <a:xfrm>
            <a:off x="1227426"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6" name="Google Shape;346;p39"/>
          <p:cNvSpPr txBox="1">
            <a:spLocks noGrp="1"/>
          </p:cNvSpPr>
          <p:nvPr>
            <p:ph type="subTitle" idx="5"/>
          </p:nvPr>
        </p:nvSpPr>
        <p:spPr>
          <a:xfrm>
            <a:off x="6108550" y="3294199"/>
            <a:ext cx="16431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47" name="Google Shape;347;p39"/>
          <p:cNvSpPr txBox="1">
            <a:spLocks noGrp="1"/>
          </p:cNvSpPr>
          <p:nvPr>
            <p:ph type="subTitle" idx="6"/>
          </p:nvPr>
        </p:nvSpPr>
        <p:spPr>
          <a:xfrm>
            <a:off x="6008050" y="3703897"/>
            <a:ext cx="1844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endParaRPr/>
          </a:p>
        </p:txBody>
      </p:sp>
      <p:sp>
        <p:nvSpPr>
          <p:cNvPr id="348" name="Google Shape;348;p39"/>
          <p:cNvSpPr txBox="1">
            <a:spLocks noGrp="1"/>
          </p:cNvSpPr>
          <p:nvPr>
            <p:ph type="title"/>
          </p:nvPr>
        </p:nvSpPr>
        <p:spPr>
          <a:xfrm>
            <a:off x="713225" y="445025"/>
            <a:ext cx="3188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49" name="Google Shape;349;p3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0" name="Google Shape;350;p3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Shape 351"/>
        <p:cNvGrpSpPr/>
        <p:nvPr/>
      </p:nvGrpSpPr>
      <p:grpSpPr>
        <a:xfrm>
          <a:off x="0" y="0"/>
          <a:ext cx="0" cy="0"/>
          <a:chOff x="0" y="0"/>
          <a:chExt cx="0" cy="0"/>
        </a:xfrm>
      </p:grpSpPr>
      <p:sp>
        <p:nvSpPr>
          <p:cNvPr id="352" name="Google Shape;352;p40"/>
          <p:cNvSpPr txBox="1">
            <a:spLocks noGrp="1"/>
          </p:cNvSpPr>
          <p:nvPr>
            <p:ph type="subTitle" idx="1"/>
          </p:nvPr>
        </p:nvSpPr>
        <p:spPr>
          <a:xfrm>
            <a:off x="4750175" y="1632746"/>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3" name="Google Shape;353;p40"/>
          <p:cNvSpPr txBox="1">
            <a:spLocks noGrp="1"/>
          </p:cNvSpPr>
          <p:nvPr>
            <p:ph type="subTitle" idx="2"/>
          </p:nvPr>
        </p:nvSpPr>
        <p:spPr>
          <a:xfrm>
            <a:off x="4750184" y="2035022"/>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4" name="Google Shape;354;p40"/>
          <p:cNvSpPr txBox="1">
            <a:spLocks noGrp="1"/>
          </p:cNvSpPr>
          <p:nvPr>
            <p:ph type="subTitle" idx="3"/>
          </p:nvPr>
        </p:nvSpPr>
        <p:spPr>
          <a:xfrm>
            <a:off x="2306450" y="1632746"/>
            <a:ext cx="20148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5" name="Google Shape;355;p40"/>
          <p:cNvSpPr txBox="1">
            <a:spLocks noGrp="1"/>
          </p:cNvSpPr>
          <p:nvPr>
            <p:ph type="subTitle" idx="4"/>
          </p:nvPr>
        </p:nvSpPr>
        <p:spPr>
          <a:xfrm>
            <a:off x="2306462" y="2035022"/>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6" name="Google Shape;356;p40"/>
          <p:cNvSpPr txBox="1">
            <a:spLocks noGrp="1"/>
          </p:cNvSpPr>
          <p:nvPr>
            <p:ph type="subTitle" idx="5"/>
          </p:nvPr>
        </p:nvSpPr>
        <p:spPr>
          <a:xfrm>
            <a:off x="4750175" y="3062273"/>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7" name="Google Shape;357;p40"/>
          <p:cNvSpPr txBox="1">
            <a:spLocks noGrp="1"/>
          </p:cNvSpPr>
          <p:nvPr>
            <p:ph type="subTitle" idx="6"/>
          </p:nvPr>
        </p:nvSpPr>
        <p:spPr>
          <a:xfrm>
            <a:off x="4750184" y="3471047"/>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8" name="Google Shape;358;p40"/>
          <p:cNvSpPr txBox="1">
            <a:spLocks noGrp="1"/>
          </p:cNvSpPr>
          <p:nvPr>
            <p:ph type="subTitle" idx="7"/>
          </p:nvPr>
        </p:nvSpPr>
        <p:spPr>
          <a:xfrm>
            <a:off x="2306450" y="3062273"/>
            <a:ext cx="20148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59" name="Google Shape;359;p40"/>
          <p:cNvSpPr txBox="1">
            <a:spLocks noGrp="1"/>
          </p:cNvSpPr>
          <p:nvPr>
            <p:ph type="subTitle" idx="8"/>
          </p:nvPr>
        </p:nvSpPr>
        <p:spPr>
          <a:xfrm>
            <a:off x="2306462" y="3471047"/>
            <a:ext cx="20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0" name="Google Shape;360;p40"/>
          <p:cNvSpPr txBox="1">
            <a:spLocks noGrp="1"/>
          </p:cNvSpPr>
          <p:nvPr>
            <p:ph type="title"/>
          </p:nvPr>
        </p:nvSpPr>
        <p:spPr>
          <a:xfrm>
            <a:off x="713225" y="445025"/>
            <a:ext cx="2785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361" name="Google Shape;361;p4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2" name="Google Shape;362;p4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Shape 363"/>
        <p:cNvGrpSpPr/>
        <p:nvPr/>
      </p:nvGrpSpPr>
      <p:grpSpPr>
        <a:xfrm>
          <a:off x="0" y="0"/>
          <a:ext cx="0" cy="0"/>
          <a:chOff x="0" y="0"/>
          <a:chExt cx="0" cy="0"/>
        </a:xfrm>
      </p:grpSpPr>
      <p:cxnSp>
        <p:nvCxnSpPr>
          <p:cNvPr id="364" name="Google Shape;364;p4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5" name="Google Shape;365;p4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6" name="Google Shape;366;p4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7" name="Google Shape;367;p4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8" name="Google Shape;368;p41"/>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9" name="Google Shape;369;p41"/>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70" name="Google Shape;370;p41"/>
          <p:cNvSpPr txBox="1">
            <a:spLocks noGrp="1"/>
          </p:cNvSpPr>
          <p:nvPr>
            <p:ph type="subTitle" idx="1"/>
          </p:nvPr>
        </p:nvSpPr>
        <p:spPr>
          <a:xfrm>
            <a:off x="728750" y="1112872"/>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71" name="Google Shape;371;p41"/>
          <p:cNvSpPr txBox="1">
            <a:spLocks noGrp="1"/>
          </p:cNvSpPr>
          <p:nvPr>
            <p:ph type="subTitle" idx="2"/>
          </p:nvPr>
        </p:nvSpPr>
        <p:spPr>
          <a:xfrm>
            <a:off x="728762" y="1515149"/>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2" name="Google Shape;372;p41"/>
          <p:cNvSpPr txBox="1">
            <a:spLocks noGrp="1"/>
          </p:cNvSpPr>
          <p:nvPr>
            <p:ph type="subTitle" idx="3"/>
          </p:nvPr>
        </p:nvSpPr>
        <p:spPr>
          <a:xfrm>
            <a:off x="728750" y="2036386"/>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73" name="Google Shape;373;p41"/>
          <p:cNvSpPr txBox="1">
            <a:spLocks noGrp="1"/>
          </p:cNvSpPr>
          <p:nvPr>
            <p:ph type="subTitle" idx="4"/>
          </p:nvPr>
        </p:nvSpPr>
        <p:spPr>
          <a:xfrm>
            <a:off x="728762" y="2445160"/>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4" name="Google Shape;374;p41"/>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375" name="Google Shape;375;p41"/>
          <p:cNvSpPr txBox="1">
            <a:spLocks noGrp="1"/>
          </p:cNvSpPr>
          <p:nvPr>
            <p:ph type="subTitle" idx="5"/>
          </p:nvPr>
        </p:nvSpPr>
        <p:spPr>
          <a:xfrm>
            <a:off x="728750" y="2997225"/>
            <a:ext cx="2014800" cy="499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76" name="Google Shape;376;p41"/>
          <p:cNvSpPr txBox="1">
            <a:spLocks noGrp="1"/>
          </p:cNvSpPr>
          <p:nvPr>
            <p:ph type="subTitle" idx="6"/>
          </p:nvPr>
        </p:nvSpPr>
        <p:spPr>
          <a:xfrm>
            <a:off x="728762" y="3405999"/>
            <a:ext cx="20148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Shape 377"/>
        <p:cNvGrpSpPr/>
        <p:nvPr/>
      </p:nvGrpSpPr>
      <p:grpSpPr>
        <a:xfrm>
          <a:off x="0" y="0"/>
          <a:ext cx="0" cy="0"/>
          <a:chOff x="0" y="0"/>
          <a:chExt cx="0" cy="0"/>
        </a:xfrm>
      </p:grpSpPr>
      <p:sp>
        <p:nvSpPr>
          <p:cNvPr id="378" name="Google Shape;378;p42"/>
          <p:cNvSpPr txBox="1">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9" name="Google Shape;379;p42"/>
          <p:cNvSpPr txBox="1">
            <a:spLocks noGrp="1"/>
          </p:cNvSpPr>
          <p:nvPr>
            <p:ph type="subTitle" idx="1"/>
          </p:nvPr>
        </p:nvSpPr>
        <p:spPr>
          <a:xfrm>
            <a:off x="2364984" y="134640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0" name="Google Shape;380;p42"/>
          <p:cNvSpPr txBox="1">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1" name="Google Shape;381;p42"/>
          <p:cNvSpPr txBox="1">
            <a:spLocks noGrp="1"/>
          </p:cNvSpPr>
          <p:nvPr>
            <p:ph type="subTitle" idx="3"/>
          </p:nvPr>
        </p:nvSpPr>
        <p:spPr>
          <a:xfrm>
            <a:off x="2364984" y="2694825"/>
            <a:ext cx="4414200" cy="37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2" name="Google Shape;382;p42"/>
          <p:cNvSpPr txBox="1">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43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3" name="Google Shape;383;p42"/>
          <p:cNvSpPr txBox="1">
            <a:spLocks noGrp="1"/>
          </p:cNvSpPr>
          <p:nvPr>
            <p:ph type="subTitle" idx="5"/>
          </p:nvPr>
        </p:nvSpPr>
        <p:spPr>
          <a:xfrm>
            <a:off x="2364950" y="4043250"/>
            <a:ext cx="4414200" cy="37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84" name="Google Shape;384;p4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85" name="Google Shape;385;p4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Shape 386"/>
        <p:cNvGrpSpPr/>
        <p:nvPr/>
      </p:nvGrpSpPr>
      <p:grpSpPr>
        <a:xfrm>
          <a:off x="0" y="0"/>
          <a:ext cx="0" cy="0"/>
          <a:chOff x="0" y="0"/>
          <a:chExt cx="0" cy="0"/>
        </a:xfrm>
      </p:grpSpPr>
      <p:sp>
        <p:nvSpPr>
          <p:cNvPr id="387" name="Google Shape;387;p43"/>
          <p:cNvSpPr txBox="1">
            <a:spLocks noGrp="1"/>
          </p:cNvSpPr>
          <p:nvPr>
            <p:ph type="subTitle" idx="1"/>
          </p:nvPr>
        </p:nvSpPr>
        <p:spPr>
          <a:xfrm>
            <a:off x="5700609" y="2084269"/>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88" name="Google Shape;388;p43"/>
          <p:cNvSpPr txBox="1">
            <a:spLocks noGrp="1"/>
          </p:cNvSpPr>
          <p:nvPr>
            <p:ph type="subTitle" idx="2"/>
          </p:nvPr>
        </p:nvSpPr>
        <p:spPr>
          <a:xfrm>
            <a:off x="5700621" y="2486544"/>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9" name="Google Shape;389;p43"/>
          <p:cNvSpPr txBox="1">
            <a:spLocks noGrp="1"/>
          </p:cNvSpPr>
          <p:nvPr>
            <p:ph type="subTitle" idx="3"/>
          </p:nvPr>
        </p:nvSpPr>
        <p:spPr>
          <a:xfrm>
            <a:off x="1973988" y="902134"/>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90" name="Google Shape;390;p43"/>
          <p:cNvSpPr txBox="1">
            <a:spLocks noGrp="1"/>
          </p:cNvSpPr>
          <p:nvPr>
            <p:ph type="subTitle" idx="4"/>
          </p:nvPr>
        </p:nvSpPr>
        <p:spPr>
          <a:xfrm>
            <a:off x="1973988" y="1304410"/>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91" name="Google Shape;391;p43"/>
          <p:cNvSpPr txBox="1">
            <a:spLocks noGrp="1"/>
          </p:cNvSpPr>
          <p:nvPr>
            <p:ph type="subTitle" idx="5"/>
          </p:nvPr>
        </p:nvSpPr>
        <p:spPr>
          <a:xfrm>
            <a:off x="1973988" y="3290875"/>
            <a:ext cx="2764500" cy="49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392" name="Google Shape;392;p43"/>
          <p:cNvSpPr txBox="1">
            <a:spLocks noGrp="1"/>
          </p:cNvSpPr>
          <p:nvPr>
            <p:ph type="subTitle" idx="6"/>
          </p:nvPr>
        </p:nvSpPr>
        <p:spPr>
          <a:xfrm>
            <a:off x="1973988" y="3699649"/>
            <a:ext cx="2764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93" name="Google Shape;393;p4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94" name="Google Shape;394;p4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95" name="Google Shape;395;p4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6" name="Google Shape;396;p4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7" name="Google Shape;397;p4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98" name="Google Shape;398;p43"/>
          <p:cNvSpPr txBox="1">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9" name="Google Shape;399;p43"/>
          <p:cNvSpPr txBox="1">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400" name="Google Shape;400;p43"/>
          <p:cNvSpPr txBox="1">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4500">
                <a:solidFill>
                  <a:schemeClr val="accent1"/>
                </a:solidFill>
              </a:defRPr>
            </a:lvl1pPr>
            <a:lvl2pPr lvl="1"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Shape 401"/>
        <p:cNvGrpSpPr/>
        <p:nvPr/>
      </p:nvGrpSpPr>
      <p:grpSpPr>
        <a:xfrm>
          <a:off x="0" y="0"/>
          <a:ext cx="0" cy="0"/>
          <a:chOff x="0" y="0"/>
          <a:chExt cx="0" cy="0"/>
        </a:xfrm>
      </p:grpSpPr>
      <p:sp>
        <p:nvSpPr>
          <p:cNvPr id="402" name="Google Shape;402;p44"/>
          <p:cNvSpPr txBox="1">
            <a:spLocks noGrp="1"/>
          </p:cNvSpPr>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3" name="Google Shape;403;p44"/>
          <p:cNvSpPr txBox="1">
            <a:spLocks noGrp="1"/>
          </p:cNvSpPr>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404" name="Google Shape;404;p4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5" name="Google Shape;405;p4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Shape 406"/>
        <p:cNvGrpSpPr/>
        <p:nvPr/>
      </p:nvGrpSpPr>
      <p:grpSpPr>
        <a:xfrm>
          <a:off x="0" y="0"/>
          <a:ext cx="0" cy="0"/>
          <a:chOff x="0" y="0"/>
          <a:chExt cx="0" cy="0"/>
        </a:xfrm>
      </p:grpSpPr>
      <p:sp>
        <p:nvSpPr>
          <p:cNvPr id="407" name="Google Shape;407;p45"/>
          <p:cNvSpPr txBox="1">
            <a:spLocks noGrp="1"/>
          </p:cNvSpPr>
          <p:nvPr>
            <p:ph type="title"/>
          </p:nvPr>
        </p:nvSpPr>
        <p:spPr>
          <a:xfrm>
            <a:off x="4490150" y="2047725"/>
            <a:ext cx="3364200" cy="628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408" name="Google Shape;408;p45"/>
          <p:cNvSpPr txBox="1">
            <a:spLocks noGrp="1"/>
          </p:cNvSpPr>
          <p:nvPr>
            <p:ph type="subTitle" idx="1"/>
          </p:nvPr>
        </p:nvSpPr>
        <p:spPr>
          <a:xfrm>
            <a:off x="4855550" y="2694825"/>
            <a:ext cx="2998800" cy="558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a:endParaRPr/>
          </a:p>
        </p:txBody>
      </p:sp>
      <p:cxnSp>
        <p:nvCxnSpPr>
          <p:cNvPr id="409" name="Google Shape;409;p4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0" name="Google Shape;410;p4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Shape 411"/>
        <p:cNvGrpSpPr/>
        <p:nvPr/>
      </p:nvGrpSpPr>
      <p:grpSpPr>
        <a:xfrm>
          <a:off x="0" y="0"/>
          <a:ext cx="0" cy="0"/>
          <a:chOff x="0" y="0"/>
          <a:chExt cx="0" cy="0"/>
        </a:xfrm>
      </p:grpSpPr>
      <p:sp>
        <p:nvSpPr>
          <p:cNvPr id="412" name="Google Shape;412;p46"/>
          <p:cNvSpPr txBox="1">
            <a:spLocks noGrp="1"/>
          </p:cNvSpPr>
          <p:nvPr>
            <p:ph type="subTitle" idx="1"/>
          </p:nvPr>
        </p:nvSpPr>
        <p:spPr>
          <a:xfrm>
            <a:off x="713225" y="1453525"/>
            <a:ext cx="74112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413" name="Google Shape;413;p46"/>
          <p:cNvSpPr txBox="1">
            <a:spLocks noGrp="1"/>
          </p:cNvSpPr>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14" name="Google Shape;414;p4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5" name="Google Shape;415;p4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6" name="Google Shape;416;p46"/>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Shape 417"/>
        <p:cNvGrpSpPr/>
        <p:nvPr/>
      </p:nvGrpSpPr>
      <p:grpSpPr>
        <a:xfrm>
          <a:off x="0" y="0"/>
          <a:ext cx="0" cy="0"/>
          <a:chOff x="0" y="0"/>
          <a:chExt cx="0" cy="0"/>
        </a:xfrm>
      </p:grpSpPr>
      <p:cxnSp>
        <p:nvCxnSpPr>
          <p:cNvPr id="418" name="Google Shape;418;p4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9" name="Google Shape;419;p4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20" name="Google Shape;420;p4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21" name="Google Shape;421;p4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22" name="Google Shape;422;p4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23" name="Google Shape;423;p4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24" name="Google Shape;424;p47"/>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25" name="Google Shape;425;p47"/>
          <p:cNvSpPr txBox="1">
            <a:spLocks noGrp="1"/>
          </p:cNvSpPr>
          <p:nvPr>
            <p:ph type="subTitle" idx="1"/>
          </p:nvPr>
        </p:nvSpPr>
        <p:spPr>
          <a:xfrm>
            <a:off x="4525188"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26" name="Google Shape;426;p47"/>
          <p:cNvSpPr txBox="1">
            <a:spLocks noGrp="1"/>
          </p:cNvSpPr>
          <p:nvPr>
            <p:ph type="subTitle" idx="2"/>
          </p:nvPr>
        </p:nvSpPr>
        <p:spPr>
          <a:xfrm>
            <a:off x="661213"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Shape 427"/>
        <p:cNvGrpSpPr/>
        <p:nvPr/>
      </p:nvGrpSpPr>
      <p:grpSpPr>
        <a:xfrm>
          <a:off x="0" y="0"/>
          <a:ext cx="0" cy="0"/>
          <a:chOff x="0" y="0"/>
          <a:chExt cx="0" cy="0"/>
        </a:xfrm>
      </p:grpSpPr>
      <p:sp>
        <p:nvSpPr>
          <p:cNvPr id="428" name="Google Shape;428;p48"/>
          <p:cNvSpPr txBox="1">
            <a:spLocks noGrp="1"/>
          </p:cNvSpPr>
          <p:nvPr>
            <p:ph type="subTitle" idx="1"/>
          </p:nvPr>
        </p:nvSpPr>
        <p:spPr>
          <a:xfrm>
            <a:off x="4816075"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9" name="Google Shape;429;p48"/>
          <p:cNvSpPr txBox="1">
            <a:spLocks noGrp="1"/>
          </p:cNvSpPr>
          <p:nvPr>
            <p:ph type="subTitle" idx="2"/>
          </p:nvPr>
        </p:nvSpPr>
        <p:spPr>
          <a:xfrm>
            <a:off x="4816200"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0" name="Google Shape;430;p48"/>
          <p:cNvSpPr txBox="1">
            <a:spLocks noGrp="1"/>
          </p:cNvSpPr>
          <p:nvPr>
            <p:ph type="subTitle" idx="3"/>
          </p:nvPr>
        </p:nvSpPr>
        <p:spPr>
          <a:xfrm>
            <a:off x="1385829"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1" name="Google Shape;431;p48"/>
          <p:cNvSpPr txBox="1">
            <a:spLocks noGrp="1"/>
          </p:cNvSpPr>
          <p:nvPr>
            <p:ph type="subTitle" idx="4"/>
          </p:nvPr>
        </p:nvSpPr>
        <p:spPr>
          <a:xfrm>
            <a:off x="1386025"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2" name="Google Shape;432;p48"/>
          <p:cNvSpPr txBox="1">
            <a:spLocks noGrp="1"/>
          </p:cNvSpPr>
          <p:nvPr>
            <p:ph type="title"/>
          </p:nvPr>
        </p:nvSpPr>
        <p:spPr>
          <a:xfrm>
            <a:off x="713225" y="445025"/>
            <a:ext cx="2729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33" name="Google Shape;433;p4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4" name="Google Shape;434;p4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Shape 435"/>
        <p:cNvGrpSpPr/>
        <p:nvPr/>
      </p:nvGrpSpPr>
      <p:grpSpPr>
        <a:xfrm>
          <a:off x="0" y="0"/>
          <a:ext cx="0" cy="0"/>
          <a:chOff x="0" y="0"/>
          <a:chExt cx="0" cy="0"/>
        </a:xfrm>
      </p:grpSpPr>
      <p:sp>
        <p:nvSpPr>
          <p:cNvPr id="436" name="Google Shape;436;p49"/>
          <p:cNvSpPr txBox="1">
            <a:spLocks noGrp="1"/>
          </p:cNvSpPr>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37" name="Google Shape;437;p49"/>
          <p:cNvSpPr txBox="1">
            <a:spLocks noGrp="1"/>
          </p:cNvSpPr>
          <p:nvPr>
            <p:ph type="subTitle" idx="1"/>
          </p:nvPr>
        </p:nvSpPr>
        <p:spPr>
          <a:xfrm>
            <a:off x="3509000"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38" name="Google Shape;438;p49"/>
          <p:cNvSpPr txBox="1">
            <a:spLocks noGrp="1"/>
          </p:cNvSpPr>
          <p:nvPr>
            <p:ph type="subTitle" idx="2"/>
          </p:nvPr>
        </p:nvSpPr>
        <p:spPr>
          <a:xfrm>
            <a:off x="3509025" y="3814950"/>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39" name="Google Shape;439;p49"/>
          <p:cNvSpPr txBox="1">
            <a:spLocks noGrp="1"/>
          </p:cNvSpPr>
          <p:nvPr>
            <p:ph type="subTitle" idx="3"/>
          </p:nvPr>
        </p:nvSpPr>
        <p:spPr>
          <a:xfrm>
            <a:off x="95302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40" name="Google Shape;440;p49"/>
          <p:cNvSpPr txBox="1">
            <a:spLocks noGrp="1"/>
          </p:cNvSpPr>
          <p:nvPr>
            <p:ph type="subTitle" idx="4"/>
          </p:nvPr>
        </p:nvSpPr>
        <p:spPr>
          <a:xfrm>
            <a:off x="953125" y="3814951"/>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1" name="Google Shape;441;p49"/>
          <p:cNvSpPr txBox="1">
            <a:spLocks noGrp="1"/>
          </p:cNvSpPr>
          <p:nvPr>
            <p:ph type="subTitle" idx="5"/>
          </p:nvPr>
        </p:nvSpPr>
        <p:spPr>
          <a:xfrm>
            <a:off x="6064875" y="3398751"/>
            <a:ext cx="2126100" cy="44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42" name="Google Shape;442;p49"/>
          <p:cNvSpPr txBox="1">
            <a:spLocks noGrp="1"/>
          </p:cNvSpPr>
          <p:nvPr>
            <p:ph type="subTitle" idx="6"/>
          </p:nvPr>
        </p:nvSpPr>
        <p:spPr>
          <a:xfrm>
            <a:off x="6064875" y="3814950"/>
            <a:ext cx="2126100" cy="88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443" name="Google Shape;443;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4" name="Google Shape;444;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5" name="Google Shape;445;p4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6" name="Google Shape;446;p4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447"/>
        <p:cNvGrpSpPr/>
        <p:nvPr/>
      </p:nvGrpSpPr>
      <p:grpSpPr>
        <a:xfrm>
          <a:off x="0" y="0"/>
          <a:ext cx="0" cy="0"/>
          <a:chOff x="0" y="0"/>
          <a:chExt cx="0" cy="0"/>
        </a:xfrm>
      </p:grpSpPr>
      <p:sp>
        <p:nvSpPr>
          <p:cNvPr id="448" name="Google Shape;448;p50"/>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49" name="Google Shape;449;p50"/>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50" name="Google Shape;450;p50"/>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lang="en" sz="11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dk2"/>
                </a:solidFill>
                <a:latin typeface="Montserrat"/>
                <a:ea typeface="Montserrat"/>
                <a:cs typeface="Montserrat"/>
                <a:sym typeface="Montserrat"/>
              </a:rPr>
              <a:t>, including icons by </a:t>
            </a:r>
            <a:r>
              <a:rPr lang="en" sz="11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dk2"/>
                </a:solidFill>
                <a:latin typeface="Montserrat"/>
                <a:ea typeface="Montserrat"/>
                <a:cs typeface="Montserrat"/>
                <a:sym typeface="Montserrat"/>
              </a:rPr>
              <a:t>, infographics &amp; images by </a:t>
            </a:r>
            <a:r>
              <a:rPr lang="en" sz="11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a:solidFill>
                <a:schemeClr val="dk2"/>
              </a:solidFill>
              <a:latin typeface="Montserrat"/>
              <a:ea typeface="Montserrat"/>
              <a:cs typeface="Montserrat"/>
              <a:sym typeface="Montserrat"/>
            </a:endParaRPr>
          </a:p>
        </p:txBody>
      </p:sp>
      <p:cxnSp>
        <p:nvCxnSpPr>
          <p:cNvPr id="451" name="Google Shape;451;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2" name="Google Shape;452;p50"/>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3" name="Google Shape;453;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0"/>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77"/>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478"/>
        <p:cNvGrpSpPr/>
        <p:nvPr/>
      </p:nvGrpSpPr>
      <p:grpSpPr>
        <a:xfrm>
          <a:off x="0" y="0"/>
          <a:ext cx="0" cy="0"/>
          <a:chOff x="0" y="0"/>
          <a:chExt cx="0" cy="0"/>
        </a:xfrm>
      </p:grpSpPr>
      <p:sp>
        <p:nvSpPr>
          <p:cNvPr id="479" name="Google Shape;479;p57"/>
          <p:cNvSpPr txBox="1">
            <a:spLocks noGrp="1"/>
          </p:cNvSpPr>
          <p:nvPr>
            <p:ph type="title"/>
          </p:nvPr>
        </p:nvSpPr>
        <p:spPr>
          <a:xfrm>
            <a:off x="1048350" y="323850"/>
            <a:ext cx="70473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8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4.xml"/><Relationship Id="rId1"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74"/>
        <p:cNvGrpSpPr/>
        <p:nvPr/>
      </p:nvGrpSpPr>
      <p:grpSpPr>
        <a:xfrm>
          <a:off x="0" y="0"/>
          <a:ext cx="0" cy="0"/>
          <a:chOff x="0" y="0"/>
          <a:chExt cx="0" cy="0"/>
        </a:xfrm>
      </p:grpSpPr>
      <p:sp>
        <p:nvSpPr>
          <p:cNvPr id="475" name="Google Shape;475;p55"/>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76" name="Google Shape;476;p55"/>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1" r:id="rId1"/>
    <p:sldLayoutId id="214748370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80"/>
        <p:cNvGrpSpPr/>
        <p:nvPr/>
      </p:nvGrpSpPr>
      <p:grpSpPr>
        <a:xfrm>
          <a:off x="0" y="0"/>
          <a:ext cx="0" cy="0"/>
          <a:chOff x="0" y="0"/>
          <a:chExt cx="0" cy="0"/>
        </a:xfrm>
      </p:grpSpPr>
      <p:sp>
        <p:nvSpPr>
          <p:cNvPr id="481" name="Google Shape;481;p58"/>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82" name="Google Shape;482;p58"/>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2.xml"/><Relationship Id="rId5" Type="http://schemas.openxmlformats.org/officeDocument/2006/relationships/image" Target="../media/image1.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0.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5.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6.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1.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0.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7.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8.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9.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30.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1.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0.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7"/>
        <p:cNvGrpSpPr/>
        <p:nvPr/>
      </p:nvGrpSpPr>
      <p:grpSpPr>
        <a:xfrm>
          <a:off x="0" y="0"/>
          <a:ext cx="0" cy="0"/>
          <a:chOff x="0" y="0"/>
          <a:chExt cx="0" cy="0"/>
        </a:xfrm>
      </p:grpSpPr>
      <p:sp>
        <p:nvSpPr>
          <p:cNvPr id="489" name="Google Shape;489;p60"/>
          <p:cNvSpPr txBox="1">
            <a:spLocks noGrp="1"/>
          </p:cNvSpPr>
          <p:nvPr>
            <p:ph type="subTitle" idx="1"/>
          </p:nvPr>
        </p:nvSpPr>
        <p:spPr>
          <a:xfrm>
            <a:off x="427935" y="3813313"/>
            <a:ext cx="2615492" cy="863600"/>
          </a:xfrm>
          <a:prstGeom prst="rect">
            <a:avLst/>
          </a:prstGeom>
        </p:spPr>
        <p:txBody>
          <a:bodyPr spcFirstLastPara="1" wrap="square" lIns="91425" tIns="91425" rIns="91425" bIns="91425" anchor="t" anchorCtr="0">
            <a:noAutofit/>
          </a:bodyPr>
          <a:lstStyle/>
          <a:p>
            <a:pPr marL="0" indent="0" algn="l">
              <a:buSzPts val="1100"/>
            </a:pPr>
            <a:r>
              <a:rPr lang="en" b="1">
                <a:solidFill>
                  <a:schemeClr val="dk1"/>
                </a:solidFill>
              </a:rPr>
              <a:t>Presented By :</a:t>
            </a:r>
            <a:endParaRPr lang="en-US">
              <a:solidFill>
                <a:schemeClr val="dk1"/>
              </a:solidFill>
            </a:endParaRPr>
          </a:p>
          <a:p>
            <a:pPr marL="0" indent="0" algn="l">
              <a:buSzPts val="1100"/>
            </a:pPr>
            <a:r>
              <a:rPr lang="en" b="1">
                <a:solidFill>
                  <a:schemeClr val="dk1"/>
                </a:solidFill>
              </a:rPr>
              <a:t>Komminni Jeevana Sri</a:t>
            </a:r>
          </a:p>
          <a:p>
            <a:pPr marL="0" indent="0" algn="l">
              <a:buSzPts val="1100"/>
            </a:pPr>
            <a:r>
              <a:rPr lang="en" b="1">
                <a:solidFill>
                  <a:schemeClr val="dk1"/>
                </a:solidFill>
              </a:rPr>
              <a:t>Dasari Pravallika</a:t>
            </a:r>
          </a:p>
        </p:txBody>
      </p:sp>
      <p:pic>
        <p:nvPicPr>
          <p:cNvPr id="4" name="Picture 3" descr="Innomatics Technology Hub in JNTU, Kukatpally, Hyderabad">
            <a:extLst>
              <a:ext uri="{FF2B5EF4-FFF2-40B4-BE49-F238E27FC236}">
                <a16:creationId xmlns:a16="http://schemas.microsoft.com/office/drawing/2014/main" id="{72C6514F-AF1C-4C9A-AEA4-D3BD9F6F3234}"/>
              </a:ext>
            </a:extLst>
          </p:cNvPr>
          <p:cNvPicPr>
            <a:picLocks noChangeAspect="1"/>
          </p:cNvPicPr>
          <p:nvPr/>
        </p:nvPicPr>
        <p:blipFill>
          <a:blip r:embed="rId3"/>
          <a:stretch>
            <a:fillRect/>
          </a:stretch>
        </p:blipFill>
        <p:spPr>
          <a:xfrm>
            <a:off x="2965638" y="443194"/>
            <a:ext cx="2959474" cy="1144123"/>
          </a:xfrm>
          <a:prstGeom prst="rect">
            <a:avLst/>
          </a:prstGeom>
        </p:spPr>
      </p:pic>
      <p:sp>
        <p:nvSpPr>
          <p:cNvPr id="2" name="TextBox 1">
            <a:extLst>
              <a:ext uri="{FF2B5EF4-FFF2-40B4-BE49-F238E27FC236}">
                <a16:creationId xmlns:a16="http://schemas.microsoft.com/office/drawing/2014/main" id="{3FEDA853-AA10-3C48-3FF7-F5547F366177}"/>
              </a:ext>
            </a:extLst>
          </p:cNvPr>
          <p:cNvSpPr txBox="1"/>
          <p:nvPr/>
        </p:nvSpPr>
        <p:spPr>
          <a:xfrm>
            <a:off x="3199325" y="2915978"/>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Vidaloka"/>
              </a:rPr>
              <a:t>Web scra</a:t>
            </a:r>
            <a:r>
              <a:rPr lang="en-US" sz="2400" b="1" dirty="0">
                <a:latin typeface="Vidaloka"/>
              </a:rPr>
              <a:t>ppin</a:t>
            </a:r>
            <a:r>
              <a:rPr lang="en-US" sz="2000" b="1" dirty="0">
                <a:latin typeface="Vidaloka"/>
              </a:rPr>
              <a:t>g project</a:t>
            </a:r>
          </a:p>
        </p:txBody>
      </p:sp>
      <p:sp>
        <p:nvSpPr>
          <p:cNvPr id="5" name="Title 4">
            <a:extLst>
              <a:ext uri="{FF2B5EF4-FFF2-40B4-BE49-F238E27FC236}">
                <a16:creationId xmlns:a16="http://schemas.microsoft.com/office/drawing/2014/main" id="{3232EB59-0025-6C51-9229-A6BA96E922B7}"/>
              </a:ext>
            </a:extLst>
          </p:cNvPr>
          <p:cNvSpPr>
            <a:spLocks noGrp="1"/>
          </p:cNvSpPr>
          <p:nvPr>
            <p:ph type="ctrTitle"/>
          </p:nvPr>
        </p:nvSpPr>
        <p:spPr>
          <a:xfrm>
            <a:off x="1880416" y="2038873"/>
            <a:ext cx="5643754" cy="875984"/>
          </a:xfrm>
        </p:spPr>
        <p:txBody>
          <a:bodyPr/>
          <a:lstStyle/>
          <a:p>
            <a:r>
              <a:rPr lang="en" dirty="0">
                <a:ea typeface="Calibri"/>
                <a:cs typeface="Calibri"/>
              </a:rPr>
              <a:t>AC Analysis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04942" y="212382"/>
            <a:ext cx="4711500" cy="5727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t>Introduction</a:t>
            </a:r>
          </a:p>
        </p:txBody>
      </p:sp>
      <p:sp>
        <p:nvSpPr>
          <p:cNvPr id="2" name="Text Placeholder 1">
            <a:extLst>
              <a:ext uri="{FF2B5EF4-FFF2-40B4-BE49-F238E27FC236}">
                <a16:creationId xmlns:a16="http://schemas.microsoft.com/office/drawing/2014/main" id="{59D3DB20-17BE-55DE-2608-4D4E4B97DAE3}"/>
              </a:ext>
            </a:extLst>
          </p:cNvPr>
          <p:cNvSpPr>
            <a:spLocks noGrp="1" noChangeArrowheads="1"/>
          </p:cNvSpPr>
          <p:nvPr>
            <p:ph type="body" idx="1"/>
          </p:nvPr>
        </p:nvSpPr>
        <p:spPr bwMode="auto">
          <a:xfrm>
            <a:off x="304800" y="779890"/>
            <a:ext cx="8126413" cy="4113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spcAft>
                <a:spcPts val="500"/>
              </a:spcAft>
              <a:buFont typeface="Arial"/>
              <a:buChar char="•"/>
            </a:pPr>
            <a:r>
              <a:rPr lang="en-US" sz="1400" dirty="0"/>
              <a:t>The dataset contains detailed information about various Air Conditioner (AC) models from different brands.</a:t>
            </a:r>
            <a:endParaRPr lang="en-US" sz="1400"/>
          </a:p>
          <a:p>
            <a:pPr algn="just">
              <a:spcAft>
                <a:spcPts val="500"/>
              </a:spcAft>
              <a:buFont typeface="Arial"/>
              <a:buChar char="•"/>
            </a:pPr>
            <a:r>
              <a:rPr lang="en-US" sz="1400" dirty="0"/>
              <a:t>Each record represents one AC product with its price, features, ratings, and technical specifications.</a:t>
            </a:r>
            <a:endParaRPr lang="en-US" sz="1400"/>
          </a:p>
          <a:p>
            <a:pPr algn="just">
              <a:spcAft>
                <a:spcPts val="500"/>
              </a:spcAft>
              <a:buFont typeface="Arial"/>
              <a:buChar char="•"/>
            </a:pPr>
            <a:r>
              <a:rPr lang="en-US" sz="1400" dirty="0"/>
              <a:t>Includes important columns such as Product Name, Price, Original Price, Discount, Ratings, Reviews, Brand, Launch Year, Tons, and Star Rating.</a:t>
            </a:r>
            <a:endParaRPr lang="en-US" sz="1400"/>
          </a:p>
          <a:p>
            <a:pPr algn="just">
              <a:spcAft>
                <a:spcPts val="500"/>
              </a:spcAft>
              <a:buFont typeface="Arial"/>
              <a:buChar char="•"/>
            </a:pPr>
            <a:r>
              <a:rPr lang="en-US" sz="1400" dirty="0"/>
              <a:t>Provides data on annual power usage and recommended room size, helping to evaluate energy efficiency.</a:t>
            </a:r>
            <a:endParaRPr lang="en-US" sz="1400"/>
          </a:p>
          <a:p>
            <a:pPr algn="just">
              <a:spcAft>
                <a:spcPts val="500"/>
              </a:spcAft>
              <a:buFont typeface="Arial"/>
              <a:buChar char="•"/>
            </a:pPr>
            <a:r>
              <a:rPr lang="en-US" sz="1400" dirty="0"/>
              <a:t>Combines product specifications with customer feedback metrics like number of ratings and reviews.</a:t>
            </a:r>
            <a:endParaRPr lang="en-US" sz="1400"/>
          </a:p>
          <a:p>
            <a:pPr algn="just">
              <a:spcAft>
                <a:spcPts val="500"/>
              </a:spcAft>
              <a:buFont typeface="Arial"/>
              <a:buChar char="•"/>
            </a:pPr>
            <a:r>
              <a:rPr lang="en-US" sz="1400" dirty="0"/>
              <a:t>Useful for comparing AC performance, cost, and brand popularity.</a:t>
            </a:r>
            <a:endParaRPr lang="en-US" sz="1400"/>
          </a:p>
          <a:p>
            <a:pPr algn="just">
              <a:spcAft>
                <a:spcPts val="500"/>
              </a:spcAft>
              <a:buFont typeface="Arial"/>
              <a:buChar char="•"/>
            </a:pPr>
            <a:r>
              <a:rPr lang="en-US" sz="1400" dirty="0"/>
              <a:t>Helps analyze the relationship between price, energy efficiency, and customer satisfaction.</a:t>
            </a:r>
            <a:endParaRPr lang="en-US" sz="1400"/>
          </a:p>
          <a:p>
            <a:pPr algn="just">
              <a:spcAft>
                <a:spcPts val="500"/>
              </a:spcAft>
              <a:buFont typeface="Arial"/>
              <a:buChar char="•"/>
            </a:pPr>
            <a:r>
              <a:rPr lang="en-US" sz="1400" dirty="0"/>
              <a:t>Suitable for exploratory data analysis, brand comparison, and market trend analysis in the AC industry.</a:t>
            </a:r>
            <a:endParaRPr lang="en-US" sz="1400"/>
          </a:p>
          <a:p>
            <a:pPr marL="0" marR="0" lvl="0" indent="0" algn="just" defTabSz="914400" rtl="0" eaLnBrk="0" fontAlgn="base" latinLnBrk="0" hangingPunct="0">
              <a:lnSpc>
                <a:spcPct val="100000"/>
              </a:lnSpc>
              <a:spcBef>
                <a:spcPct val="0"/>
              </a:spcBef>
              <a:spcAft>
                <a:spcPct val="0"/>
              </a:spcAft>
              <a:buClrTx/>
              <a:buSzTx/>
              <a:buFont typeface="Arial"/>
              <a:buChar char="•"/>
              <a:tabLst/>
            </a:pPr>
            <a:endParaRPr lang="en-US" altLang="en-US" sz="1400" i="0" u="none" strike="noStrike" cap="none" normalizeH="0" baseline="0" dirty="0">
              <a:ln>
                <a:noFill/>
              </a:ln>
              <a:solidFill>
                <a:schemeClr val="tx1"/>
              </a:solidFill>
              <a:effectLst/>
            </a:endParaRPr>
          </a:p>
        </p:txBody>
      </p:sp>
      <p:pic>
        <p:nvPicPr>
          <p:cNvPr id="4" name="Picture 3" descr="Innomatics Technology Hub in JNTU, Kukatpally, Hyderabad">
            <a:extLst>
              <a:ext uri="{FF2B5EF4-FFF2-40B4-BE49-F238E27FC236}">
                <a16:creationId xmlns:a16="http://schemas.microsoft.com/office/drawing/2014/main" id="{22911F0C-BF00-855E-A997-BD39269C4B6C}"/>
              </a:ext>
            </a:extLst>
          </p:cNvPr>
          <p:cNvPicPr>
            <a:picLocks noChangeAspect="1"/>
          </p:cNvPicPr>
          <p:nvPr/>
        </p:nvPicPr>
        <p:blipFill>
          <a:blip r:embed="rId3"/>
          <a:stretch>
            <a:fillRect/>
          </a:stretch>
        </p:blipFill>
        <p:spPr>
          <a:xfrm>
            <a:off x="7355421" y="4228345"/>
            <a:ext cx="1402344" cy="5477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420C7-117D-34E6-A442-2D45982E6C09}"/>
              </a:ext>
            </a:extLst>
          </p:cNvPr>
          <p:cNvSpPr>
            <a:spLocks noGrp="1"/>
          </p:cNvSpPr>
          <p:nvPr>
            <p:ph type="title"/>
          </p:nvPr>
        </p:nvSpPr>
        <p:spPr>
          <a:xfrm>
            <a:off x="698260" y="233047"/>
            <a:ext cx="2814047" cy="572700"/>
          </a:xfrm>
        </p:spPr>
        <p:txBody>
          <a:bodyPr/>
          <a:lstStyle/>
          <a:p>
            <a:pPr algn="just"/>
            <a:r>
              <a:rPr lang="en"/>
              <a:t>Data Overview</a:t>
            </a:r>
            <a:endParaRPr lang="en-IN"/>
          </a:p>
        </p:txBody>
      </p:sp>
      <p:sp>
        <p:nvSpPr>
          <p:cNvPr id="3" name="Text Placeholder 2">
            <a:extLst>
              <a:ext uri="{FF2B5EF4-FFF2-40B4-BE49-F238E27FC236}">
                <a16:creationId xmlns:a16="http://schemas.microsoft.com/office/drawing/2014/main" id="{D7EE850F-003D-8B7E-8861-ECA1EE0D8B4A}"/>
              </a:ext>
            </a:extLst>
          </p:cNvPr>
          <p:cNvSpPr>
            <a:spLocks noGrp="1"/>
          </p:cNvSpPr>
          <p:nvPr>
            <p:ph type="body" idx="1"/>
          </p:nvPr>
        </p:nvSpPr>
        <p:spPr>
          <a:xfrm>
            <a:off x="257038" y="933338"/>
            <a:ext cx="8132300" cy="3295800"/>
          </a:xfrm>
        </p:spPr>
        <p:txBody>
          <a:bodyPr/>
          <a:lstStyle/>
          <a:p>
            <a:pPr algn="just">
              <a:spcAft>
                <a:spcPts val="500"/>
              </a:spcAft>
              <a:buFont typeface="Arial"/>
              <a:buChar char="•"/>
            </a:pPr>
            <a:r>
              <a:rPr lang="en-US" sz="1400" dirty="0"/>
              <a:t>The dataset contains 984 Air Conditioner (AC) product records collected from an online marketplace.</a:t>
            </a:r>
          </a:p>
          <a:p>
            <a:pPr algn="just">
              <a:spcAft>
                <a:spcPts val="500"/>
              </a:spcAft>
              <a:buFont typeface="Arial"/>
              <a:buChar char="•"/>
            </a:pPr>
            <a:r>
              <a:rPr lang="en-US" sz="1400" dirty="0"/>
              <a:t>It includes 17 columns covering product details, pricing, technical specifications, energy efficiency, and customer feedback.</a:t>
            </a:r>
          </a:p>
          <a:p>
            <a:pPr algn="just">
              <a:spcAft>
                <a:spcPts val="500"/>
              </a:spcAft>
              <a:buFont typeface="Arial"/>
              <a:buChar char="•"/>
            </a:pPr>
            <a:r>
              <a:rPr lang="en-US" sz="1400" dirty="0"/>
              <a:t>Each row represents one unique AC model, enabling accurate product-level comparison.</a:t>
            </a:r>
          </a:p>
          <a:p>
            <a:pPr algn="just">
              <a:spcAft>
                <a:spcPts val="500"/>
              </a:spcAft>
              <a:buFont typeface="Arial"/>
              <a:buChar char="•"/>
            </a:pPr>
            <a:r>
              <a:rPr lang="en-US" sz="1400" dirty="0"/>
              <a:t>Data was gathered from 41 pages with 24 products per page, ensuring variety across brands and price ranges.</a:t>
            </a:r>
          </a:p>
          <a:p>
            <a:pPr algn="just">
              <a:spcAft>
                <a:spcPts val="500"/>
              </a:spcAft>
              <a:buFont typeface="Arial"/>
              <a:buChar char="•"/>
            </a:pPr>
            <a:r>
              <a:rPr lang="en-US" sz="1400" dirty="0"/>
              <a:t>Key information includes Product Name, Brand, Price, Original Price, Discount, Ratings, Reviews, Tons, Star Rating, and Features.</a:t>
            </a:r>
          </a:p>
          <a:p>
            <a:pPr algn="just">
              <a:spcAft>
                <a:spcPts val="500"/>
              </a:spcAft>
              <a:buFont typeface="Arial"/>
              <a:buChar char="•"/>
            </a:pPr>
            <a:r>
              <a:rPr lang="en-US" sz="1400" dirty="0"/>
              <a:t>Combines technical features (power usage, room size, tonnage, energy stars) with customer engagement metrics.</a:t>
            </a:r>
          </a:p>
          <a:p>
            <a:pPr algn="just">
              <a:spcAft>
                <a:spcPts val="500"/>
              </a:spcAft>
              <a:buFont typeface="Arial"/>
              <a:buChar char="•"/>
            </a:pPr>
            <a:r>
              <a:rPr lang="en-US" sz="1400" dirty="0"/>
              <a:t>Suitable for EDA, brand comparison, price vs performance analysis, and energy efficiency evaluation in the AC market.</a:t>
            </a:r>
          </a:p>
        </p:txBody>
      </p:sp>
      <p:pic>
        <p:nvPicPr>
          <p:cNvPr id="5" name="Picture 4" descr="Innomatics Technology Hub in JNTU, Kukatpally, Hyderabad">
            <a:extLst>
              <a:ext uri="{FF2B5EF4-FFF2-40B4-BE49-F238E27FC236}">
                <a16:creationId xmlns:a16="http://schemas.microsoft.com/office/drawing/2014/main" id="{8DE1E10E-6C36-9722-D5B5-D66C2A71D052}"/>
              </a:ext>
            </a:extLst>
          </p:cNvPr>
          <p:cNvPicPr>
            <a:picLocks noChangeAspect="1"/>
          </p:cNvPicPr>
          <p:nvPr/>
        </p:nvPicPr>
        <p:blipFill>
          <a:blip r:embed="rId2"/>
          <a:stretch>
            <a:fillRect/>
          </a:stretch>
        </p:blipFill>
        <p:spPr>
          <a:xfrm>
            <a:off x="7355421" y="4228345"/>
            <a:ext cx="1402344" cy="547776"/>
          </a:xfrm>
          <a:prstGeom prst="rect">
            <a:avLst/>
          </a:prstGeom>
        </p:spPr>
      </p:pic>
    </p:spTree>
    <p:extLst>
      <p:ext uri="{BB962C8B-B14F-4D97-AF65-F5344CB8AC3E}">
        <p14:creationId xmlns:p14="http://schemas.microsoft.com/office/powerpoint/2010/main" val="1378621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6"/>
        <p:cNvGrpSpPr/>
        <p:nvPr/>
      </p:nvGrpSpPr>
      <p:grpSpPr>
        <a:xfrm>
          <a:off x="0" y="0"/>
          <a:ext cx="0" cy="0"/>
          <a:chOff x="0" y="0"/>
          <a:chExt cx="0" cy="0"/>
        </a:xfrm>
      </p:grpSpPr>
      <p:sp>
        <p:nvSpPr>
          <p:cNvPr id="535" name="Google Shape;535;p63"/>
          <p:cNvSpPr txBox="1">
            <a:spLocks noGrp="1"/>
          </p:cNvSpPr>
          <p:nvPr>
            <p:ph type="title" idx="21"/>
          </p:nvPr>
        </p:nvSpPr>
        <p:spPr>
          <a:xfrm>
            <a:off x="614978" y="421152"/>
            <a:ext cx="5382103" cy="572700"/>
          </a:xfrm>
          <a:prstGeom prst="rect">
            <a:avLst/>
          </a:prstGeom>
        </p:spPr>
        <p:txBody>
          <a:bodyPr spcFirstLastPara="1" wrap="square" lIns="91425" tIns="91425" rIns="91425" bIns="91425" anchor="t" anchorCtr="0">
            <a:noAutofit/>
          </a:bodyPr>
          <a:lstStyle/>
          <a:p>
            <a:pPr algn="just"/>
            <a:r>
              <a:rPr lang="en" dirty="0">
                <a:cs typeface="Times New Roman"/>
              </a:rPr>
              <a:t>Key Columns Overview</a:t>
            </a:r>
            <a:endParaRPr lang="en-US" dirty="0"/>
          </a:p>
          <a:p>
            <a:pPr marL="0" lvl="0" indent="0" algn="just">
              <a:spcBef>
                <a:spcPts val="0"/>
              </a:spcBef>
              <a:spcAft>
                <a:spcPts val="0"/>
              </a:spcAft>
              <a:buNone/>
            </a:pPr>
            <a:endParaRPr lang="en"/>
          </a:p>
        </p:txBody>
      </p:sp>
      <p:sp>
        <p:nvSpPr>
          <p:cNvPr id="38" name="TextBox 37">
            <a:extLst>
              <a:ext uri="{FF2B5EF4-FFF2-40B4-BE49-F238E27FC236}">
                <a16:creationId xmlns:a16="http://schemas.microsoft.com/office/drawing/2014/main" id="{090C7DF3-D8E0-E8C6-6694-AFDD517FC126}"/>
              </a:ext>
            </a:extLst>
          </p:cNvPr>
          <p:cNvSpPr txBox="1"/>
          <p:nvPr/>
        </p:nvSpPr>
        <p:spPr>
          <a:xfrm>
            <a:off x="350981" y="1109077"/>
            <a:ext cx="7837003" cy="36291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lvl="0" indent="-285750" algn="just" eaLnBrk="0" fontAlgn="base" hangingPunct="0">
              <a:spcBef>
                <a:spcPct val="0"/>
              </a:spcBef>
              <a:spcAft>
                <a:spcPts val="500"/>
              </a:spcAft>
              <a:buClrTx/>
              <a:buFont typeface="Arial"/>
              <a:buChar char="•"/>
            </a:pPr>
            <a:r>
              <a:rPr lang="en-US" altLang="en-US" b="1" dirty="0" err="1">
                <a:solidFill>
                  <a:schemeClr val="tx1"/>
                </a:solidFill>
                <a:latin typeface="Montserrat"/>
              </a:rPr>
              <a:t>Product_name</a:t>
            </a:r>
            <a:r>
              <a:rPr lang="en-US" altLang="en-US" dirty="0">
                <a:solidFill>
                  <a:schemeClr val="tx1"/>
                </a:solidFill>
                <a:latin typeface="Montserrat"/>
              </a:rPr>
              <a:t> – Name and model details of the AC.</a:t>
            </a:r>
            <a:endParaRPr lang="en-US" dirty="0">
              <a:solidFill>
                <a:schemeClr val="tx1"/>
              </a:solidFill>
              <a:latin typeface="Montserrat"/>
            </a:endParaRPr>
          </a:p>
          <a:p>
            <a:pPr marL="571500" lvl="0" indent="-285750" algn="just" eaLnBrk="0" fontAlgn="base" hangingPunct="0">
              <a:spcBef>
                <a:spcPct val="0"/>
              </a:spcBef>
              <a:spcAft>
                <a:spcPts val="500"/>
              </a:spcAft>
              <a:buClrTx/>
              <a:buFont typeface="Arial"/>
              <a:buChar char="•"/>
            </a:pPr>
            <a:r>
              <a:rPr lang="en-US" altLang="en-US" b="1" dirty="0">
                <a:solidFill>
                  <a:schemeClr val="tx1"/>
                </a:solidFill>
                <a:latin typeface="Montserrat"/>
              </a:rPr>
              <a:t>Brand</a:t>
            </a:r>
            <a:r>
              <a:rPr lang="en-US" altLang="en-US" dirty="0">
                <a:solidFill>
                  <a:schemeClr val="tx1"/>
                </a:solidFill>
                <a:latin typeface="Montserrat"/>
              </a:rPr>
              <a:t> – Manufacturer of the AC (Daikin, Haier, Voltas, </a:t>
            </a:r>
            <a:r>
              <a:rPr lang="en-US" altLang="en-US" dirty="0" err="1">
                <a:solidFill>
                  <a:schemeClr val="tx1"/>
                </a:solidFill>
                <a:latin typeface="Montserrat"/>
              </a:rPr>
              <a:t>MarQ</a:t>
            </a:r>
            <a:r>
              <a:rPr lang="en-US" altLang="en-US" dirty="0">
                <a:solidFill>
                  <a:schemeClr val="tx1"/>
                </a:solidFill>
                <a:latin typeface="Montserrat"/>
              </a:rPr>
              <a:t>, etc.).</a:t>
            </a:r>
          </a:p>
          <a:p>
            <a:pPr marL="571500" lvl="0" indent="-285750" algn="just" eaLnBrk="0" fontAlgn="base" hangingPunct="0">
              <a:spcBef>
                <a:spcPct val="0"/>
              </a:spcBef>
              <a:spcAft>
                <a:spcPts val="500"/>
              </a:spcAft>
              <a:buClrTx/>
              <a:buFont typeface="Arial"/>
              <a:buChar char="•"/>
            </a:pPr>
            <a:r>
              <a:rPr lang="en-US" altLang="en-US" b="1" dirty="0">
                <a:solidFill>
                  <a:schemeClr val="tx1"/>
                </a:solidFill>
                <a:latin typeface="Montserrat"/>
              </a:rPr>
              <a:t>Price</a:t>
            </a:r>
            <a:r>
              <a:rPr lang="en-US" altLang="en-US" dirty="0">
                <a:solidFill>
                  <a:schemeClr val="tx1"/>
                </a:solidFill>
                <a:latin typeface="Montserrat"/>
              </a:rPr>
              <a:t> – Current selling price of the AC.</a:t>
            </a:r>
          </a:p>
          <a:p>
            <a:pPr marL="571500" lvl="0" indent="-285750" algn="just" eaLnBrk="0" fontAlgn="base" hangingPunct="0">
              <a:spcBef>
                <a:spcPct val="0"/>
              </a:spcBef>
              <a:spcAft>
                <a:spcPts val="500"/>
              </a:spcAft>
              <a:buClrTx/>
              <a:buFont typeface="Arial"/>
              <a:buChar char="•"/>
            </a:pPr>
            <a:r>
              <a:rPr lang="en-US" altLang="en-US" b="1" err="1">
                <a:solidFill>
                  <a:schemeClr val="tx1"/>
                </a:solidFill>
                <a:latin typeface="Montserrat"/>
              </a:rPr>
              <a:t>Original_Price</a:t>
            </a:r>
            <a:r>
              <a:rPr lang="en-US" altLang="en-US" dirty="0">
                <a:solidFill>
                  <a:schemeClr val="tx1"/>
                </a:solidFill>
                <a:latin typeface="Montserrat"/>
              </a:rPr>
              <a:t> – Actual listed price before discount.</a:t>
            </a:r>
          </a:p>
          <a:p>
            <a:pPr marL="571500" lvl="0" indent="-285750" algn="just" eaLnBrk="0" fontAlgn="base" hangingPunct="0">
              <a:spcBef>
                <a:spcPct val="0"/>
              </a:spcBef>
              <a:spcAft>
                <a:spcPts val="500"/>
              </a:spcAft>
              <a:buClrTx/>
              <a:buFont typeface="Arial"/>
              <a:buChar char="•"/>
            </a:pPr>
            <a:r>
              <a:rPr lang="en-US" altLang="en-US" b="1" dirty="0">
                <a:solidFill>
                  <a:schemeClr val="tx1"/>
                </a:solidFill>
                <a:latin typeface="Montserrat"/>
              </a:rPr>
              <a:t>Discount / Discount(%)</a:t>
            </a:r>
            <a:r>
              <a:rPr lang="en-US" altLang="en-US" dirty="0">
                <a:solidFill>
                  <a:schemeClr val="tx1"/>
                </a:solidFill>
                <a:latin typeface="Montserrat"/>
              </a:rPr>
              <a:t> – Price reduction offered on the product.</a:t>
            </a:r>
          </a:p>
          <a:p>
            <a:pPr marL="571500" indent="-285750" algn="just" eaLnBrk="0" fontAlgn="base" hangingPunct="0">
              <a:spcBef>
                <a:spcPct val="0"/>
              </a:spcBef>
              <a:spcAft>
                <a:spcPts val="500"/>
              </a:spcAft>
              <a:buClrTx/>
              <a:buFont typeface="Arial"/>
              <a:buChar char="•"/>
            </a:pPr>
            <a:r>
              <a:rPr lang="en-US" altLang="en-US" b="1" dirty="0">
                <a:solidFill>
                  <a:schemeClr val="tx1"/>
                </a:solidFill>
                <a:latin typeface="Montserrat"/>
              </a:rPr>
              <a:t> Ratings</a:t>
            </a:r>
            <a:r>
              <a:rPr lang="en-US" altLang="en-US" dirty="0">
                <a:solidFill>
                  <a:schemeClr val="tx1"/>
                </a:solidFill>
                <a:latin typeface="Montserrat"/>
              </a:rPr>
              <a:t> – Average customer rating given to the AC.</a:t>
            </a:r>
          </a:p>
          <a:p>
            <a:pPr marL="571500" lvl="0" indent="-285750" algn="just" eaLnBrk="0" fontAlgn="base" hangingPunct="0">
              <a:spcBef>
                <a:spcPct val="0"/>
              </a:spcBef>
              <a:spcAft>
                <a:spcPts val="500"/>
              </a:spcAft>
              <a:buClrTx/>
              <a:buFont typeface="Arial"/>
              <a:buChar char="•"/>
            </a:pPr>
            <a:r>
              <a:rPr lang="en-US" altLang="en-US" b="1" err="1">
                <a:solidFill>
                  <a:schemeClr val="tx1"/>
                </a:solidFill>
                <a:latin typeface="Montserrat"/>
              </a:rPr>
              <a:t>No_of_Ratings</a:t>
            </a:r>
            <a:r>
              <a:rPr lang="en-US" altLang="en-US" dirty="0">
                <a:solidFill>
                  <a:schemeClr val="tx1"/>
                </a:solidFill>
                <a:latin typeface="Montserrat"/>
              </a:rPr>
              <a:t> – Total number of customers who rated the product.</a:t>
            </a:r>
          </a:p>
          <a:p>
            <a:pPr marL="571500" lvl="0" indent="-285750" algn="just" eaLnBrk="0" fontAlgn="base" hangingPunct="0">
              <a:spcBef>
                <a:spcPct val="0"/>
              </a:spcBef>
              <a:spcAft>
                <a:spcPts val="500"/>
              </a:spcAft>
              <a:buClrTx/>
              <a:buFont typeface="Arial"/>
              <a:buChar char="•"/>
            </a:pPr>
            <a:r>
              <a:rPr lang="en-US" altLang="en-US" b="1" err="1">
                <a:solidFill>
                  <a:schemeClr val="tx1"/>
                </a:solidFill>
                <a:latin typeface="Montserrat"/>
              </a:rPr>
              <a:t>No_of_Reviews</a:t>
            </a:r>
            <a:r>
              <a:rPr lang="en-US" altLang="en-US" dirty="0">
                <a:solidFill>
                  <a:schemeClr val="tx1"/>
                </a:solidFill>
                <a:latin typeface="Montserrat"/>
              </a:rPr>
              <a:t> – Total written reviews by customers.</a:t>
            </a:r>
          </a:p>
          <a:p>
            <a:pPr marL="571500" lvl="0" indent="-285750" algn="just" eaLnBrk="0" fontAlgn="base" hangingPunct="0">
              <a:spcBef>
                <a:spcPct val="0"/>
              </a:spcBef>
              <a:spcAft>
                <a:spcPts val="500"/>
              </a:spcAft>
              <a:buClrTx/>
              <a:buFont typeface="Arial"/>
              <a:buChar char="•"/>
            </a:pPr>
            <a:r>
              <a:rPr lang="en-US" altLang="en-US" b="1" dirty="0">
                <a:solidFill>
                  <a:schemeClr val="tx1"/>
                </a:solidFill>
                <a:latin typeface="Montserrat"/>
              </a:rPr>
              <a:t>Features</a:t>
            </a:r>
            <a:r>
              <a:rPr lang="en-US" altLang="en-US" dirty="0">
                <a:solidFill>
                  <a:schemeClr val="tx1"/>
                </a:solidFill>
                <a:latin typeface="Montserrat"/>
              </a:rPr>
              <a:t> – Technical details like annual power usage and recommended room size.</a:t>
            </a:r>
          </a:p>
          <a:p>
            <a:pPr marL="571500" lvl="0" indent="-285750" algn="just" eaLnBrk="0" fontAlgn="base" hangingPunct="0">
              <a:spcBef>
                <a:spcPct val="0"/>
              </a:spcBef>
              <a:spcAft>
                <a:spcPts val="500"/>
              </a:spcAft>
              <a:buClrTx/>
              <a:buFont typeface="Arial"/>
              <a:buChar char="•"/>
            </a:pPr>
            <a:r>
              <a:rPr lang="en-US" altLang="en-US" b="1" dirty="0">
                <a:solidFill>
                  <a:schemeClr val="tx1"/>
                </a:solidFill>
                <a:latin typeface="Montserrat"/>
              </a:rPr>
              <a:t>Tons</a:t>
            </a:r>
            <a:r>
              <a:rPr lang="en-US" altLang="en-US" dirty="0">
                <a:solidFill>
                  <a:schemeClr val="tx1"/>
                </a:solidFill>
                <a:latin typeface="Montserrat"/>
              </a:rPr>
              <a:t> – Cooling capacity of the AC (room size suitability).</a:t>
            </a:r>
          </a:p>
          <a:p>
            <a:pPr marL="571500" lvl="0" indent="-285750" algn="just" eaLnBrk="0" fontAlgn="base" hangingPunct="0">
              <a:spcBef>
                <a:spcPct val="0"/>
              </a:spcBef>
              <a:spcAft>
                <a:spcPts val="500"/>
              </a:spcAft>
              <a:buClrTx/>
              <a:buFont typeface="Arial"/>
              <a:buChar char="•"/>
            </a:pPr>
            <a:r>
              <a:rPr lang="en-US" altLang="en-US" b="1" dirty="0">
                <a:solidFill>
                  <a:schemeClr val="tx1"/>
                </a:solidFill>
                <a:latin typeface="Montserrat"/>
              </a:rPr>
              <a:t>Stars</a:t>
            </a:r>
            <a:r>
              <a:rPr lang="en-US" altLang="en-US" dirty="0">
                <a:solidFill>
                  <a:schemeClr val="tx1"/>
                </a:solidFill>
                <a:latin typeface="Montserrat"/>
              </a:rPr>
              <a:t> – Energy efficiency rating (power consumption indicator).</a:t>
            </a:r>
          </a:p>
          <a:p>
            <a:pPr marL="285750" indent="-285750" algn="just">
              <a:spcAft>
                <a:spcPts val="500"/>
              </a:spcAft>
              <a:buChar char="•"/>
            </a:pPr>
            <a:endParaRPr lang="en-US" dirty="0">
              <a:latin typeface="Montserrat" panose="00000500000000000000" pitchFamily="2" charset="0"/>
            </a:endParaRPr>
          </a:p>
        </p:txBody>
      </p:sp>
      <p:pic>
        <p:nvPicPr>
          <p:cNvPr id="3" name="Picture 2" descr="Innomatics Technology Hub in JNTU, Kukatpally, Hyderabad">
            <a:extLst>
              <a:ext uri="{FF2B5EF4-FFF2-40B4-BE49-F238E27FC236}">
                <a16:creationId xmlns:a16="http://schemas.microsoft.com/office/drawing/2014/main" id="{437032CC-EC37-6880-C4A1-F06CD38C0947}"/>
              </a:ext>
            </a:extLst>
          </p:cNvPr>
          <p:cNvPicPr>
            <a:picLocks noChangeAspect="1"/>
          </p:cNvPicPr>
          <p:nvPr/>
        </p:nvPicPr>
        <p:blipFill>
          <a:blip r:embed="rId3"/>
          <a:stretch>
            <a:fillRect/>
          </a:stretch>
        </p:blipFill>
        <p:spPr>
          <a:xfrm>
            <a:off x="7355421" y="4228345"/>
            <a:ext cx="1402344" cy="5477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5"/>
        <p:cNvGrpSpPr/>
        <p:nvPr/>
      </p:nvGrpSpPr>
      <p:grpSpPr>
        <a:xfrm>
          <a:off x="0" y="0"/>
          <a:ext cx="0" cy="0"/>
          <a:chOff x="0" y="0"/>
          <a:chExt cx="0" cy="0"/>
        </a:xfrm>
      </p:grpSpPr>
      <p:sp>
        <p:nvSpPr>
          <p:cNvPr id="546" name="Google Shape;546;p65"/>
          <p:cNvSpPr txBox="1">
            <a:spLocks noGrp="1"/>
          </p:cNvSpPr>
          <p:nvPr>
            <p:ph type="title"/>
          </p:nvPr>
        </p:nvSpPr>
        <p:spPr>
          <a:xfrm>
            <a:off x="860923" y="610903"/>
            <a:ext cx="4323000" cy="497700"/>
          </a:xfrm>
          <a:prstGeom prst="rect">
            <a:avLst/>
          </a:prstGeom>
        </p:spPr>
        <p:txBody>
          <a:bodyPr spcFirstLastPara="1" wrap="square" lIns="91425" tIns="91425" rIns="91425" bIns="91425" anchor="t" anchorCtr="0">
            <a:noAutofit/>
          </a:bodyPr>
          <a:lstStyle/>
          <a:p>
            <a:pPr algn="just"/>
            <a:r>
              <a:rPr lang="en"/>
              <a:t>Problem Statement</a:t>
            </a:r>
          </a:p>
        </p:txBody>
      </p:sp>
      <p:sp>
        <p:nvSpPr>
          <p:cNvPr id="547" name="Google Shape;547;p65"/>
          <p:cNvSpPr txBox="1">
            <a:spLocks noGrp="1"/>
          </p:cNvSpPr>
          <p:nvPr>
            <p:ph type="subTitle" idx="1"/>
          </p:nvPr>
        </p:nvSpPr>
        <p:spPr>
          <a:xfrm>
            <a:off x="600196" y="1439771"/>
            <a:ext cx="7438994" cy="2106601"/>
          </a:xfrm>
          <a:prstGeom prst="rect">
            <a:avLst/>
          </a:prstGeom>
        </p:spPr>
        <p:txBody>
          <a:bodyPr spcFirstLastPara="1" wrap="square" lIns="91425" tIns="91425" rIns="91425" bIns="91425" anchor="t" anchorCtr="0">
            <a:noAutofit/>
          </a:bodyPr>
          <a:lstStyle/>
          <a:p>
            <a:pPr marL="114300" indent="0" algn="just"/>
            <a:r>
              <a:rPr lang="en-US" sz="1600" dirty="0"/>
              <a:t>The objective of this analysis is to understand the performance, pricing, and   energy efficiency of different Air Conditioner (AC) models by examining key attributes such as price, discount, ratings, reviews, brand, tonnage, star rating, and technical features. The dataset helps identify how these factors vary across products and influence customer preference and market popularity.</a:t>
            </a:r>
            <a:endParaRPr lang="en" sz="1600"/>
          </a:p>
          <a:p>
            <a:pPr algn="just"/>
            <a:endParaRPr lang="en-US" sz="1600" dirty="0"/>
          </a:p>
        </p:txBody>
      </p:sp>
      <p:pic>
        <p:nvPicPr>
          <p:cNvPr id="3" name="Picture 2" descr="Innomatics Technology Hub in JNTU, Kukatpally, Hyderabad">
            <a:extLst>
              <a:ext uri="{FF2B5EF4-FFF2-40B4-BE49-F238E27FC236}">
                <a16:creationId xmlns:a16="http://schemas.microsoft.com/office/drawing/2014/main" id="{EFD08F17-D0FD-85CC-C471-902D3CF19D8E}"/>
              </a:ext>
            </a:extLst>
          </p:cNvPr>
          <p:cNvPicPr>
            <a:picLocks noChangeAspect="1"/>
          </p:cNvPicPr>
          <p:nvPr/>
        </p:nvPicPr>
        <p:blipFill>
          <a:blip r:embed="rId3"/>
          <a:stretch>
            <a:fillRect/>
          </a:stretch>
        </p:blipFill>
        <p:spPr>
          <a:xfrm>
            <a:off x="7338856" y="4178649"/>
            <a:ext cx="1402344" cy="5477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1"/>
        <p:cNvGrpSpPr/>
        <p:nvPr/>
      </p:nvGrpSpPr>
      <p:grpSpPr>
        <a:xfrm>
          <a:off x="0" y="0"/>
          <a:ext cx="0" cy="0"/>
          <a:chOff x="0" y="0"/>
          <a:chExt cx="0" cy="0"/>
        </a:xfrm>
      </p:grpSpPr>
      <p:sp>
        <p:nvSpPr>
          <p:cNvPr id="553" name="Google Shape;553;p66"/>
          <p:cNvSpPr txBox="1">
            <a:spLocks noGrp="1"/>
          </p:cNvSpPr>
          <p:nvPr>
            <p:ph type="title"/>
          </p:nvPr>
        </p:nvSpPr>
        <p:spPr>
          <a:xfrm>
            <a:off x="489595" y="537474"/>
            <a:ext cx="5679900" cy="572700"/>
          </a:xfrm>
          <a:prstGeom prst="rect">
            <a:avLst/>
          </a:prstGeom>
        </p:spPr>
        <p:txBody>
          <a:bodyPr spcFirstLastPara="1" wrap="square" lIns="91425" tIns="91425" rIns="91425" bIns="91425" anchor="t" anchorCtr="0">
            <a:noAutofit/>
          </a:bodyPr>
          <a:lstStyle/>
          <a:p>
            <a:r>
              <a:rPr lang="en"/>
              <a:t>Tools &amp; libraries</a:t>
            </a:r>
            <a:br>
              <a:rPr lang="en"/>
            </a:br>
            <a:endParaRPr lang="en"/>
          </a:p>
        </p:txBody>
      </p:sp>
      <p:pic>
        <p:nvPicPr>
          <p:cNvPr id="4" name="Picture 3" descr="Innomatics Technology Hub in JNTU, Kukatpally, Hyderabad">
            <a:extLst>
              <a:ext uri="{FF2B5EF4-FFF2-40B4-BE49-F238E27FC236}">
                <a16:creationId xmlns:a16="http://schemas.microsoft.com/office/drawing/2014/main" id="{31E4515C-492B-3214-C2E0-33A06D16687E}"/>
              </a:ext>
            </a:extLst>
          </p:cNvPr>
          <p:cNvPicPr>
            <a:picLocks noChangeAspect="1"/>
          </p:cNvPicPr>
          <p:nvPr/>
        </p:nvPicPr>
        <p:blipFill>
          <a:blip r:embed="rId3"/>
          <a:stretch>
            <a:fillRect/>
          </a:stretch>
        </p:blipFill>
        <p:spPr>
          <a:xfrm>
            <a:off x="7479660" y="4236628"/>
            <a:ext cx="1402344" cy="547776"/>
          </a:xfrm>
          <a:prstGeom prst="rect">
            <a:avLst/>
          </a:prstGeom>
        </p:spPr>
      </p:pic>
      <p:pic>
        <p:nvPicPr>
          <p:cNvPr id="5" name="Picture 4" descr="Python">
            <a:extLst>
              <a:ext uri="{FF2B5EF4-FFF2-40B4-BE49-F238E27FC236}">
                <a16:creationId xmlns:a16="http://schemas.microsoft.com/office/drawing/2014/main" id="{061E6F15-62C4-37CE-BFD2-A526FE15136D}"/>
              </a:ext>
            </a:extLst>
          </p:cNvPr>
          <p:cNvPicPr>
            <a:picLocks noChangeAspect="1"/>
          </p:cNvPicPr>
          <p:nvPr/>
        </p:nvPicPr>
        <p:blipFill>
          <a:blip r:embed="rId4"/>
          <a:stretch>
            <a:fillRect/>
          </a:stretch>
        </p:blipFill>
        <p:spPr>
          <a:xfrm>
            <a:off x="3313" y="1419225"/>
            <a:ext cx="2743200" cy="1543050"/>
          </a:xfrm>
          <a:prstGeom prst="rect">
            <a:avLst/>
          </a:prstGeom>
        </p:spPr>
      </p:pic>
      <p:pic>
        <p:nvPicPr>
          <p:cNvPr id="6" name="Picture 5" descr="NumPy Logo | SVG | Real Company | Alphabet, Letter N Logo">
            <a:extLst>
              <a:ext uri="{FF2B5EF4-FFF2-40B4-BE49-F238E27FC236}">
                <a16:creationId xmlns:a16="http://schemas.microsoft.com/office/drawing/2014/main" id="{B8D89A63-FEDC-6F80-2E47-F8AA1F71654D}"/>
              </a:ext>
            </a:extLst>
          </p:cNvPr>
          <p:cNvPicPr>
            <a:picLocks noChangeAspect="1"/>
          </p:cNvPicPr>
          <p:nvPr/>
        </p:nvPicPr>
        <p:blipFill>
          <a:blip r:embed="rId5"/>
          <a:srcRect t="-235" r="7615" b="342"/>
          <a:stretch>
            <a:fillRect/>
          </a:stretch>
        </p:blipFill>
        <p:spPr>
          <a:xfrm>
            <a:off x="2479813" y="1171657"/>
            <a:ext cx="1694240" cy="1896727"/>
          </a:xfrm>
          <a:prstGeom prst="rect">
            <a:avLst/>
          </a:prstGeom>
        </p:spPr>
      </p:pic>
      <p:pic>
        <p:nvPicPr>
          <p:cNvPr id="7" name="Picture 6" descr="Top Python Libraries Every Beginner Should Learn &amp; build projects">
            <a:extLst>
              <a:ext uri="{FF2B5EF4-FFF2-40B4-BE49-F238E27FC236}">
                <a16:creationId xmlns:a16="http://schemas.microsoft.com/office/drawing/2014/main" id="{FAEBDE14-7448-BD4B-4FE6-E39F538FFDB0}"/>
              </a:ext>
            </a:extLst>
          </p:cNvPr>
          <p:cNvPicPr>
            <a:picLocks noChangeAspect="1"/>
          </p:cNvPicPr>
          <p:nvPr/>
        </p:nvPicPr>
        <p:blipFill>
          <a:blip r:embed="rId6"/>
          <a:stretch>
            <a:fillRect/>
          </a:stretch>
        </p:blipFill>
        <p:spPr>
          <a:xfrm>
            <a:off x="491987" y="3030607"/>
            <a:ext cx="1658178" cy="1666461"/>
          </a:xfrm>
          <a:prstGeom prst="rect">
            <a:avLst/>
          </a:prstGeom>
        </p:spPr>
      </p:pic>
      <p:pic>
        <p:nvPicPr>
          <p:cNvPr id="10" name="Picture 9" descr="Tutorial-Introduction to Matplotlib for Beginners">
            <a:extLst>
              <a:ext uri="{FF2B5EF4-FFF2-40B4-BE49-F238E27FC236}">
                <a16:creationId xmlns:a16="http://schemas.microsoft.com/office/drawing/2014/main" id="{A776952B-EF2C-C932-D057-E53D829152C5}"/>
              </a:ext>
            </a:extLst>
          </p:cNvPr>
          <p:cNvPicPr>
            <a:picLocks noChangeAspect="1"/>
          </p:cNvPicPr>
          <p:nvPr/>
        </p:nvPicPr>
        <p:blipFill>
          <a:blip r:embed="rId7"/>
          <a:stretch>
            <a:fillRect/>
          </a:stretch>
        </p:blipFill>
        <p:spPr>
          <a:xfrm>
            <a:off x="2551044" y="3126685"/>
            <a:ext cx="1905000" cy="1466022"/>
          </a:xfrm>
          <a:prstGeom prst="rect">
            <a:avLst/>
          </a:prstGeom>
        </p:spPr>
      </p:pic>
      <p:pic>
        <p:nvPicPr>
          <p:cNvPr id="13" name="Picture 12">
            <a:extLst>
              <a:ext uri="{FF2B5EF4-FFF2-40B4-BE49-F238E27FC236}">
                <a16:creationId xmlns:a16="http://schemas.microsoft.com/office/drawing/2014/main" id="{E944420D-A6FE-8F20-2BB6-3141491DC68F}"/>
              </a:ext>
            </a:extLst>
          </p:cNvPr>
          <p:cNvPicPr>
            <a:picLocks noChangeAspect="1"/>
          </p:cNvPicPr>
          <p:nvPr/>
        </p:nvPicPr>
        <p:blipFill>
          <a:blip r:embed="rId8"/>
          <a:stretch>
            <a:fillRect/>
          </a:stretch>
        </p:blipFill>
        <p:spPr>
          <a:xfrm>
            <a:off x="6509509" y="823498"/>
            <a:ext cx="2179569" cy="2237547"/>
          </a:xfrm>
          <a:prstGeom prst="rect">
            <a:avLst/>
          </a:prstGeom>
        </p:spPr>
      </p:pic>
      <p:pic>
        <p:nvPicPr>
          <p:cNvPr id="15" name="Picture 14" descr="Exploring Web Scraping with Beautiful Soup in Python | by Pratik Shrestha |  Medium">
            <a:extLst>
              <a:ext uri="{FF2B5EF4-FFF2-40B4-BE49-F238E27FC236}">
                <a16:creationId xmlns:a16="http://schemas.microsoft.com/office/drawing/2014/main" id="{B8F802A1-7658-98F0-3FA3-1DD043846B59}"/>
              </a:ext>
            </a:extLst>
          </p:cNvPr>
          <p:cNvPicPr>
            <a:picLocks noChangeAspect="1"/>
          </p:cNvPicPr>
          <p:nvPr/>
        </p:nvPicPr>
        <p:blipFill>
          <a:blip r:embed="rId9"/>
          <a:srcRect r="397" b="7595"/>
          <a:stretch>
            <a:fillRect/>
          </a:stretch>
        </p:blipFill>
        <p:spPr>
          <a:xfrm>
            <a:off x="4347334" y="995363"/>
            <a:ext cx="2072750" cy="1818867"/>
          </a:xfrm>
          <a:prstGeom prst="rect">
            <a:avLst/>
          </a:prstGeom>
        </p:spPr>
      </p:pic>
      <p:pic>
        <p:nvPicPr>
          <p:cNvPr id="16" name="Picture 15" descr="A black and white logo&#10;&#10;AI-generated content may be incorrect.">
            <a:extLst>
              <a:ext uri="{FF2B5EF4-FFF2-40B4-BE49-F238E27FC236}">
                <a16:creationId xmlns:a16="http://schemas.microsoft.com/office/drawing/2014/main" id="{11DD4E45-0476-E85E-D3E0-D0F2C12BBA17}"/>
              </a:ext>
            </a:extLst>
          </p:cNvPr>
          <p:cNvPicPr>
            <a:picLocks noChangeAspect="1"/>
          </p:cNvPicPr>
          <p:nvPr/>
        </p:nvPicPr>
        <p:blipFill>
          <a:blip r:embed="rId10"/>
          <a:stretch>
            <a:fillRect/>
          </a:stretch>
        </p:blipFill>
        <p:spPr>
          <a:xfrm>
            <a:off x="4452316" y="3228146"/>
            <a:ext cx="2773847" cy="12630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0649A-C204-DDBF-E0B2-302A20DBC6C5}"/>
              </a:ext>
            </a:extLst>
          </p:cNvPr>
          <p:cNvSpPr>
            <a:spLocks noGrp="1"/>
          </p:cNvSpPr>
          <p:nvPr>
            <p:ph type="title"/>
          </p:nvPr>
        </p:nvSpPr>
        <p:spPr>
          <a:xfrm>
            <a:off x="740826" y="203959"/>
            <a:ext cx="4323000" cy="497700"/>
          </a:xfrm>
        </p:spPr>
        <p:txBody>
          <a:bodyPr/>
          <a:lstStyle/>
          <a:p>
            <a:pPr algn="just"/>
            <a:r>
              <a:rPr lang="en-US" dirty="0"/>
              <a:t>Web Scrapping</a:t>
            </a:r>
          </a:p>
        </p:txBody>
      </p:sp>
      <p:sp>
        <p:nvSpPr>
          <p:cNvPr id="3" name="Subtitle 2">
            <a:extLst>
              <a:ext uri="{FF2B5EF4-FFF2-40B4-BE49-F238E27FC236}">
                <a16:creationId xmlns:a16="http://schemas.microsoft.com/office/drawing/2014/main" id="{8E6F7B6B-AC89-9EA2-787B-AF5A06166C6B}"/>
              </a:ext>
            </a:extLst>
          </p:cNvPr>
          <p:cNvSpPr>
            <a:spLocks noGrp="1"/>
          </p:cNvSpPr>
          <p:nvPr>
            <p:ph type="subTitle" idx="1"/>
          </p:nvPr>
        </p:nvSpPr>
        <p:spPr>
          <a:xfrm>
            <a:off x="4346805" y="564935"/>
            <a:ext cx="4228478" cy="3995261"/>
          </a:xfrm>
        </p:spPr>
        <p:txBody>
          <a:bodyPr/>
          <a:lstStyle/>
          <a:p>
            <a:pPr algn="just">
              <a:spcAft>
                <a:spcPts val="500"/>
              </a:spcAft>
              <a:buFont typeface="Arial"/>
              <a:buChar char="•"/>
            </a:pPr>
            <a:r>
              <a:rPr lang="en-US" sz="1400" dirty="0">
                <a:ea typeface="Calibri"/>
                <a:cs typeface="Calibri"/>
              </a:rPr>
              <a:t>Used an online Flipkart product review and listing website as the primary data source and identified required HTML elements using the browser Inspect Element feature.</a:t>
            </a:r>
            <a:endParaRPr lang="en-US" dirty="0"/>
          </a:p>
          <a:p>
            <a:pPr algn="just">
              <a:spcAft>
                <a:spcPts val="500"/>
              </a:spcAft>
              <a:buFont typeface="Arial"/>
              <a:buChar char="•"/>
            </a:pPr>
            <a:r>
              <a:rPr lang="en-US" sz="1400" dirty="0">
                <a:ea typeface="Calibri"/>
                <a:cs typeface="Calibri"/>
              </a:rPr>
              <a:t>Followed the Client–Server architecture, where the client (Python script) sent HTTP requests and the web server responded with raw HTML webpage data.</a:t>
            </a:r>
          </a:p>
          <a:p>
            <a:pPr algn="just">
              <a:spcAft>
                <a:spcPts val="500"/>
              </a:spcAft>
              <a:buFont typeface="Arial"/>
              <a:buChar char="•"/>
            </a:pPr>
            <a:r>
              <a:rPr lang="en-US" sz="1400" dirty="0">
                <a:ea typeface="Calibri"/>
                <a:cs typeface="Calibri"/>
              </a:rPr>
              <a:t>Extracted company-related information such as company name, ratings, reviews, Price, Discount, Warranty, stars, Power usage, and offer details using Requests and </a:t>
            </a:r>
            <a:r>
              <a:rPr lang="en-US" sz="1400" dirty="0" err="1">
                <a:ea typeface="Calibri"/>
                <a:cs typeface="Calibri"/>
              </a:rPr>
              <a:t>BeautifulSoup</a:t>
            </a:r>
            <a:r>
              <a:rPr lang="en-US" sz="1400" dirty="0">
                <a:ea typeface="Calibri"/>
                <a:cs typeface="Calibri"/>
              </a:rPr>
              <a:t>.</a:t>
            </a:r>
          </a:p>
          <a:p>
            <a:pPr algn="just">
              <a:spcAft>
                <a:spcPts val="500"/>
              </a:spcAft>
              <a:buFont typeface="Arial"/>
              <a:buChar char="•"/>
            </a:pPr>
            <a:r>
              <a:rPr lang="en-US" sz="1400" dirty="0">
                <a:ea typeface="Calibri"/>
                <a:cs typeface="Calibri"/>
              </a:rPr>
              <a:t>Cleaned, structured, and stored the extracted data in Pandas </a:t>
            </a:r>
            <a:r>
              <a:rPr lang="en-US" sz="1400" dirty="0" err="1">
                <a:ea typeface="Calibri"/>
                <a:cs typeface="Calibri"/>
              </a:rPr>
              <a:t>DataFrames</a:t>
            </a:r>
            <a:r>
              <a:rPr lang="en-US" sz="1400" dirty="0">
                <a:ea typeface="Calibri"/>
                <a:cs typeface="Calibri"/>
              </a:rPr>
              <a:t> for further analysis.</a:t>
            </a:r>
          </a:p>
          <a:p>
            <a:pPr algn="just">
              <a:buFont typeface="Arial"/>
              <a:buChar char="•"/>
            </a:pPr>
            <a:endParaRPr lang="en-US" sz="1100">
              <a:latin typeface="Calibri"/>
            </a:endParaRPr>
          </a:p>
        </p:txBody>
      </p:sp>
      <p:pic>
        <p:nvPicPr>
          <p:cNvPr id="4" name="Picture 3" descr="A screenshot of a computer program&#10;&#10;AI-generated content may be incorrect.">
            <a:extLst>
              <a:ext uri="{FF2B5EF4-FFF2-40B4-BE49-F238E27FC236}">
                <a16:creationId xmlns:a16="http://schemas.microsoft.com/office/drawing/2014/main" id="{536D9E05-6E3F-E6BD-9B3A-D3FEFF789F7A}"/>
              </a:ext>
            </a:extLst>
          </p:cNvPr>
          <p:cNvPicPr>
            <a:picLocks noChangeAspect="1"/>
          </p:cNvPicPr>
          <p:nvPr/>
        </p:nvPicPr>
        <p:blipFill>
          <a:blip r:embed="rId2"/>
          <a:srcRect r="-336" b="33673"/>
          <a:stretch>
            <a:fillRect/>
          </a:stretch>
        </p:blipFill>
        <p:spPr>
          <a:xfrm>
            <a:off x="565014" y="794521"/>
            <a:ext cx="3775483" cy="206777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7162EC55-8FF1-AF79-BAF3-AB4B5880B457}"/>
              </a:ext>
            </a:extLst>
          </p:cNvPr>
          <p:cNvPicPr>
            <a:picLocks noChangeAspect="1"/>
          </p:cNvPicPr>
          <p:nvPr/>
        </p:nvPicPr>
        <p:blipFill>
          <a:blip r:embed="rId3"/>
          <a:srcRect r="6216" b="7166"/>
          <a:stretch>
            <a:fillRect/>
          </a:stretch>
        </p:blipFill>
        <p:spPr>
          <a:xfrm>
            <a:off x="644460" y="3053129"/>
            <a:ext cx="3705583" cy="1754080"/>
          </a:xfrm>
          <a:prstGeom prst="rect">
            <a:avLst/>
          </a:prstGeom>
        </p:spPr>
      </p:pic>
    </p:spTree>
    <p:extLst>
      <p:ext uri="{BB962C8B-B14F-4D97-AF65-F5344CB8AC3E}">
        <p14:creationId xmlns:p14="http://schemas.microsoft.com/office/powerpoint/2010/main" val="1717234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0"/>
        <p:cNvGrpSpPr/>
        <p:nvPr/>
      </p:nvGrpSpPr>
      <p:grpSpPr>
        <a:xfrm>
          <a:off x="0" y="0"/>
          <a:ext cx="0" cy="0"/>
          <a:chOff x="0" y="0"/>
          <a:chExt cx="0" cy="0"/>
        </a:xfrm>
      </p:grpSpPr>
      <p:sp>
        <p:nvSpPr>
          <p:cNvPr id="571" name="Google Shape;571;p69"/>
          <p:cNvSpPr txBox="1">
            <a:spLocks noGrp="1"/>
          </p:cNvSpPr>
          <p:nvPr>
            <p:ph type="title"/>
          </p:nvPr>
        </p:nvSpPr>
        <p:spPr>
          <a:xfrm>
            <a:off x="718602" y="324786"/>
            <a:ext cx="2971304" cy="446375"/>
          </a:xfrm>
          <a:prstGeom prst="rect">
            <a:avLst/>
          </a:prstGeom>
        </p:spPr>
        <p:txBody>
          <a:bodyPr spcFirstLastPara="1" wrap="square" lIns="91425" tIns="91425" rIns="91425" bIns="91425" anchor="t" anchorCtr="0">
            <a:noAutofit/>
          </a:bodyPr>
          <a:lstStyle/>
          <a:p>
            <a:r>
              <a:rPr lang="en" sz="3000"/>
              <a:t>Raw Data Set</a:t>
            </a:r>
          </a:p>
        </p:txBody>
      </p:sp>
      <p:pic>
        <p:nvPicPr>
          <p:cNvPr id="4" name="Picture 3" descr="Innomatics Technology Hub in JNTU, Kukatpally, Hyderabad">
            <a:extLst>
              <a:ext uri="{FF2B5EF4-FFF2-40B4-BE49-F238E27FC236}">
                <a16:creationId xmlns:a16="http://schemas.microsoft.com/office/drawing/2014/main" id="{9EADF9FF-32B1-BA02-D2D5-082F6580C21C}"/>
              </a:ext>
            </a:extLst>
          </p:cNvPr>
          <p:cNvPicPr>
            <a:picLocks noChangeAspect="1"/>
          </p:cNvPicPr>
          <p:nvPr/>
        </p:nvPicPr>
        <p:blipFill>
          <a:blip r:embed="rId3"/>
          <a:stretch>
            <a:fillRect/>
          </a:stretch>
        </p:blipFill>
        <p:spPr>
          <a:xfrm>
            <a:off x="7429964" y="4336019"/>
            <a:ext cx="1402344" cy="547776"/>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32184F57-BC47-BD11-4A9B-0211164965DB}"/>
              </a:ext>
            </a:extLst>
          </p:cNvPr>
          <p:cNvPicPr>
            <a:picLocks noChangeAspect="1"/>
          </p:cNvPicPr>
          <p:nvPr/>
        </p:nvPicPr>
        <p:blipFill>
          <a:blip r:embed="rId4"/>
          <a:stretch>
            <a:fillRect/>
          </a:stretch>
        </p:blipFill>
        <p:spPr>
          <a:xfrm>
            <a:off x="836543" y="847591"/>
            <a:ext cx="7479197" cy="38376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8"/>
        <p:cNvGrpSpPr/>
        <p:nvPr/>
      </p:nvGrpSpPr>
      <p:grpSpPr>
        <a:xfrm>
          <a:off x="0" y="0"/>
          <a:ext cx="0" cy="0"/>
          <a:chOff x="0" y="0"/>
          <a:chExt cx="0" cy="0"/>
        </a:xfrm>
      </p:grpSpPr>
      <p:sp>
        <p:nvSpPr>
          <p:cNvPr id="559" name="Google Shape;559;p67"/>
          <p:cNvSpPr txBox="1">
            <a:spLocks noGrp="1"/>
          </p:cNvSpPr>
          <p:nvPr>
            <p:ph type="subTitle" idx="1"/>
          </p:nvPr>
        </p:nvSpPr>
        <p:spPr>
          <a:xfrm>
            <a:off x="4303366" y="1351446"/>
            <a:ext cx="3860801" cy="1555276"/>
          </a:xfrm>
          <a:prstGeom prst="rect">
            <a:avLst/>
          </a:prstGeom>
        </p:spPr>
        <p:txBody>
          <a:bodyPr spcFirstLastPara="1" wrap="square" lIns="91425" tIns="91425" rIns="91425" bIns="91425" anchor="t" anchorCtr="0">
            <a:noAutofit/>
          </a:bodyPr>
          <a:lstStyle/>
          <a:p>
            <a:pPr algn="just">
              <a:spcAft>
                <a:spcPts val="800"/>
              </a:spcAft>
              <a:buFont typeface="Arial"/>
              <a:buChar char="•"/>
            </a:pPr>
            <a:r>
              <a:rPr lang="en" err="1">
                <a:solidFill>
                  <a:schemeClr val="dk1"/>
                </a:solidFill>
                <a:cs typeface="Times New Roman"/>
              </a:rPr>
              <a:t>DataFrame</a:t>
            </a:r>
            <a:r>
              <a:rPr lang="en">
                <a:solidFill>
                  <a:schemeClr val="dk1"/>
                </a:solidFill>
                <a:cs typeface="Times New Roman"/>
              </a:rPr>
              <a:t> is exported to a CSV file for storage and reuse</a:t>
            </a:r>
            <a:endParaRPr lang="en-US">
              <a:solidFill>
                <a:schemeClr val="dk1"/>
              </a:solidFill>
            </a:endParaRPr>
          </a:p>
          <a:p>
            <a:pPr algn="just">
              <a:spcAft>
                <a:spcPts val="800"/>
              </a:spcAft>
              <a:buFont typeface="Arial"/>
              <a:buChar char="•"/>
            </a:pPr>
            <a:r>
              <a:rPr lang="en">
                <a:solidFill>
                  <a:schemeClr val="dk1"/>
                </a:solidFill>
                <a:cs typeface="Times New Roman"/>
              </a:rPr>
              <a:t>CSV format allows easy data sharing and portability</a:t>
            </a:r>
            <a:endParaRPr lang="en"/>
          </a:p>
          <a:p>
            <a:pPr algn="just">
              <a:spcAft>
                <a:spcPts val="800"/>
              </a:spcAft>
              <a:buFont typeface="Arial"/>
              <a:buChar char="•"/>
            </a:pPr>
            <a:r>
              <a:rPr lang="en">
                <a:solidFill>
                  <a:schemeClr val="dk1"/>
                </a:solidFill>
                <a:cs typeface="Times New Roman"/>
              </a:rPr>
              <a:t>The saved CSV is reloaded into Python for further analysis</a:t>
            </a:r>
            <a:endParaRPr lang="en"/>
          </a:p>
          <a:p>
            <a:pPr marL="742950" indent="-285750" algn="just">
              <a:spcAft>
                <a:spcPts val="500"/>
              </a:spcAft>
              <a:buFont typeface="Arial"/>
              <a:buChar char="•"/>
            </a:pPr>
            <a:endParaRPr lang="en">
              <a:solidFill>
                <a:schemeClr val="dk1"/>
              </a:solidFill>
              <a:cs typeface="Times New Roman"/>
            </a:endParaRPr>
          </a:p>
        </p:txBody>
      </p:sp>
      <p:sp>
        <p:nvSpPr>
          <p:cNvPr id="560" name="Google Shape;560;p67"/>
          <p:cNvSpPr txBox="1">
            <a:spLocks noGrp="1"/>
          </p:cNvSpPr>
          <p:nvPr>
            <p:ph type="title"/>
          </p:nvPr>
        </p:nvSpPr>
        <p:spPr>
          <a:xfrm>
            <a:off x="647881" y="377790"/>
            <a:ext cx="2850051" cy="672821"/>
          </a:xfrm>
          <a:prstGeom prst="rect">
            <a:avLst/>
          </a:prstGeom>
        </p:spPr>
        <p:txBody>
          <a:bodyPr spcFirstLastPara="1" wrap="square" lIns="91425" tIns="91425" rIns="91425" bIns="91425" anchor="t" anchorCtr="0">
            <a:noAutofit/>
          </a:bodyPr>
          <a:lstStyle/>
          <a:p>
            <a:pPr algn="just"/>
            <a:r>
              <a:rPr lang="en"/>
              <a:t>Loading to CSV</a:t>
            </a:r>
          </a:p>
        </p:txBody>
      </p:sp>
      <p:sp>
        <p:nvSpPr>
          <p:cNvPr id="6" name="TextBox 5">
            <a:extLst>
              <a:ext uri="{FF2B5EF4-FFF2-40B4-BE49-F238E27FC236}">
                <a16:creationId xmlns:a16="http://schemas.microsoft.com/office/drawing/2014/main" id="{8FE64DB9-2920-7442-C06E-A3A2E0414C97}"/>
              </a:ext>
            </a:extLst>
          </p:cNvPr>
          <p:cNvSpPr txBox="1"/>
          <p:nvPr/>
        </p:nvSpPr>
        <p:spPr>
          <a:xfrm>
            <a:off x="647261" y="1636912"/>
            <a:ext cx="2766393"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000">
                <a:latin typeface="Vidaloka"/>
              </a:rPr>
              <a:t>Data Reading</a:t>
            </a:r>
          </a:p>
        </p:txBody>
      </p:sp>
      <p:pic>
        <p:nvPicPr>
          <p:cNvPr id="4" name="Picture 3" descr="Innomatics Technology Hub in JNTU, Kukatpally, Hyderabad">
            <a:extLst>
              <a:ext uri="{FF2B5EF4-FFF2-40B4-BE49-F238E27FC236}">
                <a16:creationId xmlns:a16="http://schemas.microsoft.com/office/drawing/2014/main" id="{C45168C4-ABDE-6317-5E71-FADA90B6C082}"/>
              </a:ext>
            </a:extLst>
          </p:cNvPr>
          <p:cNvPicPr>
            <a:picLocks noChangeAspect="1"/>
          </p:cNvPicPr>
          <p:nvPr/>
        </p:nvPicPr>
        <p:blipFill>
          <a:blip r:embed="rId3"/>
          <a:stretch>
            <a:fillRect/>
          </a:stretch>
        </p:blipFill>
        <p:spPr>
          <a:xfrm>
            <a:off x="7355421" y="4228345"/>
            <a:ext cx="1402344" cy="547776"/>
          </a:xfrm>
          <a:prstGeom prst="rect">
            <a:avLst/>
          </a:prstGeom>
        </p:spPr>
      </p:pic>
      <p:pic>
        <p:nvPicPr>
          <p:cNvPr id="2" name="Picture 1">
            <a:extLst>
              <a:ext uri="{FF2B5EF4-FFF2-40B4-BE49-F238E27FC236}">
                <a16:creationId xmlns:a16="http://schemas.microsoft.com/office/drawing/2014/main" id="{71B6CB5B-28EB-A13A-4D52-75E4262FE838}"/>
              </a:ext>
            </a:extLst>
          </p:cNvPr>
          <p:cNvPicPr>
            <a:picLocks noChangeAspect="1"/>
          </p:cNvPicPr>
          <p:nvPr/>
        </p:nvPicPr>
        <p:blipFill>
          <a:blip r:embed="rId4"/>
          <a:stretch>
            <a:fillRect/>
          </a:stretch>
        </p:blipFill>
        <p:spPr>
          <a:xfrm>
            <a:off x="644801" y="1052513"/>
            <a:ext cx="3067050" cy="371475"/>
          </a:xfrm>
          <a:prstGeom prst="rect">
            <a:avLst/>
          </a:prstGeom>
        </p:spPr>
      </p:pic>
      <p:pic>
        <p:nvPicPr>
          <p:cNvPr id="5" name="Picture 4" descr="A screenshot of a computer code&#10;&#10;AI-generated content may be incorrect.">
            <a:extLst>
              <a:ext uri="{FF2B5EF4-FFF2-40B4-BE49-F238E27FC236}">
                <a16:creationId xmlns:a16="http://schemas.microsoft.com/office/drawing/2014/main" id="{CE67D993-D47F-4116-FE1C-491C34DE043C}"/>
              </a:ext>
            </a:extLst>
          </p:cNvPr>
          <p:cNvPicPr>
            <a:picLocks noChangeAspect="1"/>
          </p:cNvPicPr>
          <p:nvPr/>
        </p:nvPicPr>
        <p:blipFill>
          <a:blip r:embed="rId5"/>
          <a:stretch>
            <a:fillRect/>
          </a:stretch>
        </p:blipFill>
        <p:spPr>
          <a:xfrm>
            <a:off x="649978" y="2479192"/>
            <a:ext cx="2924175" cy="8477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E48B3FD-98D9-CCAE-25DA-3DE5858B6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C5F0D1-2ACC-60D4-CB7C-7FA3164FD360}"/>
              </a:ext>
            </a:extLst>
          </p:cNvPr>
          <p:cNvSpPr>
            <a:spLocks noGrp="1"/>
          </p:cNvSpPr>
          <p:nvPr>
            <p:ph type="title"/>
          </p:nvPr>
        </p:nvSpPr>
        <p:spPr>
          <a:xfrm>
            <a:off x="733030" y="377893"/>
            <a:ext cx="6153456" cy="497700"/>
          </a:xfrm>
        </p:spPr>
        <p:txBody>
          <a:bodyPr/>
          <a:lstStyle/>
          <a:p>
            <a:pPr algn="just"/>
            <a:r>
              <a:rPr lang="en-US"/>
              <a:t>Data Cleaning Using Regex</a:t>
            </a:r>
          </a:p>
        </p:txBody>
      </p:sp>
      <p:sp>
        <p:nvSpPr>
          <p:cNvPr id="3" name="Subtitle 2">
            <a:extLst>
              <a:ext uri="{FF2B5EF4-FFF2-40B4-BE49-F238E27FC236}">
                <a16:creationId xmlns:a16="http://schemas.microsoft.com/office/drawing/2014/main" id="{E9C9A992-9016-4C51-69BD-BC2A55F4CC21}"/>
              </a:ext>
            </a:extLst>
          </p:cNvPr>
          <p:cNvSpPr>
            <a:spLocks noGrp="1"/>
          </p:cNvSpPr>
          <p:nvPr>
            <p:ph type="subTitle" idx="1"/>
          </p:nvPr>
        </p:nvSpPr>
        <p:spPr>
          <a:xfrm>
            <a:off x="5263373" y="883572"/>
            <a:ext cx="3230178" cy="4070048"/>
          </a:xfrm>
        </p:spPr>
        <p:txBody>
          <a:bodyPr/>
          <a:lstStyle/>
          <a:p>
            <a:pPr marL="285750" indent="-285750" algn="just">
              <a:spcAft>
                <a:spcPts val="500"/>
              </a:spcAft>
              <a:buFont typeface="Arial"/>
              <a:buChar char="•"/>
            </a:pPr>
            <a:r>
              <a:rPr lang="en-US" sz="1400" dirty="0"/>
              <a:t>Text values were converted into numeric format for Discount, Price, and Original Price to enable analysis.</a:t>
            </a:r>
            <a:endParaRPr lang="en-US"/>
          </a:p>
          <a:p>
            <a:pPr marL="285750" indent="-285750" algn="just">
              <a:spcAft>
                <a:spcPts val="500"/>
              </a:spcAft>
              <a:buFont typeface="Arial"/>
              <a:buChar char="•"/>
            </a:pPr>
            <a:r>
              <a:rPr lang="en-US" sz="1400" dirty="0"/>
              <a:t>Ratings and reviews were separated into individual columns for clearer insights.</a:t>
            </a:r>
          </a:p>
          <a:p>
            <a:pPr marL="285750" indent="-285750" algn="just">
              <a:spcAft>
                <a:spcPts val="500"/>
              </a:spcAft>
              <a:buFont typeface="Arial"/>
              <a:buChar char="•"/>
            </a:pPr>
            <a:r>
              <a:rPr lang="en-US" sz="1400" dirty="0"/>
              <a:t>Unnecessary symbols and commas were removed .</a:t>
            </a:r>
          </a:p>
          <a:p>
            <a:pPr marL="285750" indent="-285750" algn="just">
              <a:spcAft>
                <a:spcPts val="500"/>
              </a:spcAft>
              <a:buFont typeface="Arial"/>
              <a:buChar char="•"/>
            </a:pPr>
            <a:r>
              <a:rPr lang="en-US" sz="1400" dirty="0"/>
              <a:t>Brand and launch year were extracted from product names for better categorization.</a:t>
            </a:r>
          </a:p>
          <a:p>
            <a:pPr marL="285750" indent="-285750" algn="just">
              <a:spcAft>
                <a:spcPts val="500"/>
              </a:spcAft>
              <a:buFont typeface="Arial"/>
              <a:buChar char="•"/>
            </a:pPr>
            <a:r>
              <a:rPr lang="en-US" sz="1400" dirty="0"/>
              <a:t>Redundant columns were removed to keep the dataset clean and efficient.</a:t>
            </a:r>
          </a:p>
          <a:p>
            <a:pPr algn="just">
              <a:spcAft>
                <a:spcPts val="500"/>
              </a:spcAft>
            </a:pPr>
            <a:endParaRPr lang="en-US" sz="1400" dirty="0"/>
          </a:p>
        </p:txBody>
      </p:sp>
      <p:pic>
        <p:nvPicPr>
          <p:cNvPr id="4" name="Picture 3" descr="A screenshot of a computer program&#10;&#10;AI-generated content may be incorrect.">
            <a:extLst>
              <a:ext uri="{FF2B5EF4-FFF2-40B4-BE49-F238E27FC236}">
                <a16:creationId xmlns:a16="http://schemas.microsoft.com/office/drawing/2014/main" id="{E9B8EC6B-6D9D-E436-46A5-D215B6B68502}"/>
              </a:ext>
            </a:extLst>
          </p:cNvPr>
          <p:cNvPicPr>
            <a:picLocks noChangeAspect="1"/>
          </p:cNvPicPr>
          <p:nvPr/>
        </p:nvPicPr>
        <p:blipFill>
          <a:blip r:embed="rId2"/>
          <a:stretch>
            <a:fillRect/>
          </a:stretch>
        </p:blipFill>
        <p:spPr>
          <a:xfrm>
            <a:off x="323021" y="883649"/>
            <a:ext cx="4794292" cy="3864508"/>
          </a:xfrm>
          <a:prstGeom prst="rect">
            <a:avLst/>
          </a:prstGeom>
        </p:spPr>
      </p:pic>
      <p:pic>
        <p:nvPicPr>
          <p:cNvPr id="6" name="Picture 5" descr="Innomatics Technology Hub in JNTU, Kukatpally, Hyderabad">
            <a:extLst>
              <a:ext uri="{FF2B5EF4-FFF2-40B4-BE49-F238E27FC236}">
                <a16:creationId xmlns:a16="http://schemas.microsoft.com/office/drawing/2014/main" id="{B620D968-D9F2-7831-F570-F85C8CD9E0C4}"/>
              </a:ext>
            </a:extLst>
          </p:cNvPr>
          <p:cNvPicPr>
            <a:picLocks noChangeAspect="1"/>
          </p:cNvPicPr>
          <p:nvPr/>
        </p:nvPicPr>
        <p:blipFill>
          <a:blip r:embed="rId3"/>
          <a:stretch>
            <a:fillRect/>
          </a:stretch>
        </p:blipFill>
        <p:spPr>
          <a:xfrm>
            <a:off x="7355421" y="4228345"/>
            <a:ext cx="1402344" cy="547776"/>
          </a:xfrm>
          <a:prstGeom prst="rect">
            <a:avLst/>
          </a:prstGeom>
        </p:spPr>
      </p:pic>
    </p:spTree>
    <p:extLst>
      <p:ext uri="{BB962C8B-B14F-4D97-AF65-F5344CB8AC3E}">
        <p14:creationId xmlns:p14="http://schemas.microsoft.com/office/powerpoint/2010/main" val="637292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F1B9F80-85BB-4FC1-525F-4DC156538EB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B2EE03C-958C-6737-1ED7-A5DCBB795161}"/>
              </a:ext>
            </a:extLst>
          </p:cNvPr>
          <p:cNvSpPr>
            <a:spLocks noGrp="1"/>
          </p:cNvSpPr>
          <p:nvPr>
            <p:ph type="subTitle" idx="1"/>
          </p:nvPr>
        </p:nvSpPr>
        <p:spPr>
          <a:xfrm>
            <a:off x="5441085" y="392098"/>
            <a:ext cx="3097657" cy="3854698"/>
          </a:xfrm>
        </p:spPr>
        <p:txBody>
          <a:bodyPr/>
          <a:lstStyle/>
          <a:p>
            <a:pPr marL="285750" indent="-285750">
              <a:spcAft>
                <a:spcPts val="500"/>
              </a:spcAft>
              <a:buFont typeface="Arial"/>
              <a:buChar char="•"/>
            </a:pPr>
            <a:r>
              <a:rPr lang="en-US" sz="1400" dirty="0"/>
              <a:t>Cooling capacity (Tons) and star rating (Stars) were extracted from product names for technical comparison.</a:t>
            </a:r>
            <a:endParaRPr lang="en-US"/>
          </a:p>
          <a:p>
            <a:pPr marL="285750" indent="-285750">
              <a:spcAft>
                <a:spcPts val="500"/>
              </a:spcAft>
              <a:buFont typeface="Arial"/>
              <a:buChar char="•"/>
            </a:pPr>
            <a:r>
              <a:rPr lang="en-US" sz="1400" dirty="0"/>
              <a:t>Power usage, room size, and warranty details were extracted from feature text using regex.</a:t>
            </a:r>
          </a:p>
          <a:p>
            <a:pPr marL="285750" indent="-285750">
              <a:spcAft>
                <a:spcPts val="500"/>
              </a:spcAft>
              <a:buFont typeface="Arial"/>
              <a:buChar char="•"/>
            </a:pPr>
            <a:r>
              <a:rPr lang="en-US" sz="1400" dirty="0"/>
              <a:t>Text-based specifications were converted into structured columns for analysis.</a:t>
            </a:r>
          </a:p>
          <a:p>
            <a:pPr marL="285750" indent="-285750">
              <a:spcAft>
                <a:spcPts val="500"/>
              </a:spcAft>
              <a:buFont typeface="Arial"/>
              <a:buChar char="•"/>
            </a:pPr>
            <a:r>
              <a:rPr lang="en-US" sz="1400" dirty="0"/>
              <a:t>Feature engineering improved dataset usability and enabled deeper product insights.</a:t>
            </a:r>
          </a:p>
          <a:p>
            <a:endParaRPr lang="en-US" sz="1400" dirty="0"/>
          </a:p>
        </p:txBody>
      </p:sp>
      <p:pic>
        <p:nvPicPr>
          <p:cNvPr id="4" name="Picture 3" descr="A screenshot of a computer program&#10;&#10;AI-generated content may be incorrect.">
            <a:extLst>
              <a:ext uri="{FF2B5EF4-FFF2-40B4-BE49-F238E27FC236}">
                <a16:creationId xmlns:a16="http://schemas.microsoft.com/office/drawing/2014/main" id="{3C30CA47-FED3-1640-C657-616FD7789548}"/>
              </a:ext>
            </a:extLst>
          </p:cNvPr>
          <p:cNvPicPr>
            <a:picLocks noChangeAspect="1"/>
          </p:cNvPicPr>
          <p:nvPr/>
        </p:nvPicPr>
        <p:blipFill>
          <a:blip r:embed="rId2"/>
          <a:srcRect t="3958" r="-166" b="1081"/>
          <a:stretch>
            <a:fillRect/>
          </a:stretch>
        </p:blipFill>
        <p:spPr>
          <a:xfrm>
            <a:off x="396116" y="393560"/>
            <a:ext cx="4879536" cy="4370308"/>
          </a:xfrm>
          <a:prstGeom prst="rect">
            <a:avLst/>
          </a:prstGeom>
        </p:spPr>
      </p:pic>
      <p:pic>
        <p:nvPicPr>
          <p:cNvPr id="5" name="Picture 4" descr="Innomatics Technology Hub in JNTU, Kukatpally, Hyderabad">
            <a:extLst>
              <a:ext uri="{FF2B5EF4-FFF2-40B4-BE49-F238E27FC236}">
                <a16:creationId xmlns:a16="http://schemas.microsoft.com/office/drawing/2014/main" id="{5A555751-DAC8-619A-B766-763DAD078747}"/>
              </a:ext>
            </a:extLst>
          </p:cNvPr>
          <p:cNvPicPr>
            <a:picLocks noChangeAspect="1"/>
          </p:cNvPicPr>
          <p:nvPr/>
        </p:nvPicPr>
        <p:blipFill>
          <a:blip r:embed="rId3"/>
          <a:stretch>
            <a:fillRect/>
          </a:stretch>
        </p:blipFill>
        <p:spPr>
          <a:xfrm>
            <a:off x="7355421" y="4228345"/>
            <a:ext cx="1402344" cy="547776"/>
          </a:xfrm>
          <a:prstGeom prst="rect">
            <a:avLst/>
          </a:prstGeom>
        </p:spPr>
      </p:pic>
    </p:spTree>
    <p:extLst>
      <p:ext uri="{BB962C8B-B14F-4D97-AF65-F5344CB8AC3E}">
        <p14:creationId xmlns:p14="http://schemas.microsoft.com/office/powerpoint/2010/main" val="2435741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4"/>
        <p:cNvGrpSpPr/>
        <p:nvPr/>
      </p:nvGrpSpPr>
      <p:grpSpPr>
        <a:xfrm>
          <a:off x="0" y="0"/>
          <a:ext cx="0" cy="0"/>
          <a:chOff x="0" y="0"/>
          <a:chExt cx="0" cy="0"/>
        </a:xfrm>
      </p:grpSpPr>
      <p:sp>
        <p:nvSpPr>
          <p:cNvPr id="565" name="Google Shape;565;p68"/>
          <p:cNvSpPr txBox="1">
            <a:spLocks noGrp="1"/>
          </p:cNvSpPr>
          <p:nvPr>
            <p:ph type="title"/>
          </p:nvPr>
        </p:nvSpPr>
        <p:spPr>
          <a:xfrm>
            <a:off x="501944" y="424356"/>
            <a:ext cx="2720486" cy="551613"/>
          </a:xfrm>
          <a:prstGeom prst="rect">
            <a:avLst/>
          </a:prstGeom>
        </p:spPr>
        <p:txBody>
          <a:bodyPr spcFirstLastPara="1" wrap="square" lIns="91425" tIns="91425" rIns="91425" bIns="91425" anchor="t" anchorCtr="0">
            <a:noAutofit/>
          </a:bodyPr>
          <a:lstStyle/>
          <a:p>
            <a:r>
              <a:rPr lang="en" sz="3000" dirty="0">
                <a:cs typeface="Times New Roman"/>
              </a:rPr>
              <a:t>Data Structure</a:t>
            </a:r>
            <a:endParaRPr lang="en-US" sz="3000" dirty="0" err="1"/>
          </a:p>
          <a:p>
            <a:pPr marL="0" lvl="0" indent="0" algn="ctr">
              <a:spcBef>
                <a:spcPts val="0"/>
              </a:spcBef>
              <a:spcAft>
                <a:spcPts val="0"/>
              </a:spcAft>
              <a:buNone/>
            </a:pPr>
            <a:endParaRPr lang="en" sz="3000"/>
          </a:p>
        </p:txBody>
      </p:sp>
      <p:sp>
        <p:nvSpPr>
          <p:cNvPr id="566" name="Google Shape;566;p68"/>
          <p:cNvSpPr txBox="1">
            <a:spLocks noGrp="1"/>
          </p:cNvSpPr>
          <p:nvPr>
            <p:ph type="subTitle" idx="1"/>
          </p:nvPr>
        </p:nvSpPr>
        <p:spPr>
          <a:xfrm>
            <a:off x="4654550" y="1464772"/>
            <a:ext cx="3697195" cy="2479011"/>
          </a:xfrm>
          <a:prstGeom prst="rect">
            <a:avLst/>
          </a:prstGeom>
        </p:spPr>
        <p:txBody>
          <a:bodyPr spcFirstLastPara="1" wrap="square" lIns="91425" tIns="91425" rIns="91425" bIns="91425" anchor="t" anchorCtr="0">
            <a:noAutofit/>
          </a:bodyPr>
          <a:lstStyle/>
          <a:p>
            <a:pPr marL="400050" indent="-285750" algn="just">
              <a:spcAft>
                <a:spcPts val="500"/>
              </a:spcAft>
              <a:buFont typeface="Arial"/>
              <a:buChar char="•"/>
            </a:pPr>
            <a:r>
              <a:rPr lang="en-US" dirty="0"/>
              <a:t>All columns contain 984 data points, indicating a fairly consistent dataset size across features.</a:t>
            </a:r>
            <a:endParaRPr lang="en-US"/>
          </a:p>
          <a:p>
            <a:pPr marL="400050" indent="-285750" algn="just">
              <a:spcAft>
                <a:spcPts val="500"/>
              </a:spcAft>
              <a:buFont typeface="Arial"/>
              <a:buChar char="•"/>
            </a:pPr>
            <a:r>
              <a:rPr lang="en-US" dirty="0"/>
              <a:t>The dataset includes object, integer, and float data types, representing both categorical product details and numerical measurements.</a:t>
            </a:r>
            <a:r>
              <a:rPr lang="en" dirty="0"/>
              <a:t>.</a:t>
            </a:r>
          </a:p>
          <a:p>
            <a:pPr marL="400050" indent="-285750" algn="just">
              <a:spcAft>
                <a:spcPts val="500"/>
              </a:spcAft>
              <a:buFont typeface="Arial"/>
              <a:buChar char="•"/>
            </a:pPr>
            <a:endParaRPr lang="en" sz="1600" dirty="0"/>
          </a:p>
        </p:txBody>
      </p:sp>
      <p:pic>
        <p:nvPicPr>
          <p:cNvPr id="4" name="Picture 3">
            <a:extLst>
              <a:ext uri="{FF2B5EF4-FFF2-40B4-BE49-F238E27FC236}">
                <a16:creationId xmlns:a16="http://schemas.microsoft.com/office/drawing/2014/main" id="{9C3E444C-AC56-17E3-670A-2DBF839BB543}"/>
              </a:ext>
            </a:extLst>
          </p:cNvPr>
          <p:cNvPicPr>
            <a:picLocks noChangeAspect="1"/>
          </p:cNvPicPr>
          <p:nvPr/>
        </p:nvPicPr>
        <p:blipFill>
          <a:blip r:embed="rId3"/>
          <a:stretch>
            <a:fillRect/>
          </a:stretch>
        </p:blipFill>
        <p:spPr>
          <a:xfrm>
            <a:off x="503407" y="1200150"/>
            <a:ext cx="4322593" cy="3384550"/>
          </a:xfrm>
          <a:prstGeom prst="rect">
            <a:avLst/>
          </a:prstGeom>
        </p:spPr>
      </p:pic>
      <p:pic>
        <p:nvPicPr>
          <p:cNvPr id="3" name="Picture 2" descr="Innomatics Technology Hub in JNTU, Kukatpally, Hyderabad">
            <a:extLst>
              <a:ext uri="{FF2B5EF4-FFF2-40B4-BE49-F238E27FC236}">
                <a16:creationId xmlns:a16="http://schemas.microsoft.com/office/drawing/2014/main" id="{F5D59188-650D-DA40-C8E5-D2509E7AB286}"/>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7"/>
        <p:cNvGrpSpPr/>
        <p:nvPr/>
      </p:nvGrpSpPr>
      <p:grpSpPr>
        <a:xfrm>
          <a:off x="0" y="0"/>
          <a:ext cx="0" cy="0"/>
          <a:chOff x="0" y="0"/>
          <a:chExt cx="0" cy="0"/>
        </a:xfrm>
      </p:grpSpPr>
      <p:sp>
        <p:nvSpPr>
          <p:cNvPr id="578" name="Google Shape;578;p70"/>
          <p:cNvSpPr txBox="1">
            <a:spLocks noGrp="1"/>
          </p:cNvSpPr>
          <p:nvPr>
            <p:ph type="title"/>
          </p:nvPr>
        </p:nvSpPr>
        <p:spPr>
          <a:xfrm>
            <a:off x="628201" y="312188"/>
            <a:ext cx="4216942" cy="685879"/>
          </a:xfrm>
          <a:prstGeom prst="rect">
            <a:avLst/>
          </a:prstGeom>
        </p:spPr>
        <p:txBody>
          <a:bodyPr spcFirstLastPara="1" wrap="square" lIns="91425" tIns="91425" rIns="91425" bIns="91425" anchor="t" anchorCtr="0">
            <a:noAutofit/>
          </a:bodyPr>
          <a:lstStyle/>
          <a:p>
            <a:r>
              <a:rPr lang="en" sz="3000">
                <a:cs typeface="Times New Roman"/>
              </a:rPr>
              <a:t>Statistics observation</a:t>
            </a:r>
            <a:endParaRPr lang="en-US" sz="3000"/>
          </a:p>
          <a:p>
            <a:pPr marL="0" lvl="0" indent="0" algn="ctr">
              <a:spcBef>
                <a:spcPts val="0"/>
              </a:spcBef>
              <a:spcAft>
                <a:spcPts val="0"/>
              </a:spcAft>
              <a:buNone/>
            </a:pPr>
            <a:endParaRPr lang="en"/>
          </a:p>
        </p:txBody>
      </p:sp>
      <p:sp>
        <p:nvSpPr>
          <p:cNvPr id="580" name="Google Shape;580;p70"/>
          <p:cNvSpPr txBox="1">
            <a:spLocks noGrp="1"/>
          </p:cNvSpPr>
          <p:nvPr>
            <p:ph type="subTitle" idx="1"/>
          </p:nvPr>
        </p:nvSpPr>
        <p:spPr>
          <a:xfrm>
            <a:off x="538167" y="3818798"/>
            <a:ext cx="6913459" cy="947933"/>
          </a:xfrm>
          <a:prstGeom prst="rect">
            <a:avLst/>
          </a:prstGeom>
        </p:spPr>
        <p:txBody>
          <a:bodyPr spcFirstLastPara="1" wrap="square" lIns="91425" tIns="91425" rIns="91425" bIns="91425" anchor="t" anchorCtr="0">
            <a:noAutofit/>
          </a:bodyPr>
          <a:lstStyle/>
          <a:p>
            <a:pPr algn="l">
              <a:spcAft>
                <a:spcPts val="500"/>
              </a:spcAft>
              <a:buFont typeface="Arial"/>
              <a:buChar char="•"/>
            </a:pPr>
            <a:r>
              <a:rPr lang="en" dirty="0"/>
              <a:t>Most AC models are recent (2023–2025) with strong 3–5 star efficiency</a:t>
            </a:r>
          </a:p>
          <a:p>
            <a:pPr algn="l">
              <a:spcAft>
                <a:spcPts val="500"/>
              </a:spcAft>
              <a:buFont typeface="Arial"/>
              <a:buChar char="•"/>
            </a:pPr>
            <a:r>
              <a:rPr lang="en" dirty="0"/>
              <a:t>Average selling price ≈ ₹35.7K with high ~39% discount</a:t>
            </a:r>
          </a:p>
          <a:p>
            <a:pPr algn="l">
              <a:spcAft>
                <a:spcPts val="500"/>
              </a:spcAft>
              <a:buFont typeface="Arial"/>
              <a:buChar char="•"/>
            </a:pPr>
            <a:r>
              <a:rPr lang="en" dirty="0"/>
              <a:t>Customer satisfaction is high with ~4.1 average rating</a:t>
            </a:r>
          </a:p>
          <a:p>
            <a:pPr algn="l">
              <a:spcAft>
                <a:spcPts val="600"/>
              </a:spcAft>
              <a:buFont typeface="Wingdings"/>
              <a:buChar char="§"/>
            </a:pPr>
            <a:endParaRPr lang="en"/>
          </a:p>
        </p:txBody>
      </p:sp>
      <p:pic>
        <p:nvPicPr>
          <p:cNvPr id="3" name="Picture 2">
            <a:extLst>
              <a:ext uri="{FF2B5EF4-FFF2-40B4-BE49-F238E27FC236}">
                <a16:creationId xmlns:a16="http://schemas.microsoft.com/office/drawing/2014/main" id="{51FB0B53-4F5E-8A44-17BC-76EA689DC2A1}"/>
              </a:ext>
            </a:extLst>
          </p:cNvPr>
          <p:cNvPicPr>
            <a:picLocks noChangeAspect="1"/>
          </p:cNvPicPr>
          <p:nvPr/>
        </p:nvPicPr>
        <p:blipFill>
          <a:blip r:embed="rId3"/>
          <a:stretch>
            <a:fillRect/>
          </a:stretch>
        </p:blipFill>
        <p:spPr>
          <a:xfrm>
            <a:off x="539750" y="998066"/>
            <a:ext cx="7829550" cy="2691283"/>
          </a:xfrm>
          <a:prstGeom prst="rect">
            <a:avLst/>
          </a:prstGeom>
        </p:spPr>
      </p:pic>
      <p:pic>
        <p:nvPicPr>
          <p:cNvPr id="4" name="Picture 3" descr="Innomatics Technology Hub in JNTU, Kukatpally, Hyderabad">
            <a:extLst>
              <a:ext uri="{FF2B5EF4-FFF2-40B4-BE49-F238E27FC236}">
                <a16:creationId xmlns:a16="http://schemas.microsoft.com/office/drawing/2014/main" id="{F0FCD50F-0A1A-83B9-FBF2-D49834EA1B85}"/>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4"/>
        <p:cNvGrpSpPr/>
        <p:nvPr/>
      </p:nvGrpSpPr>
      <p:grpSpPr>
        <a:xfrm>
          <a:off x="0" y="0"/>
          <a:ext cx="0" cy="0"/>
          <a:chOff x="0" y="0"/>
          <a:chExt cx="0" cy="0"/>
        </a:xfrm>
      </p:grpSpPr>
      <p:sp>
        <p:nvSpPr>
          <p:cNvPr id="587" name="Google Shape;587;p71"/>
          <p:cNvSpPr txBox="1">
            <a:spLocks noGrp="1"/>
          </p:cNvSpPr>
          <p:nvPr>
            <p:ph type="subTitle" idx="1"/>
          </p:nvPr>
        </p:nvSpPr>
        <p:spPr>
          <a:xfrm>
            <a:off x="4316693" y="745086"/>
            <a:ext cx="3739601" cy="2778872"/>
          </a:xfrm>
          <a:prstGeom prst="rect">
            <a:avLst/>
          </a:prstGeom>
        </p:spPr>
        <p:txBody>
          <a:bodyPr spcFirstLastPara="1" wrap="square" lIns="91425" tIns="91425" rIns="91425" bIns="91425" anchor="t" anchorCtr="0">
            <a:noAutofit/>
          </a:bodyPr>
          <a:lstStyle/>
          <a:p>
            <a:pPr marL="571500" indent="-285750" algn="just">
              <a:spcAft>
                <a:spcPts val="500"/>
              </a:spcAft>
              <a:buClr>
                <a:schemeClr val="dk1"/>
              </a:buClr>
              <a:buSzPts val="1100"/>
              <a:buFont typeface="Arial" panose="020B0604020202020204" pitchFamily="34" charset="0"/>
              <a:buChar char="•"/>
            </a:pPr>
            <a:r>
              <a:rPr lang="en-US" dirty="0"/>
              <a:t>From the null value analysis, it is observed that </a:t>
            </a:r>
            <a:r>
              <a:rPr lang="en-US" err="1"/>
              <a:t>Power_Usage_in_Watts</a:t>
            </a:r>
            <a:r>
              <a:rPr lang="en-US" dirty="0"/>
              <a:t> contains 262 missing values and </a:t>
            </a:r>
            <a:r>
              <a:rPr lang="en-US" err="1"/>
              <a:t>Warranty_in_Years</a:t>
            </a:r>
            <a:r>
              <a:rPr lang="en-US" dirty="0"/>
              <a:t> contains 169 missing values, which are the highest in the dataset. </a:t>
            </a:r>
          </a:p>
          <a:p>
            <a:pPr marL="285750" indent="0" algn="just">
              <a:spcAft>
                <a:spcPts val="500"/>
              </a:spcAft>
              <a:buClr>
                <a:schemeClr val="dk1"/>
              </a:buClr>
              <a:buSzPts val="1100"/>
            </a:pPr>
            <a:endParaRPr lang="en-US" dirty="0"/>
          </a:p>
          <a:p>
            <a:pPr marL="571500" indent="-285750" algn="just">
              <a:spcAft>
                <a:spcPts val="500"/>
              </a:spcAft>
              <a:buClr>
                <a:schemeClr val="dk1"/>
              </a:buClr>
              <a:buSzPts val="1100"/>
              <a:buFont typeface="Arial" panose="020B0604020202020204" pitchFamily="34" charset="0"/>
              <a:buChar char="•"/>
            </a:pPr>
            <a:r>
              <a:rPr lang="en-US" dirty="0"/>
              <a:t>Other columns such as Stars, Ratings, </a:t>
            </a:r>
            <a:r>
              <a:rPr lang="en-US" err="1"/>
              <a:t>No_of_Ratings</a:t>
            </a:r>
            <a:r>
              <a:rPr lang="en-US" dirty="0"/>
              <a:t>, </a:t>
            </a:r>
            <a:r>
              <a:rPr lang="en-US" err="1"/>
              <a:t>No_of_Reviews</a:t>
            </a:r>
            <a:r>
              <a:rPr lang="en-US" dirty="0"/>
              <a:t>, </a:t>
            </a:r>
            <a:r>
              <a:rPr lang="en-US" err="1"/>
              <a:t>Room_Size_in_Sq</a:t>
            </a:r>
            <a:r>
              <a:rPr lang="en-US" dirty="0"/>
              <a:t>/f, Tons, </a:t>
            </a:r>
            <a:r>
              <a:rPr lang="en-US" err="1"/>
              <a:t>Original_Price</a:t>
            </a:r>
            <a:r>
              <a:rPr lang="en-US" dirty="0"/>
              <a:t>, Discount(%), and </a:t>
            </a:r>
            <a:r>
              <a:rPr lang="en-US" err="1"/>
              <a:t>Launch_Year</a:t>
            </a:r>
            <a:r>
              <a:rPr lang="en-US" dirty="0"/>
              <a:t> have a small number of missing values.</a:t>
            </a:r>
            <a:endParaRPr lang="en"/>
          </a:p>
        </p:txBody>
      </p:sp>
      <p:pic>
        <p:nvPicPr>
          <p:cNvPr id="3" name="Picture 2">
            <a:extLst>
              <a:ext uri="{FF2B5EF4-FFF2-40B4-BE49-F238E27FC236}">
                <a16:creationId xmlns:a16="http://schemas.microsoft.com/office/drawing/2014/main" id="{F589F7A3-5B8B-226C-B903-0077363D5115}"/>
              </a:ext>
            </a:extLst>
          </p:cNvPr>
          <p:cNvPicPr>
            <a:picLocks noChangeAspect="1"/>
          </p:cNvPicPr>
          <p:nvPr/>
        </p:nvPicPr>
        <p:blipFill>
          <a:blip r:embed="rId3"/>
          <a:stretch>
            <a:fillRect/>
          </a:stretch>
        </p:blipFill>
        <p:spPr>
          <a:xfrm>
            <a:off x="408390" y="983764"/>
            <a:ext cx="4017560" cy="3093146"/>
          </a:xfrm>
          <a:prstGeom prst="rect">
            <a:avLst/>
          </a:prstGeom>
        </p:spPr>
      </p:pic>
      <p:pic>
        <p:nvPicPr>
          <p:cNvPr id="4" name="Picture 3" descr="Innomatics Technology Hub in JNTU, Kukatpally, Hyderabad">
            <a:extLst>
              <a:ext uri="{FF2B5EF4-FFF2-40B4-BE49-F238E27FC236}">
                <a16:creationId xmlns:a16="http://schemas.microsoft.com/office/drawing/2014/main" id="{C234C51A-0A9E-F6F1-E25E-9058DDC205F6}"/>
              </a:ext>
            </a:extLst>
          </p:cNvPr>
          <p:cNvPicPr>
            <a:picLocks noChangeAspect="1"/>
          </p:cNvPicPr>
          <p:nvPr/>
        </p:nvPicPr>
        <p:blipFill>
          <a:blip r:embed="rId4"/>
          <a:stretch>
            <a:fillRect/>
          </a:stretch>
        </p:blipFill>
        <p:spPr>
          <a:xfrm>
            <a:off x="7355421" y="4228345"/>
            <a:ext cx="1402344" cy="547776"/>
          </a:xfrm>
          <a:prstGeom prst="rect">
            <a:avLst/>
          </a:prstGeom>
        </p:spPr>
      </p:pic>
      <p:sp>
        <p:nvSpPr>
          <p:cNvPr id="2" name="TextBox 1">
            <a:extLst>
              <a:ext uri="{FF2B5EF4-FFF2-40B4-BE49-F238E27FC236}">
                <a16:creationId xmlns:a16="http://schemas.microsoft.com/office/drawing/2014/main" id="{18F63227-8160-75AF-A416-92DF0BD066D1}"/>
              </a:ext>
            </a:extLst>
          </p:cNvPr>
          <p:cNvSpPr txBox="1"/>
          <p:nvPr/>
        </p:nvSpPr>
        <p:spPr>
          <a:xfrm>
            <a:off x="223058" y="328691"/>
            <a:ext cx="517000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latin typeface="Vidaloka"/>
              </a:rPr>
              <a:t>Handling Missing Values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5ED8A-B0D5-B79D-4DE9-D3B2A6B265BA}"/>
              </a:ext>
            </a:extLst>
          </p:cNvPr>
          <p:cNvSpPr>
            <a:spLocks noGrp="1"/>
          </p:cNvSpPr>
          <p:nvPr>
            <p:ph type="title"/>
          </p:nvPr>
        </p:nvSpPr>
        <p:spPr>
          <a:xfrm>
            <a:off x="526716" y="391452"/>
            <a:ext cx="3839166" cy="616344"/>
          </a:xfrm>
        </p:spPr>
        <p:txBody>
          <a:bodyPr/>
          <a:lstStyle/>
          <a:p>
            <a:r>
              <a:rPr lang="en-US" sz="3000" dirty="0"/>
              <a:t>Filling Missing Values</a:t>
            </a:r>
          </a:p>
        </p:txBody>
      </p:sp>
      <p:sp>
        <p:nvSpPr>
          <p:cNvPr id="4" name="Subtitle 3">
            <a:extLst>
              <a:ext uri="{FF2B5EF4-FFF2-40B4-BE49-F238E27FC236}">
                <a16:creationId xmlns:a16="http://schemas.microsoft.com/office/drawing/2014/main" id="{0A9DE1C4-C8BD-0AF7-B4C8-884F6B206495}"/>
              </a:ext>
            </a:extLst>
          </p:cNvPr>
          <p:cNvSpPr>
            <a:spLocks noGrp="1"/>
          </p:cNvSpPr>
          <p:nvPr>
            <p:ph type="subTitle" idx="1"/>
          </p:nvPr>
        </p:nvSpPr>
        <p:spPr>
          <a:xfrm>
            <a:off x="5345647" y="1463240"/>
            <a:ext cx="3459614" cy="2364261"/>
          </a:xfrm>
        </p:spPr>
        <p:txBody>
          <a:bodyPr/>
          <a:lstStyle/>
          <a:p>
            <a:pPr marL="285750" indent="-285750" algn="l">
              <a:spcAft>
                <a:spcPts val="500"/>
              </a:spcAft>
              <a:buFont typeface="Arial"/>
              <a:buChar char="•"/>
            </a:pPr>
            <a:r>
              <a:rPr lang="en-US"/>
              <a:t>Missing values were handled using median/mean/mode to preserve data distribution</a:t>
            </a:r>
          </a:p>
          <a:p>
            <a:pPr marL="285750" indent="-285750" algn="l">
              <a:spcAft>
                <a:spcPts val="500"/>
              </a:spcAft>
              <a:buFont typeface="Arial"/>
              <a:buChar char="•"/>
            </a:pPr>
            <a:r>
              <a:rPr lang="en-US"/>
              <a:t>Numerical columns were imputed with median to reduce outlier impact</a:t>
            </a:r>
          </a:p>
          <a:p>
            <a:pPr marL="285750" indent="-285750" algn="l">
              <a:spcAft>
                <a:spcPts val="500"/>
              </a:spcAft>
              <a:buFont typeface="Arial"/>
              <a:buChar char="•"/>
            </a:pPr>
            <a:r>
              <a:rPr lang="en-US"/>
              <a:t>Categorical/time-based columns used mode to maintain realistic values</a:t>
            </a:r>
          </a:p>
        </p:txBody>
      </p:sp>
      <p:pic>
        <p:nvPicPr>
          <p:cNvPr id="5" name="Picture 4" descr="A screen shot of a computer code&#10;&#10;AI-generated content may be incorrect.">
            <a:extLst>
              <a:ext uri="{FF2B5EF4-FFF2-40B4-BE49-F238E27FC236}">
                <a16:creationId xmlns:a16="http://schemas.microsoft.com/office/drawing/2014/main" id="{2DA72242-6767-EA69-7B9D-EF12C68305B3}"/>
              </a:ext>
            </a:extLst>
          </p:cNvPr>
          <p:cNvPicPr>
            <a:picLocks noChangeAspect="1"/>
          </p:cNvPicPr>
          <p:nvPr/>
        </p:nvPicPr>
        <p:blipFill>
          <a:blip r:embed="rId2"/>
          <a:srcRect r="171" b="1067"/>
          <a:stretch>
            <a:fillRect/>
          </a:stretch>
        </p:blipFill>
        <p:spPr>
          <a:xfrm>
            <a:off x="447261" y="1105107"/>
            <a:ext cx="4812212" cy="3074079"/>
          </a:xfrm>
          <a:prstGeom prst="rect">
            <a:avLst/>
          </a:prstGeom>
        </p:spPr>
      </p:pic>
    </p:spTree>
    <p:extLst>
      <p:ext uri="{BB962C8B-B14F-4D97-AF65-F5344CB8AC3E}">
        <p14:creationId xmlns:p14="http://schemas.microsoft.com/office/powerpoint/2010/main" val="2796844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4"/>
        <p:cNvGrpSpPr/>
        <p:nvPr/>
      </p:nvGrpSpPr>
      <p:grpSpPr>
        <a:xfrm>
          <a:off x="0" y="0"/>
          <a:ext cx="0" cy="0"/>
          <a:chOff x="0" y="0"/>
          <a:chExt cx="0" cy="0"/>
        </a:xfrm>
      </p:grpSpPr>
      <p:sp>
        <p:nvSpPr>
          <p:cNvPr id="625" name="Google Shape;625;p74"/>
          <p:cNvSpPr txBox="1">
            <a:spLocks noGrp="1"/>
          </p:cNvSpPr>
          <p:nvPr>
            <p:ph type="title"/>
          </p:nvPr>
        </p:nvSpPr>
        <p:spPr>
          <a:xfrm>
            <a:off x="287158" y="279373"/>
            <a:ext cx="3775957" cy="572700"/>
          </a:xfrm>
          <a:prstGeom prst="rect">
            <a:avLst/>
          </a:prstGeom>
        </p:spPr>
        <p:txBody>
          <a:bodyPr spcFirstLastPara="1" wrap="square" lIns="91425" tIns="91425" rIns="91425" bIns="91425" anchor="t" anchorCtr="0">
            <a:noAutofit/>
          </a:bodyPr>
          <a:lstStyle/>
          <a:p>
            <a:pPr algn="ctr"/>
            <a:r>
              <a:rPr lang="en"/>
              <a:t>Converting Datatype</a:t>
            </a:r>
          </a:p>
          <a:p>
            <a:pPr marL="0" lvl="0" indent="0" algn="l">
              <a:spcBef>
                <a:spcPts val="0"/>
              </a:spcBef>
              <a:spcAft>
                <a:spcPts val="0"/>
              </a:spcAft>
              <a:buSzPts val="1100"/>
              <a:buFont typeface="Arial"/>
              <a:buNone/>
            </a:pPr>
            <a:endParaRPr lang="en"/>
          </a:p>
        </p:txBody>
      </p:sp>
      <p:pic>
        <p:nvPicPr>
          <p:cNvPr id="5" name="Picture 4">
            <a:extLst>
              <a:ext uri="{FF2B5EF4-FFF2-40B4-BE49-F238E27FC236}">
                <a16:creationId xmlns:a16="http://schemas.microsoft.com/office/drawing/2014/main" id="{32FD706E-8080-D732-1BAD-5EAFE5A8CA96}"/>
              </a:ext>
            </a:extLst>
          </p:cNvPr>
          <p:cNvPicPr>
            <a:picLocks noChangeAspect="1"/>
          </p:cNvPicPr>
          <p:nvPr/>
        </p:nvPicPr>
        <p:blipFill>
          <a:blip r:embed="rId3"/>
          <a:srcRect t="-278" r="169" b="2778"/>
          <a:stretch>
            <a:fillRect/>
          </a:stretch>
        </p:blipFill>
        <p:spPr>
          <a:xfrm>
            <a:off x="3633305" y="853253"/>
            <a:ext cx="4901656" cy="3337077"/>
          </a:xfrm>
          <a:prstGeom prst="rect">
            <a:avLst/>
          </a:prstGeom>
        </p:spPr>
      </p:pic>
      <p:pic>
        <p:nvPicPr>
          <p:cNvPr id="10" name="Picture 9">
            <a:extLst>
              <a:ext uri="{FF2B5EF4-FFF2-40B4-BE49-F238E27FC236}">
                <a16:creationId xmlns:a16="http://schemas.microsoft.com/office/drawing/2014/main" id="{FB1A6828-354F-1FC1-77E3-6323E0F7B247}"/>
              </a:ext>
            </a:extLst>
          </p:cNvPr>
          <p:cNvPicPr>
            <a:picLocks noChangeAspect="1"/>
          </p:cNvPicPr>
          <p:nvPr/>
        </p:nvPicPr>
        <p:blipFill>
          <a:blip r:embed="rId4"/>
          <a:stretch>
            <a:fillRect/>
          </a:stretch>
        </p:blipFill>
        <p:spPr>
          <a:xfrm>
            <a:off x="599871" y="942747"/>
            <a:ext cx="2915057" cy="3258005"/>
          </a:xfrm>
          <a:prstGeom prst="rect">
            <a:avLst/>
          </a:prstGeom>
        </p:spPr>
      </p:pic>
      <p:pic>
        <p:nvPicPr>
          <p:cNvPr id="3" name="Picture 2" descr="Innomatics Technology Hub in JNTU, Kukatpally, Hyderabad">
            <a:extLst>
              <a:ext uri="{FF2B5EF4-FFF2-40B4-BE49-F238E27FC236}">
                <a16:creationId xmlns:a16="http://schemas.microsoft.com/office/drawing/2014/main" id="{AC032E9A-FD6E-EEDB-B9F1-785A8FE6DCE9}"/>
              </a:ext>
            </a:extLst>
          </p:cNvPr>
          <p:cNvPicPr>
            <a:picLocks noChangeAspect="1"/>
          </p:cNvPicPr>
          <p:nvPr/>
        </p:nvPicPr>
        <p:blipFill>
          <a:blip r:embed="rId5"/>
          <a:stretch>
            <a:fillRect/>
          </a:stretch>
        </p:blipFill>
        <p:spPr>
          <a:xfrm>
            <a:off x="7355421" y="4236628"/>
            <a:ext cx="1402344" cy="5477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6"/>
        <p:cNvGrpSpPr/>
        <p:nvPr/>
      </p:nvGrpSpPr>
      <p:grpSpPr>
        <a:xfrm>
          <a:off x="0" y="0"/>
          <a:ext cx="0" cy="0"/>
          <a:chOff x="0" y="0"/>
          <a:chExt cx="0" cy="0"/>
        </a:xfrm>
      </p:grpSpPr>
      <p:sp>
        <p:nvSpPr>
          <p:cNvPr id="667" name="Google Shape;667;p78"/>
          <p:cNvSpPr txBox="1">
            <a:spLocks noGrp="1"/>
          </p:cNvSpPr>
          <p:nvPr>
            <p:ph type="title"/>
          </p:nvPr>
        </p:nvSpPr>
        <p:spPr>
          <a:xfrm>
            <a:off x="715539" y="351573"/>
            <a:ext cx="2004449" cy="65866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Duplicates</a:t>
            </a:r>
          </a:p>
        </p:txBody>
      </p:sp>
      <p:pic>
        <p:nvPicPr>
          <p:cNvPr id="4" name="Picture 3">
            <a:extLst>
              <a:ext uri="{FF2B5EF4-FFF2-40B4-BE49-F238E27FC236}">
                <a16:creationId xmlns:a16="http://schemas.microsoft.com/office/drawing/2014/main" id="{B328AFFB-6CEF-0849-F750-4072C658FEA3}"/>
              </a:ext>
            </a:extLst>
          </p:cNvPr>
          <p:cNvPicPr>
            <a:picLocks noChangeAspect="1"/>
          </p:cNvPicPr>
          <p:nvPr/>
        </p:nvPicPr>
        <p:blipFill>
          <a:blip r:embed="rId3"/>
          <a:stretch>
            <a:fillRect/>
          </a:stretch>
        </p:blipFill>
        <p:spPr>
          <a:xfrm>
            <a:off x="628650" y="2402666"/>
            <a:ext cx="5461000" cy="1467515"/>
          </a:xfrm>
          <a:prstGeom prst="rect">
            <a:avLst/>
          </a:prstGeom>
        </p:spPr>
      </p:pic>
      <p:sp>
        <p:nvSpPr>
          <p:cNvPr id="6" name="TextBox 5">
            <a:extLst>
              <a:ext uri="{FF2B5EF4-FFF2-40B4-BE49-F238E27FC236}">
                <a16:creationId xmlns:a16="http://schemas.microsoft.com/office/drawing/2014/main" id="{4D111792-3CB1-06B7-114C-3C48801AFD13}"/>
              </a:ext>
            </a:extLst>
          </p:cNvPr>
          <p:cNvSpPr txBox="1"/>
          <p:nvPr/>
        </p:nvSpPr>
        <p:spPr>
          <a:xfrm>
            <a:off x="565150" y="1010241"/>
            <a:ext cx="6402387" cy="1200329"/>
          </a:xfrm>
          <a:prstGeom prst="rect">
            <a:avLst/>
          </a:prstGeom>
          <a:noFill/>
        </p:spPr>
        <p:txBody>
          <a:bodyPr wrap="square" lIns="91440" tIns="45720" rIns="91440" bIns="45720" anchor="t">
            <a:spAutoFit/>
          </a:bodyPr>
          <a:lstStyle/>
          <a:p>
            <a:pPr marL="285750" indent="-285750" algn="just">
              <a:buFont typeface="Arial" panose="020B0604020202020204" pitchFamily="34" charset="0"/>
              <a:buChar char="•"/>
            </a:pPr>
            <a:r>
              <a:rPr lang="en-US" dirty="0">
                <a:latin typeface="Montserrat"/>
              </a:rPr>
              <a:t>The duplicate value check shows a result of 0, indicating that no duplicate records are present in the dataset.   </a:t>
            </a:r>
          </a:p>
          <a:p>
            <a:pPr marL="285750" indent="-285750" algn="just">
              <a:buFont typeface="Arial" panose="020B0604020202020204" pitchFamily="34" charset="0"/>
              <a:buChar char="•"/>
            </a:pPr>
            <a:endParaRPr lang="en-US" dirty="0">
              <a:latin typeface="Montserrat" panose="00000500000000000000" pitchFamily="2" charset="0"/>
            </a:endParaRPr>
          </a:p>
          <a:p>
            <a:pPr marL="285750" indent="-285750" algn="just">
              <a:buFont typeface="Arial" panose="020B0604020202020204" pitchFamily="34" charset="0"/>
              <a:buChar char="•"/>
            </a:pPr>
            <a:r>
              <a:rPr lang="en-US" dirty="0">
                <a:latin typeface="Montserrat"/>
              </a:rPr>
              <a:t>This confirms that each row represents a unique entry, and no duplicate data cleaning is required before analysis.</a:t>
            </a:r>
          </a:p>
        </p:txBody>
      </p:sp>
      <p:pic>
        <p:nvPicPr>
          <p:cNvPr id="3" name="Picture 2" descr="Innomatics Technology Hub in JNTU, Kukatpally, Hyderabad">
            <a:extLst>
              <a:ext uri="{FF2B5EF4-FFF2-40B4-BE49-F238E27FC236}">
                <a16:creationId xmlns:a16="http://schemas.microsoft.com/office/drawing/2014/main" id="{4FBBD4E1-ABE8-DE78-FA93-D36910FD2F3F}"/>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8"/>
        <p:cNvGrpSpPr/>
        <p:nvPr/>
      </p:nvGrpSpPr>
      <p:grpSpPr>
        <a:xfrm>
          <a:off x="0" y="0"/>
          <a:ext cx="0" cy="0"/>
          <a:chOff x="0" y="0"/>
          <a:chExt cx="0" cy="0"/>
        </a:xfrm>
      </p:grpSpPr>
      <p:sp>
        <p:nvSpPr>
          <p:cNvPr id="609" name="Google Shape;609;p73"/>
          <p:cNvSpPr txBox="1">
            <a:spLocks noGrp="1"/>
          </p:cNvSpPr>
          <p:nvPr>
            <p:ph type="title"/>
          </p:nvPr>
        </p:nvSpPr>
        <p:spPr>
          <a:xfrm>
            <a:off x="754638" y="362808"/>
            <a:ext cx="2631978" cy="481592"/>
          </a:xfrm>
          <a:prstGeom prst="rect">
            <a:avLst/>
          </a:prstGeom>
        </p:spPr>
        <p:txBody>
          <a:bodyPr spcFirstLastPara="1" wrap="square" lIns="91425" tIns="91425" rIns="91425" bIns="91425" anchor="t" anchorCtr="0">
            <a:noAutofit/>
          </a:bodyPr>
          <a:lstStyle/>
          <a:p>
            <a:r>
              <a:rPr lang="en" dirty="0"/>
              <a:t>Unique Values </a:t>
            </a:r>
            <a:endParaRPr lang="en-US" dirty="0"/>
          </a:p>
          <a:p>
            <a:pPr marL="0" lvl="0" indent="0" algn="ctr">
              <a:spcBef>
                <a:spcPts val="0"/>
              </a:spcBef>
              <a:spcAft>
                <a:spcPts val="0"/>
              </a:spcAft>
              <a:buNone/>
            </a:pPr>
            <a:endParaRPr lang="en"/>
          </a:p>
        </p:txBody>
      </p:sp>
      <p:sp>
        <p:nvSpPr>
          <p:cNvPr id="3" name="TextBox 2">
            <a:extLst>
              <a:ext uri="{FF2B5EF4-FFF2-40B4-BE49-F238E27FC236}">
                <a16:creationId xmlns:a16="http://schemas.microsoft.com/office/drawing/2014/main" id="{371952D5-846F-B17E-270C-C7473894C066}"/>
              </a:ext>
            </a:extLst>
          </p:cNvPr>
          <p:cNvSpPr txBox="1"/>
          <p:nvPr/>
        </p:nvSpPr>
        <p:spPr>
          <a:xfrm>
            <a:off x="5366274" y="1455223"/>
            <a:ext cx="3397526" cy="18620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Aft>
                <a:spcPts val="600"/>
              </a:spcAft>
              <a:buFont typeface="Arial"/>
              <a:buChar char="•"/>
            </a:pPr>
            <a:r>
              <a:rPr lang="en-US">
                <a:latin typeface="Montserrat" panose="00000500000000000000" pitchFamily="2" charset="0"/>
              </a:rPr>
              <a:t>Displays all unique values present in each column  </a:t>
            </a:r>
            <a:endParaRPr lang="en-US"/>
          </a:p>
          <a:p>
            <a:pPr marL="285750" indent="-285750">
              <a:spcAft>
                <a:spcPts val="600"/>
              </a:spcAft>
              <a:buFont typeface="Arial"/>
              <a:buChar char="•"/>
            </a:pPr>
            <a:r>
              <a:rPr lang="en-US">
                <a:latin typeface="Montserrat" panose="00000500000000000000" pitchFamily="2" charset="0"/>
              </a:rPr>
              <a:t>Helps understand data categories and encoding</a:t>
            </a:r>
          </a:p>
          <a:p>
            <a:pPr marL="285750" indent="-285750">
              <a:spcAft>
                <a:spcPts val="600"/>
              </a:spcAft>
              <a:buFont typeface="Arial"/>
              <a:buChar char="•"/>
            </a:pPr>
            <a:r>
              <a:rPr lang="en-US">
                <a:latin typeface="Montserrat" panose="00000500000000000000" pitchFamily="2" charset="0"/>
              </a:rPr>
              <a:t>Identifies binary, categorical, and numerical features</a:t>
            </a:r>
          </a:p>
          <a:p>
            <a:pPr marL="285750" indent="-285750" algn="l">
              <a:spcAft>
                <a:spcPts val="600"/>
              </a:spcAft>
              <a:buFont typeface="Arial"/>
              <a:buChar char="•"/>
            </a:pPr>
            <a:endParaRPr lang="en-US" sz="1600">
              <a:latin typeface="Montserrat"/>
            </a:endParaRPr>
          </a:p>
        </p:txBody>
      </p:sp>
      <p:pic>
        <p:nvPicPr>
          <p:cNvPr id="5" name="Picture 4">
            <a:extLst>
              <a:ext uri="{FF2B5EF4-FFF2-40B4-BE49-F238E27FC236}">
                <a16:creationId xmlns:a16="http://schemas.microsoft.com/office/drawing/2014/main" id="{2F780770-773F-4E26-CD7A-5B33688E664C}"/>
              </a:ext>
            </a:extLst>
          </p:cNvPr>
          <p:cNvPicPr>
            <a:picLocks noChangeAspect="1"/>
          </p:cNvPicPr>
          <p:nvPr/>
        </p:nvPicPr>
        <p:blipFill>
          <a:blip r:embed="rId3"/>
          <a:stretch>
            <a:fillRect/>
          </a:stretch>
        </p:blipFill>
        <p:spPr>
          <a:xfrm>
            <a:off x="622301" y="914400"/>
            <a:ext cx="4559300" cy="3683000"/>
          </a:xfrm>
          <a:prstGeom prst="rect">
            <a:avLst/>
          </a:prstGeom>
        </p:spPr>
      </p:pic>
      <p:pic>
        <p:nvPicPr>
          <p:cNvPr id="4" name="Picture 3" descr="Innomatics Technology Hub in JNTU, Kukatpally, Hyderabad">
            <a:extLst>
              <a:ext uri="{FF2B5EF4-FFF2-40B4-BE49-F238E27FC236}">
                <a16:creationId xmlns:a16="http://schemas.microsoft.com/office/drawing/2014/main" id="{C4EAF7B3-6252-6915-A011-A2E670DA61AF}"/>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C7DA-27B8-1FE7-6AC9-933055FCC22B}"/>
              </a:ext>
            </a:extLst>
          </p:cNvPr>
          <p:cNvSpPr>
            <a:spLocks noGrp="1"/>
          </p:cNvSpPr>
          <p:nvPr>
            <p:ph type="title"/>
          </p:nvPr>
        </p:nvSpPr>
        <p:spPr>
          <a:xfrm>
            <a:off x="196902" y="153276"/>
            <a:ext cx="3595428" cy="644175"/>
          </a:xfrm>
        </p:spPr>
        <p:txBody>
          <a:bodyPr/>
          <a:lstStyle/>
          <a:p>
            <a:r>
              <a:rPr lang="en-US" sz="3000"/>
              <a:t>Statistical Summary</a:t>
            </a:r>
          </a:p>
        </p:txBody>
      </p:sp>
      <p:sp>
        <p:nvSpPr>
          <p:cNvPr id="3" name="Subtitle 2">
            <a:extLst>
              <a:ext uri="{FF2B5EF4-FFF2-40B4-BE49-F238E27FC236}">
                <a16:creationId xmlns:a16="http://schemas.microsoft.com/office/drawing/2014/main" id="{D8B14D29-A866-DA72-7597-583BA81E1796}"/>
              </a:ext>
            </a:extLst>
          </p:cNvPr>
          <p:cNvSpPr>
            <a:spLocks noGrp="1"/>
          </p:cNvSpPr>
          <p:nvPr>
            <p:ph type="subTitle" idx="1"/>
          </p:nvPr>
        </p:nvSpPr>
        <p:spPr>
          <a:xfrm>
            <a:off x="293481" y="2573682"/>
            <a:ext cx="2380649" cy="418012"/>
          </a:xfrm>
        </p:spPr>
        <p:txBody>
          <a:bodyPr/>
          <a:lstStyle/>
          <a:p>
            <a:pPr marL="114300" indent="0"/>
            <a:r>
              <a:rPr lang="en-US" b="1">
                <a:highlight>
                  <a:srgbClr val="FFFFFF"/>
                </a:highlight>
              </a:rPr>
              <a:t>Categorical Data</a:t>
            </a:r>
          </a:p>
        </p:txBody>
      </p:sp>
      <p:pic>
        <p:nvPicPr>
          <p:cNvPr id="6" name="Picture 5">
            <a:extLst>
              <a:ext uri="{FF2B5EF4-FFF2-40B4-BE49-F238E27FC236}">
                <a16:creationId xmlns:a16="http://schemas.microsoft.com/office/drawing/2014/main" id="{7C84DC21-5CC6-DA08-AED1-0FC72F01DE12}"/>
              </a:ext>
            </a:extLst>
          </p:cNvPr>
          <p:cNvPicPr>
            <a:picLocks noChangeAspect="1"/>
          </p:cNvPicPr>
          <p:nvPr/>
        </p:nvPicPr>
        <p:blipFill>
          <a:blip r:embed="rId2"/>
          <a:stretch>
            <a:fillRect/>
          </a:stretch>
        </p:blipFill>
        <p:spPr>
          <a:xfrm>
            <a:off x="521528" y="1037649"/>
            <a:ext cx="6820176" cy="1605333"/>
          </a:xfrm>
          <a:prstGeom prst="rect">
            <a:avLst/>
          </a:prstGeom>
        </p:spPr>
      </p:pic>
      <p:pic>
        <p:nvPicPr>
          <p:cNvPr id="5" name="Picture 4" descr="Innomatics Technology Hub in JNTU, Kukatpally, Hyderabad">
            <a:extLst>
              <a:ext uri="{FF2B5EF4-FFF2-40B4-BE49-F238E27FC236}">
                <a16:creationId xmlns:a16="http://schemas.microsoft.com/office/drawing/2014/main" id="{0B8709FE-4D59-C1AA-B507-929BD88E8431}"/>
              </a:ext>
            </a:extLst>
          </p:cNvPr>
          <p:cNvPicPr>
            <a:picLocks noChangeAspect="1"/>
          </p:cNvPicPr>
          <p:nvPr/>
        </p:nvPicPr>
        <p:blipFill>
          <a:blip r:embed="rId3"/>
          <a:stretch>
            <a:fillRect/>
          </a:stretch>
        </p:blipFill>
        <p:spPr>
          <a:xfrm>
            <a:off x="7355421" y="4228345"/>
            <a:ext cx="1402344" cy="547776"/>
          </a:xfrm>
          <a:prstGeom prst="rect">
            <a:avLst/>
          </a:prstGeom>
        </p:spPr>
      </p:pic>
      <p:sp>
        <p:nvSpPr>
          <p:cNvPr id="4" name="TextBox 3">
            <a:extLst>
              <a:ext uri="{FF2B5EF4-FFF2-40B4-BE49-F238E27FC236}">
                <a16:creationId xmlns:a16="http://schemas.microsoft.com/office/drawing/2014/main" id="{DE473195-957F-BAA6-D934-07C62621EBB9}"/>
              </a:ext>
            </a:extLst>
          </p:cNvPr>
          <p:cNvSpPr txBox="1"/>
          <p:nvPr/>
        </p:nvSpPr>
        <p:spPr>
          <a:xfrm>
            <a:off x="521803" y="699880"/>
            <a:ext cx="212035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highlight>
                  <a:srgbClr val="FFFFFF"/>
                </a:highlight>
                <a:latin typeface="Montserrat"/>
              </a:rPr>
              <a:t>Numerical Data</a:t>
            </a:r>
          </a:p>
        </p:txBody>
      </p:sp>
      <p:pic>
        <p:nvPicPr>
          <p:cNvPr id="7" name="Picture 6" descr="A screenshot of a table&#10;&#10;AI-generated content may be incorrect.">
            <a:extLst>
              <a:ext uri="{FF2B5EF4-FFF2-40B4-BE49-F238E27FC236}">
                <a16:creationId xmlns:a16="http://schemas.microsoft.com/office/drawing/2014/main" id="{B04E0076-F60B-0846-A4A7-670EC27A134E}"/>
              </a:ext>
            </a:extLst>
          </p:cNvPr>
          <p:cNvPicPr>
            <a:picLocks noChangeAspect="1"/>
          </p:cNvPicPr>
          <p:nvPr/>
        </p:nvPicPr>
        <p:blipFill>
          <a:blip r:embed="rId4"/>
          <a:stretch>
            <a:fillRect/>
          </a:stretch>
        </p:blipFill>
        <p:spPr>
          <a:xfrm>
            <a:off x="837993" y="2990229"/>
            <a:ext cx="3608318" cy="1780348"/>
          </a:xfrm>
          <a:prstGeom prst="rect">
            <a:avLst/>
          </a:prstGeom>
        </p:spPr>
      </p:pic>
    </p:spTree>
    <p:extLst>
      <p:ext uri="{BB962C8B-B14F-4D97-AF65-F5344CB8AC3E}">
        <p14:creationId xmlns:p14="http://schemas.microsoft.com/office/powerpoint/2010/main" val="2131346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2"/>
        <p:cNvGrpSpPr/>
        <p:nvPr/>
      </p:nvGrpSpPr>
      <p:grpSpPr>
        <a:xfrm>
          <a:off x="0" y="0"/>
          <a:ext cx="0" cy="0"/>
          <a:chOff x="0" y="0"/>
          <a:chExt cx="0" cy="0"/>
        </a:xfrm>
      </p:grpSpPr>
      <p:sp>
        <p:nvSpPr>
          <p:cNvPr id="643" name="Google Shape;643;p75"/>
          <p:cNvSpPr txBox="1">
            <a:spLocks noGrp="1"/>
          </p:cNvSpPr>
          <p:nvPr>
            <p:ph type="title"/>
          </p:nvPr>
        </p:nvSpPr>
        <p:spPr>
          <a:xfrm>
            <a:off x="502562" y="345634"/>
            <a:ext cx="4180665" cy="523005"/>
          </a:xfrm>
          <a:prstGeom prst="rect">
            <a:avLst/>
          </a:prstGeom>
        </p:spPr>
        <p:txBody>
          <a:bodyPr spcFirstLastPara="1" wrap="square" lIns="91425" tIns="91425" rIns="91425" bIns="91425" anchor="t" anchorCtr="0">
            <a:noAutofit/>
          </a:bodyPr>
          <a:lstStyle/>
          <a:p>
            <a:pPr algn="l"/>
            <a:r>
              <a:rPr lang="en"/>
              <a:t>Skewness Observation</a:t>
            </a:r>
          </a:p>
        </p:txBody>
      </p:sp>
      <p:pic>
        <p:nvPicPr>
          <p:cNvPr id="3" name="Picture 2">
            <a:extLst>
              <a:ext uri="{FF2B5EF4-FFF2-40B4-BE49-F238E27FC236}">
                <a16:creationId xmlns:a16="http://schemas.microsoft.com/office/drawing/2014/main" id="{790DD7C3-5F5A-1289-E584-979D77F4F2EE}"/>
              </a:ext>
            </a:extLst>
          </p:cNvPr>
          <p:cNvPicPr>
            <a:picLocks noChangeAspect="1"/>
          </p:cNvPicPr>
          <p:nvPr/>
        </p:nvPicPr>
        <p:blipFill>
          <a:blip r:embed="rId3"/>
          <a:stretch>
            <a:fillRect/>
          </a:stretch>
        </p:blipFill>
        <p:spPr>
          <a:xfrm>
            <a:off x="502563" y="1018762"/>
            <a:ext cx="3599538" cy="3591338"/>
          </a:xfrm>
          <a:prstGeom prst="rect">
            <a:avLst/>
          </a:prstGeom>
        </p:spPr>
      </p:pic>
      <p:sp>
        <p:nvSpPr>
          <p:cNvPr id="5" name="TextBox 4">
            <a:extLst>
              <a:ext uri="{FF2B5EF4-FFF2-40B4-BE49-F238E27FC236}">
                <a16:creationId xmlns:a16="http://schemas.microsoft.com/office/drawing/2014/main" id="{A7385CD6-CDD5-E26D-EB87-DDE28D5C2897}"/>
              </a:ext>
            </a:extLst>
          </p:cNvPr>
          <p:cNvSpPr txBox="1"/>
          <p:nvPr/>
        </p:nvSpPr>
        <p:spPr>
          <a:xfrm>
            <a:off x="4448588" y="2417022"/>
            <a:ext cx="4432301" cy="1815882"/>
          </a:xfrm>
          <a:prstGeom prst="rect">
            <a:avLst/>
          </a:prstGeom>
          <a:noFill/>
        </p:spPr>
        <p:txBody>
          <a:bodyPr wrap="square" lIns="91440" tIns="45720" rIns="91440" bIns="45720" anchor="t">
            <a:spAutoFit/>
          </a:bodyPr>
          <a:lstStyle/>
          <a:p>
            <a:pPr marL="285750" indent="-285750" algn="just">
              <a:buChar char="•"/>
            </a:pPr>
            <a:r>
              <a:rPr lang="en-US" dirty="0">
                <a:latin typeface="Montserrat"/>
              </a:rPr>
              <a:t>Since this is real-time / real-world data, the skewness present in features like Price, </a:t>
            </a:r>
            <a:r>
              <a:rPr lang="en-US" err="1">
                <a:latin typeface="Montserrat"/>
              </a:rPr>
              <a:t>Warranty_in_Years</a:t>
            </a:r>
            <a:r>
              <a:rPr lang="en-US" dirty="0">
                <a:latin typeface="Montserrat"/>
              </a:rPr>
              <a:t>, </a:t>
            </a:r>
            <a:r>
              <a:rPr lang="en-US" err="1">
                <a:latin typeface="Montserrat"/>
              </a:rPr>
              <a:t>No_of_Ratings</a:t>
            </a:r>
            <a:r>
              <a:rPr lang="en-US" dirty="0">
                <a:latin typeface="Montserrat"/>
              </a:rPr>
              <a:t>, and </a:t>
            </a:r>
            <a:r>
              <a:rPr lang="en-US" err="1">
                <a:latin typeface="Montserrat"/>
              </a:rPr>
              <a:t>No_of_Reviews</a:t>
            </a:r>
            <a:r>
              <a:rPr lang="en-US" dirty="0">
                <a:latin typeface="Montserrat"/>
              </a:rPr>
              <a:t> is natural and meaningful.</a:t>
            </a:r>
            <a:endParaRPr lang="en-US"/>
          </a:p>
          <a:p>
            <a:pPr marL="285750" indent="-285750" algn="just">
              <a:buChar char="•"/>
            </a:pPr>
            <a:r>
              <a:rPr lang="en-US" dirty="0">
                <a:latin typeface="Montserrat"/>
              </a:rPr>
              <a:t>Removing or heavily transforming this skewness may distort the original data distribution and reduce the authenticity of the dataset.</a:t>
            </a:r>
          </a:p>
        </p:txBody>
      </p:sp>
      <p:pic>
        <p:nvPicPr>
          <p:cNvPr id="9" name="Picture 8">
            <a:extLst>
              <a:ext uri="{FF2B5EF4-FFF2-40B4-BE49-F238E27FC236}">
                <a16:creationId xmlns:a16="http://schemas.microsoft.com/office/drawing/2014/main" id="{F546878E-527B-089A-ED5D-759EE3772002}"/>
              </a:ext>
            </a:extLst>
          </p:cNvPr>
          <p:cNvPicPr>
            <a:picLocks noChangeAspect="1"/>
          </p:cNvPicPr>
          <p:nvPr/>
        </p:nvPicPr>
        <p:blipFill>
          <a:blip r:embed="rId4"/>
          <a:stretch>
            <a:fillRect/>
          </a:stretch>
        </p:blipFill>
        <p:spPr>
          <a:xfrm>
            <a:off x="4449513" y="968121"/>
            <a:ext cx="3572374" cy="1400370"/>
          </a:xfrm>
          <a:prstGeom prst="rect">
            <a:avLst/>
          </a:prstGeom>
        </p:spPr>
      </p:pic>
      <p:pic>
        <p:nvPicPr>
          <p:cNvPr id="4" name="Picture 3" descr="Innomatics Technology Hub in JNTU, Kukatpally, Hyderabad">
            <a:extLst>
              <a:ext uri="{FF2B5EF4-FFF2-40B4-BE49-F238E27FC236}">
                <a16:creationId xmlns:a16="http://schemas.microsoft.com/office/drawing/2014/main" id="{8CD03A3B-EC16-C69E-9AE7-0031F394730A}"/>
              </a:ext>
            </a:extLst>
          </p:cNvPr>
          <p:cNvPicPr>
            <a:picLocks noChangeAspect="1"/>
          </p:cNvPicPr>
          <p:nvPr/>
        </p:nvPicPr>
        <p:blipFill>
          <a:blip r:embed="rId5"/>
          <a:stretch>
            <a:fillRect/>
          </a:stretch>
        </p:blipFill>
        <p:spPr>
          <a:xfrm>
            <a:off x="7355421" y="4228345"/>
            <a:ext cx="1402344" cy="54777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2"/>
        <p:cNvGrpSpPr/>
        <p:nvPr/>
      </p:nvGrpSpPr>
      <p:grpSpPr>
        <a:xfrm>
          <a:off x="0" y="0"/>
          <a:ext cx="0" cy="0"/>
          <a:chOff x="0" y="0"/>
          <a:chExt cx="0" cy="0"/>
        </a:xfrm>
      </p:grpSpPr>
      <p:sp>
        <p:nvSpPr>
          <p:cNvPr id="6" name="TextBox 5">
            <a:extLst>
              <a:ext uri="{FF2B5EF4-FFF2-40B4-BE49-F238E27FC236}">
                <a16:creationId xmlns:a16="http://schemas.microsoft.com/office/drawing/2014/main" id="{C1EA3F07-22EE-4877-7263-8CAF9C8B0553}"/>
              </a:ext>
            </a:extLst>
          </p:cNvPr>
          <p:cNvSpPr txBox="1"/>
          <p:nvPr/>
        </p:nvSpPr>
        <p:spPr>
          <a:xfrm>
            <a:off x="546426" y="332265"/>
            <a:ext cx="27432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000">
                <a:latin typeface="Vidaloka"/>
              </a:rPr>
              <a:t>Visualization</a:t>
            </a:r>
          </a:p>
        </p:txBody>
      </p:sp>
      <p:sp>
        <p:nvSpPr>
          <p:cNvPr id="2" name="TextBox 1">
            <a:extLst>
              <a:ext uri="{FF2B5EF4-FFF2-40B4-BE49-F238E27FC236}">
                <a16:creationId xmlns:a16="http://schemas.microsoft.com/office/drawing/2014/main" id="{2DAFDFDC-116B-9E65-50A9-EB18B86BD0C5}"/>
              </a:ext>
            </a:extLst>
          </p:cNvPr>
          <p:cNvSpPr txBox="1"/>
          <p:nvPr/>
        </p:nvSpPr>
        <p:spPr>
          <a:xfrm>
            <a:off x="621054" y="881156"/>
            <a:ext cx="167584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a:latin typeface="Vidaloka"/>
              </a:rPr>
              <a:t>Univariate</a:t>
            </a:r>
          </a:p>
        </p:txBody>
      </p:sp>
      <p:pic>
        <p:nvPicPr>
          <p:cNvPr id="5" name="Picture 4">
            <a:extLst>
              <a:ext uri="{FF2B5EF4-FFF2-40B4-BE49-F238E27FC236}">
                <a16:creationId xmlns:a16="http://schemas.microsoft.com/office/drawing/2014/main" id="{111C6FE2-264B-462A-D72E-D40E5760924E}"/>
              </a:ext>
            </a:extLst>
          </p:cNvPr>
          <p:cNvPicPr>
            <a:picLocks noChangeAspect="1"/>
          </p:cNvPicPr>
          <p:nvPr/>
        </p:nvPicPr>
        <p:blipFill>
          <a:blip r:embed="rId3"/>
          <a:stretch>
            <a:fillRect/>
          </a:stretch>
        </p:blipFill>
        <p:spPr>
          <a:xfrm>
            <a:off x="298449" y="1342821"/>
            <a:ext cx="4330701" cy="3241879"/>
          </a:xfrm>
          <a:prstGeom prst="rect">
            <a:avLst/>
          </a:prstGeom>
        </p:spPr>
      </p:pic>
      <p:sp>
        <p:nvSpPr>
          <p:cNvPr id="8" name="Rectangle 1">
            <a:extLst>
              <a:ext uri="{FF2B5EF4-FFF2-40B4-BE49-F238E27FC236}">
                <a16:creationId xmlns:a16="http://schemas.microsoft.com/office/drawing/2014/main" id="{265F4499-B5D8-4AF4-55E3-1DEA1E4FAAD6}"/>
              </a:ext>
            </a:extLst>
          </p:cNvPr>
          <p:cNvSpPr>
            <a:spLocks noChangeArrowheads="1"/>
          </p:cNvSpPr>
          <p:nvPr/>
        </p:nvSpPr>
        <p:spPr bwMode="auto">
          <a:xfrm>
            <a:off x="4218267" y="1340051"/>
            <a:ext cx="427075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ontserrat"/>
              </a:rPr>
              <a:t>The price distribution plot shows that the data is </a:t>
            </a:r>
            <a:r>
              <a:rPr kumimoji="0" lang="en-US" altLang="en-US" i="0" u="none" strike="noStrike" cap="none" normalizeH="0" baseline="0" dirty="0">
                <a:ln>
                  <a:noFill/>
                </a:ln>
                <a:solidFill>
                  <a:schemeClr val="tx1"/>
                </a:solidFill>
                <a:effectLst/>
                <a:latin typeface="Montserrat"/>
              </a:rPr>
              <a:t>not perfectly normally distributed</a:t>
            </a:r>
            <a:r>
              <a:rPr kumimoji="0" lang="en-US" altLang="en-US" b="0" i="0" u="none" strike="noStrike" cap="none" normalizeH="0" baseline="0" dirty="0">
                <a:ln>
                  <a:noFill/>
                </a:ln>
                <a:solidFill>
                  <a:schemeClr val="tx1"/>
                </a:solidFill>
                <a:effectLst/>
                <a:latin typeface="Montserrat"/>
              </a:rPr>
              <a:t> and exhibits </a:t>
            </a:r>
            <a:r>
              <a:rPr kumimoji="0" lang="en-US" altLang="en-US" i="0" u="none" strike="noStrike" cap="none" normalizeH="0" baseline="0" dirty="0">
                <a:ln>
                  <a:noFill/>
                </a:ln>
                <a:solidFill>
                  <a:schemeClr val="tx1"/>
                </a:solidFill>
                <a:effectLst/>
                <a:latin typeface="Montserrat"/>
              </a:rPr>
              <a:t>right skewness</a:t>
            </a:r>
            <a:r>
              <a:rPr kumimoji="0" lang="en-US" altLang="en-US" b="0" i="0" u="none" strike="noStrike" cap="none" normalizeH="0" baseline="0" dirty="0">
                <a:ln>
                  <a:noFill/>
                </a:ln>
                <a:solidFill>
                  <a:schemeClr val="tx1"/>
                </a:solidFill>
                <a:effectLst/>
                <a:latin typeface="Montserrat"/>
              </a:rPr>
              <a:t>.</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b="0" i="0" u="none" strike="noStrike" cap="none" normalizeH="0" baseline="0" dirty="0">
              <a:ln>
                <a:noFill/>
              </a:ln>
              <a:solidFill>
                <a:schemeClr val="tx1"/>
              </a:solidFill>
              <a:effectLst/>
              <a:latin typeface="Montserrat" panose="00000500000000000000" pitchFamily="2"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ontserrat"/>
              </a:rPr>
              <a:t>Most products are concentrated in the </a:t>
            </a:r>
            <a:r>
              <a:rPr kumimoji="0" lang="en-US" altLang="en-US" i="0" u="none" strike="noStrike" cap="none" normalizeH="0" baseline="0" dirty="0">
                <a:ln>
                  <a:noFill/>
                </a:ln>
                <a:solidFill>
                  <a:schemeClr val="tx1"/>
                </a:solidFill>
                <a:effectLst/>
                <a:latin typeface="Montserrat"/>
              </a:rPr>
              <a:t>mid-price range (around 30,000–40,000)</a:t>
            </a:r>
            <a:r>
              <a:rPr kumimoji="0" lang="en-US" altLang="en-US" b="0" i="0" u="none" strike="noStrike" cap="none" normalizeH="0" baseline="0" dirty="0">
                <a:ln>
                  <a:noFill/>
                </a:ln>
                <a:solidFill>
                  <a:schemeClr val="tx1"/>
                </a:solidFill>
                <a:effectLst/>
                <a:latin typeface="Montserrat"/>
              </a:rPr>
              <a:t>, while a few high-priced products create a long right tail.</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b="0" i="0" u="none" strike="noStrike" cap="none" normalizeH="0" baseline="0" dirty="0">
              <a:ln>
                <a:noFill/>
              </a:ln>
              <a:solidFill>
                <a:schemeClr val="tx1"/>
              </a:solidFill>
              <a:effectLst/>
              <a:latin typeface="Montserrat" panose="00000500000000000000" pitchFamily="2"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Montserrat"/>
              </a:rPr>
              <a:t>This indicates the presence of </a:t>
            </a:r>
            <a:r>
              <a:rPr kumimoji="0" lang="en-US" altLang="en-US" i="0" u="none" strike="noStrike" cap="none" normalizeH="0" baseline="0" dirty="0">
                <a:ln>
                  <a:noFill/>
                </a:ln>
                <a:solidFill>
                  <a:schemeClr val="tx1"/>
                </a:solidFill>
                <a:effectLst/>
                <a:latin typeface="Montserrat"/>
              </a:rPr>
              <a:t>natural outliers</a:t>
            </a:r>
            <a:r>
              <a:rPr kumimoji="0" lang="en-US" altLang="en-US" b="0" i="0" u="none" strike="noStrike" cap="none" normalizeH="0" baseline="0" dirty="0">
                <a:ln>
                  <a:noFill/>
                </a:ln>
                <a:solidFill>
                  <a:schemeClr val="tx1"/>
                </a:solidFill>
                <a:effectLst/>
                <a:latin typeface="Montserrat"/>
              </a:rPr>
              <a:t> in pricing, which were retained to preserve the real-world characteristics of the dataset for further analysis.</a:t>
            </a:r>
            <a:endParaRPr lang="en-US" altLang="en-US" b="0" i="0" u="none" strike="noStrike" cap="none" normalizeH="0" baseline="0" dirty="0">
              <a:ln>
                <a:noFill/>
              </a:ln>
              <a:solidFill>
                <a:schemeClr val="tx1"/>
              </a:solidFill>
              <a:effectLst/>
              <a:latin typeface="Montserrat"/>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descr="Innomatics Technology Hub in JNTU, Kukatpally, Hyderabad">
            <a:extLst>
              <a:ext uri="{FF2B5EF4-FFF2-40B4-BE49-F238E27FC236}">
                <a16:creationId xmlns:a16="http://schemas.microsoft.com/office/drawing/2014/main" id="{54169812-F8B6-9F9A-EAD8-AA4B6B87D571}"/>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8"/>
        <p:cNvGrpSpPr/>
        <p:nvPr/>
      </p:nvGrpSpPr>
      <p:grpSpPr>
        <a:xfrm>
          <a:off x="0" y="0"/>
          <a:ext cx="0" cy="0"/>
          <a:chOff x="0" y="0"/>
          <a:chExt cx="0" cy="0"/>
        </a:xfrm>
      </p:grpSpPr>
      <p:sp>
        <p:nvSpPr>
          <p:cNvPr id="679" name="Google Shape;679;p80"/>
          <p:cNvSpPr txBox="1">
            <a:spLocks noGrp="1"/>
          </p:cNvSpPr>
          <p:nvPr>
            <p:ph type="title"/>
          </p:nvPr>
        </p:nvSpPr>
        <p:spPr>
          <a:xfrm>
            <a:off x="415051" y="372187"/>
            <a:ext cx="2250979"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Barplot</a:t>
            </a:r>
          </a:p>
        </p:txBody>
      </p:sp>
      <p:sp>
        <p:nvSpPr>
          <p:cNvPr id="6" name="Rectangle 1">
            <a:extLst>
              <a:ext uri="{FF2B5EF4-FFF2-40B4-BE49-F238E27FC236}">
                <a16:creationId xmlns:a16="http://schemas.microsoft.com/office/drawing/2014/main" id="{634881C8-1A98-29FD-1713-6EDBEFE9DB80}"/>
              </a:ext>
            </a:extLst>
          </p:cNvPr>
          <p:cNvSpPr>
            <a:spLocks noChangeArrowheads="1"/>
          </p:cNvSpPr>
          <p:nvPr/>
        </p:nvSpPr>
        <p:spPr bwMode="auto">
          <a:xfrm>
            <a:off x="4459568" y="725434"/>
            <a:ext cx="3905752" cy="377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285750" algn="just">
              <a:spcAft>
                <a:spcPts val="500"/>
              </a:spcAft>
              <a:buFont typeface="Arial" panose="020B0604020202020204" pitchFamily="34" charset="0"/>
              <a:buChar char="•"/>
            </a:pPr>
            <a:r>
              <a:rPr lang="en-US" dirty="0">
                <a:latin typeface="Montserrat"/>
              </a:rPr>
              <a:t>Godrej has the highest number of products in the dataset.</a:t>
            </a:r>
            <a:endParaRPr lang="en-US"/>
          </a:p>
          <a:p>
            <a:pPr marL="571500" indent="-285750" algn="just">
              <a:spcAft>
                <a:spcPts val="500"/>
              </a:spcAft>
              <a:buFont typeface="Arial" panose="020B0604020202020204" pitchFamily="34" charset="0"/>
              <a:buChar char="•"/>
            </a:pPr>
            <a:r>
              <a:rPr lang="en-US" dirty="0">
                <a:latin typeface="Montserrat"/>
              </a:rPr>
              <a:t>A few brands like Voltas, Samsung, CARRIER, Lloyd, Haier also have strong presence.</a:t>
            </a:r>
          </a:p>
          <a:p>
            <a:pPr marL="571500" indent="-285750" algn="just">
              <a:spcAft>
                <a:spcPts val="500"/>
              </a:spcAft>
              <a:buFont typeface="Arial" panose="020B0604020202020204" pitchFamily="34" charset="0"/>
              <a:buChar char="•"/>
            </a:pPr>
            <a:r>
              <a:rPr lang="en-US" dirty="0">
                <a:latin typeface="Montserrat"/>
              </a:rPr>
              <a:t>Many brands have very low counts, showing a long tail of less-represented brands.</a:t>
            </a:r>
          </a:p>
          <a:p>
            <a:pPr marL="571500" indent="-285750" algn="just">
              <a:spcAft>
                <a:spcPts val="500"/>
              </a:spcAft>
              <a:buFont typeface="Arial" panose="020B0604020202020204" pitchFamily="34" charset="0"/>
              <a:buChar char="•"/>
            </a:pPr>
            <a:r>
              <a:rPr lang="en-US" dirty="0">
                <a:latin typeface="Montserrat"/>
              </a:rPr>
              <a:t>Distribution is highly uneven across brands.</a:t>
            </a:r>
          </a:p>
          <a:p>
            <a:pPr marL="571500" indent="-285750" algn="just">
              <a:spcAft>
                <a:spcPts val="500"/>
              </a:spcAft>
              <a:buFont typeface="Arial" panose="020B0604020202020204" pitchFamily="34" charset="0"/>
              <a:buChar char="•"/>
            </a:pPr>
            <a:r>
              <a:rPr lang="en-US" dirty="0">
                <a:latin typeface="Montserrat"/>
              </a:rPr>
              <a:t>Dataset is dominated by top 5–8 brands.</a:t>
            </a:r>
          </a:p>
          <a:p>
            <a:pPr marL="571500" indent="-285750" algn="just">
              <a:spcAft>
                <a:spcPts val="500"/>
              </a:spcAft>
              <a:buFont typeface="Arial" panose="020B0604020202020204" pitchFamily="34" charset="0"/>
              <a:buChar char="•"/>
            </a:pPr>
            <a:r>
              <a:rPr lang="en-US" dirty="0">
                <a:latin typeface="Montserrat"/>
              </a:rPr>
              <a:t>Several brands appear only once or twice.</a:t>
            </a:r>
          </a:p>
          <a:p>
            <a:pPr marL="285750" marR="0" lvl="0" indent="-285750" algn="just" defTabSz="914400" rtl="0" eaLnBrk="0" fontAlgn="base" latinLnBrk="0" hangingPunct="0">
              <a:lnSpc>
                <a:spcPct val="100000"/>
              </a:lnSpc>
              <a:spcBef>
                <a:spcPct val="0"/>
              </a:spcBef>
              <a:spcAft>
                <a:spcPts val="500"/>
              </a:spcAft>
              <a:buClrTx/>
              <a:buSzTx/>
              <a:buChar char="•"/>
              <a:tabLst/>
            </a:pPr>
            <a:endParaRPr lang="en-US" altLang="en-US" sz="180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9DE45D05-A791-6689-E4C6-30DB24B9ED6B}"/>
              </a:ext>
            </a:extLst>
          </p:cNvPr>
          <p:cNvPicPr>
            <a:picLocks noChangeAspect="1"/>
          </p:cNvPicPr>
          <p:nvPr/>
        </p:nvPicPr>
        <p:blipFill>
          <a:blip r:embed="rId3"/>
          <a:stretch>
            <a:fillRect/>
          </a:stretch>
        </p:blipFill>
        <p:spPr>
          <a:xfrm>
            <a:off x="156755" y="1069073"/>
            <a:ext cx="4554946" cy="3572778"/>
          </a:xfrm>
          <a:prstGeom prst="rect">
            <a:avLst/>
          </a:prstGeom>
        </p:spPr>
      </p:pic>
      <p:pic>
        <p:nvPicPr>
          <p:cNvPr id="4" name="Picture 3" descr="Innomatics Technology Hub in JNTU, Kukatpally, Hyderabad">
            <a:extLst>
              <a:ext uri="{FF2B5EF4-FFF2-40B4-BE49-F238E27FC236}">
                <a16:creationId xmlns:a16="http://schemas.microsoft.com/office/drawing/2014/main" id="{FDFE7249-5E25-DD9D-F0D8-0F2EE485F44A}"/>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1"/>
        <p:cNvGrpSpPr/>
        <p:nvPr/>
      </p:nvGrpSpPr>
      <p:grpSpPr>
        <a:xfrm>
          <a:off x="0" y="0"/>
          <a:ext cx="0" cy="0"/>
          <a:chOff x="0" y="0"/>
          <a:chExt cx="0" cy="0"/>
        </a:xfrm>
      </p:grpSpPr>
      <p:sp>
        <p:nvSpPr>
          <p:cNvPr id="702" name="Google Shape;702;p81"/>
          <p:cNvSpPr txBox="1">
            <a:spLocks noGrp="1"/>
          </p:cNvSpPr>
          <p:nvPr>
            <p:ph type="title"/>
          </p:nvPr>
        </p:nvSpPr>
        <p:spPr>
          <a:xfrm>
            <a:off x="754638" y="288264"/>
            <a:ext cx="1950462" cy="572700"/>
          </a:xfrm>
          <a:prstGeom prst="rect">
            <a:avLst/>
          </a:prstGeom>
        </p:spPr>
        <p:txBody>
          <a:bodyPr spcFirstLastPara="1" wrap="square" lIns="91425" tIns="91425" rIns="91425" bIns="91425" anchor="t" anchorCtr="0">
            <a:noAutofit/>
          </a:bodyPr>
          <a:lstStyle/>
          <a:p>
            <a:r>
              <a:rPr lang="en" dirty="0"/>
              <a:t>Hist Plot</a:t>
            </a:r>
            <a:br>
              <a:rPr lang="en" dirty="0"/>
            </a:br>
            <a:r>
              <a:rPr lang="en" dirty="0"/>
              <a:t> </a:t>
            </a:r>
          </a:p>
        </p:txBody>
      </p:sp>
      <p:pic>
        <p:nvPicPr>
          <p:cNvPr id="5" name="Picture 4">
            <a:extLst>
              <a:ext uri="{FF2B5EF4-FFF2-40B4-BE49-F238E27FC236}">
                <a16:creationId xmlns:a16="http://schemas.microsoft.com/office/drawing/2014/main" id="{6A68B54B-93E6-E3CE-FE48-20CE2AFC8370}"/>
              </a:ext>
            </a:extLst>
          </p:cNvPr>
          <p:cNvPicPr>
            <a:picLocks noChangeAspect="1"/>
          </p:cNvPicPr>
          <p:nvPr/>
        </p:nvPicPr>
        <p:blipFill>
          <a:blip r:embed="rId3"/>
          <a:stretch>
            <a:fillRect/>
          </a:stretch>
        </p:blipFill>
        <p:spPr>
          <a:xfrm>
            <a:off x="438151" y="1047749"/>
            <a:ext cx="4133849" cy="3206751"/>
          </a:xfrm>
          <a:prstGeom prst="rect">
            <a:avLst/>
          </a:prstGeom>
        </p:spPr>
      </p:pic>
      <p:sp>
        <p:nvSpPr>
          <p:cNvPr id="7" name="TextBox 6">
            <a:extLst>
              <a:ext uri="{FF2B5EF4-FFF2-40B4-BE49-F238E27FC236}">
                <a16:creationId xmlns:a16="http://schemas.microsoft.com/office/drawing/2014/main" id="{D206A915-2318-A63A-D45A-8539F32CD2C4}"/>
              </a:ext>
            </a:extLst>
          </p:cNvPr>
          <p:cNvSpPr txBox="1"/>
          <p:nvPr/>
        </p:nvSpPr>
        <p:spPr>
          <a:xfrm>
            <a:off x="4495800" y="1207859"/>
            <a:ext cx="3726330" cy="2730168"/>
          </a:xfrm>
          <a:prstGeom prst="rect">
            <a:avLst/>
          </a:prstGeom>
          <a:noFill/>
        </p:spPr>
        <p:txBody>
          <a:bodyPr wrap="square" lIns="91440" tIns="45720" rIns="91440" bIns="45720" anchor="t">
            <a:spAutoFit/>
          </a:bodyPr>
          <a:lstStyle/>
          <a:p>
            <a:pPr marL="285750" indent="-285750">
              <a:spcAft>
                <a:spcPts val="500"/>
              </a:spcAft>
              <a:buFont typeface="Arial" panose="020B0604020202020204" pitchFamily="34" charset="0"/>
              <a:buChar char="•"/>
            </a:pPr>
            <a:r>
              <a:rPr lang="en-US" dirty="0">
                <a:latin typeface="Montserrat"/>
              </a:rPr>
              <a:t>Most products across all star ratings are designed for around 150 </a:t>
            </a:r>
            <a:r>
              <a:rPr lang="en-US" err="1">
                <a:latin typeface="Montserrat"/>
              </a:rPr>
              <a:t>sq.ft</a:t>
            </a:r>
            <a:r>
              <a:rPr lang="en-US" dirty="0">
                <a:latin typeface="Montserrat"/>
              </a:rPr>
              <a:t> rooms.</a:t>
            </a:r>
            <a:endParaRPr lang="en-US"/>
          </a:p>
          <a:p>
            <a:pPr marL="285750" indent="-285750">
              <a:spcAft>
                <a:spcPts val="500"/>
              </a:spcAft>
              <a:buFont typeface="Arial" panose="020B0604020202020204" pitchFamily="34" charset="0"/>
              <a:buChar char="•"/>
            </a:pPr>
            <a:r>
              <a:rPr lang="en-US" dirty="0">
                <a:latin typeface="Montserrat"/>
              </a:rPr>
              <a:t>3-Star models have the highest frequency for common room sizes.</a:t>
            </a:r>
          </a:p>
          <a:p>
            <a:pPr marL="285750" indent="-285750">
              <a:spcAft>
                <a:spcPts val="500"/>
              </a:spcAft>
              <a:buFont typeface="Arial" panose="020B0604020202020204" pitchFamily="34" charset="0"/>
              <a:buChar char="•"/>
            </a:pPr>
            <a:r>
              <a:rPr lang="en-US" dirty="0">
                <a:latin typeface="Montserrat"/>
              </a:rPr>
              <a:t>Room sizes around 90 </a:t>
            </a:r>
            <a:r>
              <a:rPr lang="en-US" err="1">
                <a:latin typeface="Montserrat"/>
              </a:rPr>
              <a:t>sq.ft</a:t>
            </a:r>
            <a:r>
              <a:rPr lang="en-US" dirty="0">
                <a:latin typeface="Montserrat"/>
              </a:rPr>
              <a:t> and 200 </a:t>
            </a:r>
            <a:r>
              <a:rPr lang="en-US" err="1">
                <a:latin typeface="Montserrat"/>
              </a:rPr>
              <a:t>sq.ft</a:t>
            </a:r>
            <a:r>
              <a:rPr lang="en-US" dirty="0">
                <a:latin typeface="Montserrat"/>
              </a:rPr>
              <a:t> appear less frequently.</a:t>
            </a:r>
          </a:p>
          <a:p>
            <a:pPr marL="285750" indent="-285750">
              <a:spcAft>
                <a:spcPts val="500"/>
              </a:spcAft>
              <a:buFont typeface="Arial" panose="020B0604020202020204" pitchFamily="34" charset="0"/>
              <a:buChar char="•"/>
            </a:pPr>
            <a:r>
              <a:rPr lang="en-US" dirty="0">
                <a:latin typeface="Montserrat"/>
              </a:rPr>
              <a:t>Distribution pattern is similar across different star ratings.</a:t>
            </a:r>
          </a:p>
          <a:p>
            <a:pPr marL="285750" indent="-285750">
              <a:spcAft>
                <a:spcPts val="500"/>
              </a:spcAft>
              <a:buFont typeface="Arial" panose="020B0604020202020204" pitchFamily="34" charset="0"/>
              <a:buChar char="•"/>
            </a:pPr>
            <a:r>
              <a:rPr lang="en-US" dirty="0">
                <a:latin typeface="Montserrat"/>
              </a:rPr>
              <a:t>Star rating does not significantly change the target room size range.</a:t>
            </a:r>
          </a:p>
        </p:txBody>
      </p:sp>
      <p:pic>
        <p:nvPicPr>
          <p:cNvPr id="3" name="Picture 2" descr="Innomatics Technology Hub in JNTU, Kukatpally, Hyderabad">
            <a:extLst>
              <a:ext uri="{FF2B5EF4-FFF2-40B4-BE49-F238E27FC236}">
                <a16:creationId xmlns:a16="http://schemas.microsoft.com/office/drawing/2014/main" id="{832FD39C-F1F1-5A9D-D4B0-E2B84D2E760C}"/>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7"/>
        <p:cNvGrpSpPr/>
        <p:nvPr/>
      </p:nvGrpSpPr>
      <p:grpSpPr>
        <a:xfrm>
          <a:off x="0" y="0"/>
          <a:ext cx="0" cy="0"/>
          <a:chOff x="0" y="0"/>
          <a:chExt cx="0" cy="0"/>
        </a:xfrm>
      </p:grpSpPr>
      <p:sp>
        <p:nvSpPr>
          <p:cNvPr id="708" name="Google Shape;708;p82"/>
          <p:cNvSpPr txBox="1">
            <a:spLocks noGrp="1"/>
          </p:cNvSpPr>
          <p:nvPr>
            <p:ph type="title"/>
          </p:nvPr>
        </p:nvSpPr>
        <p:spPr>
          <a:xfrm>
            <a:off x="857816" y="438380"/>
            <a:ext cx="3713806" cy="661631"/>
          </a:xfrm>
          <a:prstGeom prst="rect">
            <a:avLst/>
          </a:prstGeom>
        </p:spPr>
        <p:txBody>
          <a:bodyPr spcFirstLastPara="1" wrap="square" lIns="91425" tIns="91425" rIns="91425" bIns="91425" anchor="t" anchorCtr="0">
            <a:noAutofit/>
          </a:bodyPr>
          <a:lstStyle/>
          <a:p>
            <a:r>
              <a:rPr lang="en" dirty="0"/>
              <a:t>Pie Plot</a:t>
            </a:r>
          </a:p>
        </p:txBody>
      </p:sp>
      <p:sp>
        <p:nvSpPr>
          <p:cNvPr id="5" name="TextBox 4">
            <a:extLst>
              <a:ext uri="{FF2B5EF4-FFF2-40B4-BE49-F238E27FC236}">
                <a16:creationId xmlns:a16="http://schemas.microsoft.com/office/drawing/2014/main" id="{E666115A-8194-AE5B-A2BE-956EE2DF1A85}"/>
              </a:ext>
            </a:extLst>
          </p:cNvPr>
          <p:cNvSpPr txBox="1"/>
          <p:nvPr/>
        </p:nvSpPr>
        <p:spPr>
          <a:xfrm>
            <a:off x="4298950" y="1010471"/>
            <a:ext cx="3993699" cy="34291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Aft>
                <a:spcPts val="500"/>
              </a:spcAft>
              <a:buFont typeface="Arial" panose="020B0604020202020204" pitchFamily="34" charset="0"/>
              <a:buChar char="•"/>
            </a:pPr>
            <a:r>
              <a:rPr lang="en-US" dirty="0">
                <a:latin typeface="Montserrat"/>
              </a:rPr>
              <a:t>Majority of products offer 1 year warranty (≈72.9%).</a:t>
            </a:r>
            <a:endParaRPr lang="en-US"/>
          </a:p>
          <a:p>
            <a:pPr marL="285750" indent="-285750" algn="just">
              <a:spcAft>
                <a:spcPts val="500"/>
              </a:spcAft>
              <a:buFont typeface="Arial" panose="020B0604020202020204" pitchFamily="34" charset="0"/>
              <a:buChar char="•"/>
            </a:pPr>
            <a:r>
              <a:rPr lang="en-US" dirty="0">
                <a:latin typeface="Montserrat"/>
              </a:rPr>
              <a:t>Around 26.6% of products provide a 5-year </a:t>
            </a:r>
            <a:r>
              <a:rPr lang="en-US" err="1">
                <a:latin typeface="Montserrat"/>
              </a:rPr>
              <a:t>warranty.Very</a:t>
            </a:r>
            <a:r>
              <a:rPr lang="en-US" dirty="0">
                <a:latin typeface="Montserrat"/>
              </a:rPr>
              <a:t> few products have 2 years or 10 years warranty (almost negligible).</a:t>
            </a:r>
          </a:p>
          <a:p>
            <a:pPr marL="285750" indent="-285750" algn="just">
              <a:spcAft>
                <a:spcPts val="500"/>
              </a:spcAft>
              <a:buFont typeface="Arial" panose="020B0604020202020204" pitchFamily="34" charset="0"/>
              <a:buChar char="•"/>
            </a:pPr>
            <a:r>
              <a:rPr lang="en-US" dirty="0">
                <a:latin typeface="Montserrat"/>
              </a:rPr>
              <a:t>The dataset is heavily concentrated on 1-year warranty products.</a:t>
            </a:r>
          </a:p>
          <a:p>
            <a:pPr marL="285750" indent="-285750" algn="just">
              <a:spcAft>
                <a:spcPts val="500"/>
              </a:spcAft>
              <a:buFont typeface="Arial" panose="020B0604020202020204" pitchFamily="34" charset="0"/>
              <a:buChar char="•"/>
            </a:pPr>
            <a:r>
              <a:rPr lang="en-US" dirty="0">
                <a:latin typeface="Montserrat"/>
              </a:rPr>
              <a:t>Extended warranties (more than 2 years) are rare in the dataset.</a:t>
            </a:r>
          </a:p>
          <a:p>
            <a:pPr marL="285750" indent="-285750" algn="just">
              <a:spcAft>
                <a:spcPts val="500"/>
              </a:spcAft>
              <a:buFont typeface="Arial" panose="020B0604020202020204" pitchFamily="34" charset="0"/>
              <a:buChar char="•"/>
            </a:pPr>
            <a:r>
              <a:rPr lang="en-US" dirty="0">
                <a:latin typeface="Montserrat"/>
              </a:rPr>
              <a:t>Warranty distribution is highly imbalanced toward shorter warranty periods.</a:t>
            </a:r>
          </a:p>
          <a:p>
            <a:pPr marL="285750" indent="-285750" algn="just">
              <a:spcAft>
                <a:spcPts val="500"/>
              </a:spcAft>
              <a:buChar char="•"/>
            </a:pPr>
            <a:endParaRPr lang="en-US" dirty="0">
              <a:latin typeface="Montserrat"/>
            </a:endParaRPr>
          </a:p>
        </p:txBody>
      </p:sp>
      <p:pic>
        <p:nvPicPr>
          <p:cNvPr id="3" name="Picture 2">
            <a:extLst>
              <a:ext uri="{FF2B5EF4-FFF2-40B4-BE49-F238E27FC236}">
                <a16:creationId xmlns:a16="http://schemas.microsoft.com/office/drawing/2014/main" id="{9E3D1983-B0EC-3862-3AC0-749050B7D574}"/>
              </a:ext>
            </a:extLst>
          </p:cNvPr>
          <p:cNvPicPr>
            <a:picLocks noChangeAspect="1"/>
          </p:cNvPicPr>
          <p:nvPr/>
        </p:nvPicPr>
        <p:blipFill>
          <a:blip r:embed="rId3"/>
          <a:stretch>
            <a:fillRect/>
          </a:stretch>
        </p:blipFill>
        <p:spPr>
          <a:xfrm>
            <a:off x="961377" y="1283521"/>
            <a:ext cx="3077223" cy="2602679"/>
          </a:xfrm>
          <a:prstGeom prst="rect">
            <a:avLst/>
          </a:prstGeom>
        </p:spPr>
      </p:pic>
      <p:pic>
        <p:nvPicPr>
          <p:cNvPr id="4" name="Picture 3" descr="Innomatics Technology Hub in JNTU, Kukatpally, Hyderabad">
            <a:extLst>
              <a:ext uri="{FF2B5EF4-FFF2-40B4-BE49-F238E27FC236}">
                <a16:creationId xmlns:a16="http://schemas.microsoft.com/office/drawing/2014/main" id="{3EA9AAE5-5C84-A9E8-EB21-20A8954A46AB}"/>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15"/>
        <p:cNvGrpSpPr/>
        <p:nvPr/>
      </p:nvGrpSpPr>
      <p:grpSpPr>
        <a:xfrm>
          <a:off x="0" y="0"/>
          <a:ext cx="0" cy="0"/>
          <a:chOff x="0" y="0"/>
          <a:chExt cx="0" cy="0"/>
        </a:xfrm>
      </p:grpSpPr>
      <p:sp>
        <p:nvSpPr>
          <p:cNvPr id="716" name="Google Shape;716;p83"/>
          <p:cNvSpPr txBox="1">
            <a:spLocks noGrp="1"/>
          </p:cNvSpPr>
          <p:nvPr>
            <p:ph type="title"/>
          </p:nvPr>
        </p:nvSpPr>
        <p:spPr>
          <a:xfrm>
            <a:off x="787480" y="323054"/>
            <a:ext cx="2427522" cy="648900"/>
          </a:xfrm>
          <a:prstGeom prst="rect">
            <a:avLst/>
          </a:prstGeom>
        </p:spPr>
        <p:txBody>
          <a:bodyPr spcFirstLastPara="1" wrap="square" lIns="91425" tIns="91425" rIns="91425" bIns="91425" anchor="ctr" anchorCtr="0">
            <a:noAutofit/>
          </a:bodyPr>
          <a:lstStyle/>
          <a:p>
            <a:r>
              <a:rPr lang="en" dirty="0"/>
              <a:t>Count Plot</a:t>
            </a:r>
          </a:p>
        </p:txBody>
      </p:sp>
      <p:pic>
        <p:nvPicPr>
          <p:cNvPr id="3" name="Picture 2">
            <a:extLst>
              <a:ext uri="{FF2B5EF4-FFF2-40B4-BE49-F238E27FC236}">
                <a16:creationId xmlns:a16="http://schemas.microsoft.com/office/drawing/2014/main" id="{4D540A82-19D1-6AAA-1323-72B834CAB746}"/>
              </a:ext>
            </a:extLst>
          </p:cNvPr>
          <p:cNvPicPr>
            <a:picLocks noChangeAspect="1"/>
          </p:cNvPicPr>
          <p:nvPr/>
        </p:nvPicPr>
        <p:blipFill>
          <a:blip r:embed="rId3"/>
          <a:stretch>
            <a:fillRect/>
          </a:stretch>
        </p:blipFill>
        <p:spPr>
          <a:xfrm>
            <a:off x="241301" y="1073151"/>
            <a:ext cx="4605019" cy="3314699"/>
          </a:xfrm>
          <a:prstGeom prst="rect">
            <a:avLst/>
          </a:prstGeom>
        </p:spPr>
      </p:pic>
      <p:sp>
        <p:nvSpPr>
          <p:cNvPr id="5" name="Rectangle 1">
            <a:extLst>
              <a:ext uri="{FF2B5EF4-FFF2-40B4-BE49-F238E27FC236}">
                <a16:creationId xmlns:a16="http://schemas.microsoft.com/office/drawing/2014/main" id="{EBF35CA4-8F2C-02F6-1A67-B25E9103C890}"/>
              </a:ext>
            </a:extLst>
          </p:cNvPr>
          <p:cNvSpPr>
            <a:spLocks noGrp="1" noChangeArrowheads="1"/>
          </p:cNvSpPr>
          <p:nvPr>
            <p:ph type="subTitle" idx="1"/>
          </p:nvPr>
        </p:nvSpPr>
        <p:spPr bwMode="auto">
          <a:xfrm>
            <a:off x="5027819" y="1069130"/>
            <a:ext cx="3428819" cy="2567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endParaRPr lang="en-US" altLang="en-US" b="0" i="0" u="none" strike="noStrike" cap="none" normalizeH="0" baseline="0" dirty="0">
              <a:ln>
                <a:noFill/>
              </a:ln>
              <a:solidFill>
                <a:schemeClr val="tx1"/>
              </a:solidFill>
              <a:effectLst/>
              <a:latin typeface="Montserrat" panose="00000500000000000000" pitchFamily="2" charset="0"/>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rPr>
              <a:t> 1-Star and 2-Star</a:t>
            </a:r>
            <a:r>
              <a:rPr kumimoji="0" lang="en-US" altLang="en-US" b="0" i="0" u="none" strike="noStrike" cap="none" normalizeH="0" baseline="0" dirty="0">
                <a:ln>
                  <a:noFill/>
                </a:ln>
                <a:solidFill>
                  <a:schemeClr val="tx1"/>
                </a:solidFill>
                <a:effectLst/>
              </a:rPr>
              <a:t> are very rare.</a:t>
            </a:r>
            <a:endParaRPr lang="en-US"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Top brands mainly offer </a:t>
            </a:r>
            <a:r>
              <a:rPr kumimoji="0" lang="en-US" altLang="en-US" i="0" u="none" strike="noStrike" cap="none" normalizeH="0" baseline="0" dirty="0">
                <a:ln>
                  <a:noFill/>
                </a:ln>
                <a:solidFill>
                  <a:schemeClr val="tx1"/>
                </a:solidFill>
                <a:effectLst/>
              </a:rPr>
              <a:t>3-Star</a:t>
            </a:r>
            <a:r>
              <a:rPr kumimoji="0" lang="en-US" altLang="en-US" b="0" i="0" u="none" strike="noStrike" cap="none" normalizeH="0" baseline="0" dirty="0">
                <a:ln>
                  <a:noFill/>
                </a:ln>
                <a:solidFill>
                  <a:schemeClr val="tx1"/>
                </a:solidFill>
                <a:effectLst/>
              </a:rPr>
              <a:t> products</a:t>
            </a:r>
            <a:endParaRPr lang="en-US"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rPr>
              <a:t>5-Star</a:t>
            </a:r>
            <a:r>
              <a:rPr kumimoji="0" lang="en-US" altLang="en-US" b="0" i="0" u="none" strike="noStrike" cap="none" normalizeH="0" baseline="0" dirty="0">
                <a:ln>
                  <a:noFill/>
                </a:ln>
                <a:solidFill>
                  <a:schemeClr val="tx1"/>
                </a:solidFill>
                <a:effectLst/>
              </a:rPr>
              <a:t> models are fewer than 3-Star.</a:t>
            </a:r>
            <a:endParaRPr lang="en-US"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rPr>
              <a:t> 3-Star</a:t>
            </a:r>
            <a:r>
              <a:rPr kumimoji="0" lang="en-US" altLang="en-US" b="0" i="0" u="none" strike="noStrike" cap="none" normalizeH="0" baseline="0" dirty="0">
                <a:ln>
                  <a:noFill/>
                </a:ln>
                <a:solidFill>
                  <a:schemeClr val="tx1"/>
                </a:solidFill>
                <a:effectLst/>
              </a:rPr>
              <a:t> models dominate across most brands.</a:t>
            </a:r>
            <a:endParaRPr lang="en-US"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Few brands provide </a:t>
            </a:r>
            <a:r>
              <a:rPr kumimoji="0" lang="en-US" altLang="en-US" i="0" u="none" strike="noStrike" cap="none" normalizeH="0" baseline="0" dirty="0">
                <a:ln>
                  <a:noFill/>
                </a:ln>
                <a:solidFill>
                  <a:schemeClr val="tx1"/>
                </a:solidFill>
                <a:effectLst/>
              </a:rPr>
              <a:t>4-Star/5-Star</a:t>
            </a:r>
            <a:r>
              <a:rPr kumimoji="0" lang="en-US" altLang="en-US" b="0" i="0" u="none" strike="noStrike" cap="none" normalizeH="0" baseline="0" dirty="0">
                <a:ln>
                  <a:noFill/>
                </a:ln>
                <a:solidFill>
                  <a:schemeClr val="tx1"/>
                </a:solidFill>
                <a:effectLst/>
              </a:rPr>
              <a:t> options.</a:t>
            </a:r>
            <a:endParaRPr lang="en-US" altLang="en-US" b="0" i="0" u="none" strike="noStrike" cap="none" normalizeH="0" baseline="0" dirty="0">
              <a:ln>
                <a:noFill/>
              </a:ln>
              <a:solidFill>
                <a:schemeClr val="tx1"/>
              </a:solidFill>
              <a:effectLst/>
            </a:endParaRPr>
          </a:p>
        </p:txBody>
      </p:sp>
      <p:pic>
        <p:nvPicPr>
          <p:cNvPr id="4" name="Picture 3" descr="Innomatics Technology Hub in JNTU, Kukatpally, Hyderabad">
            <a:extLst>
              <a:ext uri="{FF2B5EF4-FFF2-40B4-BE49-F238E27FC236}">
                <a16:creationId xmlns:a16="http://schemas.microsoft.com/office/drawing/2014/main" id="{3E5BC1AB-0AF9-43EC-3380-6B28CDCE3A83}"/>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3"/>
        <p:cNvGrpSpPr/>
        <p:nvPr/>
      </p:nvGrpSpPr>
      <p:grpSpPr>
        <a:xfrm>
          <a:off x="0" y="0"/>
          <a:ext cx="0" cy="0"/>
          <a:chOff x="0" y="0"/>
          <a:chExt cx="0" cy="0"/>
        </a:xfrm>
      </p:grpSpPr>
      <p:sp>
        <p:nvSpPr>
          <p:cNvPr id="724" name="Google Shape;724;p84"/>
          <p:cNvSpPr txBox="1">
            <a:spLocks noGrp="1"/>
          </p:cNvSpPr>
          <p:nvPr>
            <p:ph type="title"/>
          </p:nvPr>
        </p:nvSpPr>
        <p:spPr>
          <a:xfrm>
            <a:off x="547572" y="715185"/>
            <a:ext cx="2557436" cy="572700"/>
          </a:xfrm>
          <a:prstGeom prst="rect">
            <a:avLst/>
          </a:prstGeom>
        </p:spPr>
        <p:txBody>
          <a:bodyPr spcFirstLastPara="1" wrap="square" lIns="91425" tIns="91425" rIns="91425" bIns="91425" anchor="t" anchorCtr="0">
            <a:noAutofit/>
          </a:bodyPr>
          <a:lstStyle/>
          <a:p>
            <a:r>
              <a:rPr lang="en" dirty="0"/>
              <a:t>Scatter Plot</a:t>
            </a:r>
          </a:p>
        </p:txBody>
      </p:sp>
      <p:sp>
        <p:nvSpPr>
          <p:cNvPr id="728" name="Google Shape;728;p84"/>
          <p:cNvSpPr txBox="1"/>
          <p:nvPr/>
        </p:nvSpPr>
        <p:spPr>
          <a:xfrm flipH="1">
            <a:off x="5589626" y="1149040"/>
            <a:ext cx="2792243" cy="2399360"/>
          </a:xfrm>
          <a:prstGeom prst="rect">
            <a:avLst/>
          </a:prstGeom>
          <a:noFill/>
          <a:ln>
            <a:noFill/>
          </a:ln>
        </p:spPr>
        <p:txBody>
          <a:bodyPr spcFirstLastPara="1" wrap="square" lIns="91425" tIns="91425" rIns="91425" bIns="91425" anchor="t" anchorCtr="0">
            <a:noAutofit/>
          </a:bodyPr>
          <a:lstStyle/>
          <a:p>
            <a:pPr marL="0" lvl="0" indent="0" algn="l">
              <a:spcBef>
                <a:spcPts val="0"/>
              </a:spcBef>
              <a:spcAft>
                <a:spcPts val="0"/>
              </a:spcAft>
              <a:buNone/>
            </a:pPr>
            <a:endParaRPr lang="en">
              <a:solidFill>
                <a:schemeClr val="dk2"/>
              </a:solidFill>
              <a:latin typeface="Montserrat"/>
              <a:ea typeface="Montserrat"/>
              <a:cs typeface="Montserrat"/>
            </a:endParaRPr>
          </a:p>
        </p:txBody>
      </p:sp>
      <p:sp>
        <p:nvSpPr>
          <p:cNvPr id="3" name="TextBox 2">
            <a:extLst>
              <a:ext uri="{FF2B5EF4-FFF2-40B4-BE49-F238E27FC236}">
                <a16:creationId xmlns:a16="http://schemas.microsoft.com/office/drawing/2014/main" id="{B0553BA8-6F3F-D593-F0EE-B730E4831C12}"/>
              </a:ext>
            </a:extLst>
          </p:cNvPr>
          <p:cNvSpPr txBox="1"/>
          <p:nvPr/>
        </p:nvSpPr>
        <p:spPr>
          <a:xfrm>
            <a:off x="546287" y="327772"/>
            <a:ext cx="2398302"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latin typeface="Vidaloka"/>
              </a:rPr>
              <a:t>Bivariate</a:t>
            </a:r>
          </a:p>
          <a:p>
            <a:pPr algn="ctr"/>
            <a:endParaRPr lang="en-US"/>
          </a:p>
        </p:txBody>
      </p:sp>
      <p:pic>
        <p:nvPicPr>
          <p:cNvPr id="5" name="Picture 4">
            <a:extLst>
              <a:ext uri="{FF2B5EF4-FFF2-40B4-BE49-F238E27FC236}">
                <a16:creationId xmlns:a16="http://schemas.microsoft.com/office/drawing/2014/main" id="{D339615C-F1E4-1C0D-8171-3012D0CFEC63}"/>
              </a:ext>
            </a:extLst>
          </p:cNvPr>
          <p:cNvPicPr>
            <a:picLocks noChangeAspect="1"/>
          </p:cNvPicPr>
          <p:nvPr/>
        </p:nvPicPr>
        <p:blipFill>
          <a:blip r:embed="rId3"/>
          <a:stretch>
            <a:fillRect/>
          </a:stretch>
        </p:blipFill>
        <p:spPr>
          <a:xfrm>
            <a:off x="336550" y="1339851"/>
            <a:ext cx="4070350" cy="2882900"/>
          </a:xfrm>
          <a:prstGeom prst="rect">
            <a:avLst/>
          </a:prstGeom>
        </p:spPr>
      </p:pic>
      <p:sp>
        <p:nvSpPr>
          <p:cNvPr id="6" name="Rectangle 1">
            <a:extLst>
              <a:ext uri="{FF2B5EF4-FFF2-40B4-BE49-F238E27FC236}">
                <a16:creationId xmlns:a16="http://schemas.microsoft.com/office/drawing/2014/main" id="{9998DC97-2911-B466-7DEB-A5051D8C1245}"/>
              </a:ext>
            </a:extLst>
          </p:cNvPr>
          <p:cNvSpPr>
            <a:spLocks noChangeArrowheads="1"/>
          </p:cNvSpPr>
          <p:nvPr/>
        </p:nvSpPr>
        <p:spPr bwMode="auto">
          <a:xfrm>
            <a:off x="4722014" y="975795"/>
            <a:ext cx="3663939" cy="3147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Montserrat"/>
              </a:rPr>
              <a:t>Most products are designed for common room sizes (90–200 </a:t>
            </a:r>
            <a:r>
              <a:rPr kumimoji="0" lang="en-US" altLang="en-US" i="0" u="none" strike="noStrike" cap="none" normalizeH="0" baseline="0" err="1">
                <a:ln>
                  <a:noFill/>
                </a:ln>
                <a:solidFill>
                  <a:schemeClr val="tx1"/>
                </a:solidFill>
                <a:effectLst/>
                <a:latin typeface="Montserrat"/>
              </a:rPr>
              <a:t>sq.ft</a:t>
            </a:r>
            <a:r>
              <a:rPr kumimoji="0" lang="en-US" altLang="en-US" i="0" u="none" strike="noStrike" cap="none" normalizeH="0" baseline="0" dirty="0">
                <a:ln>
                  <a:noFill/>
                </a:ln>
                <a:solidFill>
                  <a:schemeClr val="tx1"/>
                </a:solidFill>
                <a:effectLst/>
                <a:latin typeface="Montserrat"/>
              </a:rPr>
              <a:t>) with moderate power consumption. </a:t>
            </a:r>
            <a:endParaRPr lang="en-US" altLang="en-US"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Montserrat"/>
              </a:rPr>
              <a:t>A few high power outliers indicate heavy-duty models.</a:t>
            </a:r>
            <a:endParaRPr lang="en-US" altLang="en-US"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Montserrat"/>
              </a:rPr>
              <a:t>There is a positive relationship between room size and power usage.</a:t>
            </a:r>
            <a:endParaRPr lang="en-US" altLang="en-US"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Montserrat"/>
              </a:rPr>
              <a:t>Overall, power usage scales with room size but not in a perfectly linear way.</a:t>
            </a:r>
            <a:endParaRPr lang="en-US" altLang="en-US" i="0" u="none" strike="noStrike" cap="none" normalizeH="0" baseline="0" dirty="0">
              <a:ln>
                <a:noFill/>
              </a:ln>
              <a:solidFill>
                <a:schemeClr val="tx1"/>
              </a:solidFill>
              <a:effectLst/>
              <a:latin typeface="Montserrat"/>
            </a:endParaRPr>
          </a:p>
        </p:txBody>
      </p:sp>
      <p:pic>
        <p:nvPicPr>
          <p:cNvPr id="4" name="Picture 3" descr="Innomatics Technology Hub in JNTU, Kukatpally, Hyderabad">
            <a:extLst>
              <a:ext uri="{FF2B5EF4-FFF2-40B4-BE49-F238E27FC236}">
                <a16:creationId xmlns:a16="http://schemas.microsoft.com/office/drawing/2014/main" id="{D151BAD7-3EB2-8895-B23D-3BD96938E999}"/>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2"/>
        <p:cNvGrpSpPr/>
        <p:nvPr/>
      </p:nvGrpSpPr>
      <p:grpSpPr>
        <a:xfrm>
          <a:off x="0" y="0"/>
          <a:ext cx="0" cy="0"/>
          <a:chOff x="0" y="0"/>
          <a:chExt cx="0" cy="0"/>
        </a:xfrm>
      </p:grpSpPr>
      <p:sp>
        <p:nvSpPr>
          <p:cNvPr id="743" name="Google Shape;743;p85"/>
          <p:cNvSpPr txBox="1">
            <a:spLocks noGrp="1"/>
          </p:cNvSpPr>
          <p:nvPr>
            <p:ph type="title"/>
          </p:nvPr>
        </p:nvSpPr>
        <p:spPr>
          <a:xfrm>
            <a:off x="656343" y="446365"/>
            <a:ext cx="2043914" cy="572700"/>
          </a:xfrm>
          <a:prstGeom prst="rect">
            <a:avLst/>
          </a:prstGeom>
        </p:spPr>
        <p:txBody>
          <a:bodyPr spcFirstLastPara="1" wrap="square" lIns="91425" tIns="91425" rIns="91425" bIns="91425" anchor="t" anchorCtr="0">
            <a:noAutofit/>
          </a:bodyPr>
          <a:lstStyle/>
          <a:p>
            <a:r>
              <a:rPr lang="en"/>
              <a:t>Line Plot</a:t>
            </a:r>
          </a:p>
        </p:txBody>
      </p:sp>
      <p:sp>
        <p:nvSpPr>
          <p:cNvPr id="750" name="Google Shape;750;p85"/>
          <p:cNvSpPr txBox="1"/>
          <p:nvPr/>
        </p:nvSpPr>
        <p:spPr>
          <a:xfrm>
            <a:off x="4826001" y="1117601"/>
            <a:ext cx="3379663" cy="3061074"/>
          </a:xfrm>
          <a:prstGeom prst="rect">
            <a:avLst/>
          </a:prstGeom>
          <a:noFill/>
          <a:ln>
            <a:noFill/>
          </a:ln>
        </p:spPr>
        <p:txBody>
          <a:bodyPr spcFirstLastPara="1" wrap="square" lIns="91425" tIns="91425" rIns="91425" bIns="91425" anchor="t" anchorCtr="0">
            <a:noAutofit/>
          </a:bodyPr>
          <a:lstStyle/>
          <a:p>
            <a:pPr marL="285750" indent="-285750" algn="just">
              <a:spcAft>
                <a:spcPts val="500"/>
              </a:spcAft>
              <a:buFont typeface="Arial" panose="020B0604020202020204" pitchFamily="34" charset="0"/>
              <a:buChar char="•"/>
            </a:pPr>
            <a:r>
              <a:rPr lang="en-US" dirty="0">
                <a:latin typeface="Montserrat"/>
              </a:rPr>
              <a:t>Clear upward trend: price rises with increase in tons.</a:t>
            </a:r>
            <a:endParaRPr lang="en-US"/>
          </a:p>
          <a:p>
            <a:pPr marL="285750" indent="-285750" algn="just">
              <a:spcAft>
                <a:spcPts val="500"/>
              </a:spcAft>
              <a:buFont typeface="Arial" panose="020B0604020202020204" pitchFamily="34" charset="0"/>
              <a:buChar char="•"/>
            </a:pPr>
            <a:r>
              <a:rPr lang="en-US" dirty="0">
                <a:latin typeface="Montserrat"/>
              </a:rPr>
              <a:t>0.5–1.2 tons fall in the lower price range.</a:t>
            </a:r>
          </a:p>
          <a:p>
            <a:pPr marL="285750" indent="-285750" algn="just">
              <a:spcAft>
                <a:spcPts val="500"/>
              </a:spcAft>
              <a:buFont typeface="Arial" panose="020B0604020202020204" pitchFamily="34" charset="0"/>
              <a:buChar char="•"/>
            </a:pPr>
            <a:r>
              <a:rPr lang="en-US" dirty="0">
                <a:latin typeface="Montserrat"/>
              </a:rPr>
              <a:t>1.5–2 tons show a noticeable price jump.</a:t>
            </a:r>
          </a:p>
          <a:p>
            <a:pPr marL="285750" indent="-285750" algn="just">
              <a:spcAft>
                <a:spcPts val="500"/>
              </a:spcAft>
              <a:buFont typeface="Arial" panose="020B0604020202020204" pitchFamily="34" charset="0"/>
              <a:buChar char="•"/>
            </a:pPr>
            <a:r>
              <a:rPr lang="en-US" dirty="0">
                <a:latin typeface="Montserrat"/>
              </a:rPr>
              <a:t>Above 2 tons are the highest priced models.</a:t>
            </a:r>
          </a:p>
          <a:p>
            <a:pPr marL="285750" indent="-285750" algn="just">
              <a:spcAft>
                <a:spcPts val="500"/>
              </a:spcAft>
              <a:buFont typeface="Arial" panose="020B0604020202020204" pitchFamily="34" charset="0"/>
              <a:buChar char="•"/>
            </a:pPr>
            <a:r>
              <a:rPr lang="en-US" dirty="0">
                <a:latin typeface="Montserrat"/>
              </a:rPr>
              <a:t>Minor fluctuations, but the overall pattern is increasing.</a:t>
            </a:r>
          </a:p>
        </p:txBody>
      </p:sp>
      <p:pic>
        <p:nvPicPr>
          <p:cNvPr id="4" name="Picture 3">
            <a:extLst>
              <a:ext uri="{FF2B5EF4-FFF2-40B4-BE49-F238E27FC236}">
                <a16:creationId xmlns:a16="http://schemas.microsoft.com/office/drawing/2014/main" id="{7FE5C4C1-5B80-E5E1-F6FA-5F436162EB50}"/>
              </a:ext>
            </a:extLst>
          </p:cNvPr>
          <p:cNvPicPr>
            <a:picLocks noChangeAspect="1"/>
          </p:cNvPicPr>
          <p:nvPr/>
        </p:nvPicPr>
        <p:blipFill>
          <a:blip r:embed="rId3"/>
          <a:stretch>
            <a:fillRect/>
          </a:stretch>
        </p:blipFill>
        <p:spPr>
          <a:xfrm>
            <a:off x="425450" y="1017128"/>
            <a:ext cx="4051300" cy="3046873"/>
          </a:xfrm>
          <a:prstGeom prst="rect">
            <a:avLst/>
          </a:prstGeom>
        </p:spPr>
      </p:pic>
      <p:pic>
        <p:nvPicPr>
          <p:cNvPr id="3" name="Picture 2" descr="Innomatics Technology Hub in JNTU, Kukatpally, Hyderabad">
            <a:extLst>
              <a:ext uri="{FF2B5EF4-FFF2-40B4-BE49-F238E27FC236}">
                <a16:creationId xmlns:a16="http://schemas.microsoft.com/office/drawing/2014/main" id="{7C3DC8E4-1596-D579-C7AB-73A3D6AD1893}"/>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7"/>
        <p:cNvGrpSpPr/>
        <p:nvPr/>
      </p:nvGrpSpPr>
      <p:grpSpPr>
        <a:xfrm>
          <a:off x="0" y="0"/>
          <a:ext cx="0" cy="0"/>
          <a:chOff x="0" y="0"/>
          <a:chExt cx="0" cy="0"/>
        </a:xfrm>
      </p:grpSpPr>
      <p:sp>
        <p:nvSpPr>
          <p:cNvPr id="768" name="Google Shape;768;p86"/>
          <p:cNvSpPr txBox="1">
            <a:spLocks noGrp="1"/>
          </p:cNvSpPr>
          <p:nvPr>
            <p:ph type="title"/>
          </p:nvPr>
        </p:nvSpPr>
        <p:spPr>
          <a:xfrm>
            <a:off x="531008" y="362199"/>
            <a:ext cx="1770587" cy="572700"/>
          </a:xfrm>
          <a:prstGeom prst="rect">
            <a:avLst/>
          </a:prstGeom>
        </p:spPr>
        <p:txBody>
          <a:bodyPr spcFirstLastPara="1" wrap="square" lIns="91425" tIns="91425" rIns="91425" bIns="91425" anchor="t" anchorCtr="0">
            <a:noAutofit/>
          </a:bodyPr>
          <a:lstStyle/>
          <a:p>
            <a:r>
              <a:rPr lang="en"/>
              <a:t>Box Plot</a:t>
            </a:r>
          </a:p>
        </p:txBody>
      </p:sp>
      <p:sp>
        <p:nvSpPr>
          <p:cNvPr id="3" name="TextBox 2">
            <a:extLst>
              <a:ext uri="{FF2B5EF4-FFF2-40B4-BE49-F238E27FC236}">
                <a16:creationId xmlns:a16="http://schemas.microsoft.com/office/drawing/2014/main" id="{67F0C9AA-637B-83F5-DDCC-A1299B935EE4}"/>
              </a:ext>
            </a:extLst>
          </p:cNvPr>
          <p:cNvSpPr txBox="1"/>
          <p:nvPr/>
        </p:nvSpPr>
        <p:spPr>
          <a:xfrm>
            <a:off x="5630841" y="931195"/>
            <a:ext cx="317389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br>
            <a:endParaRPr lang="en-US"/>
          </a:p>
          <a:p>
            <a:pPr algn="l"/>
            <a:endParaRPr lang="en-US"/>
          </a:p>
        </p:txBody>
      </p:sp>
      <p:pic>
        <p:nvPicPr>
          <p:cNvPr id="5" name="Picture 4">
            <a:extLst>
              <a:ext uri="{FF2B5EF4-FFF2-40B4-BE49-F238E27FC236}">
                <a16:creationId xmlns:a16="http://schemas.microsoft.com/office/drawing/2014/main" id="{A9BBA999-6D53-73A5-1249-42D7DC7F29A1}"/>
              </a:ext>
            </a:extLst>
          </p:cNvPr>
          <p:cNvPicPr>
            <a:picLocks noChangeAspect="1"/>
          </p:cNvPicPr>
          <p:nvPr/>
        </p:nvPicPr>
        <p:blipFill>
          <a:blip r:embed="rId3"/>
          <a:stretch>
            <a:fillRect/>
          </a:stretch>
        </p:blipFill>
        <p:spPr>
          <a:xfrm>
            <a:off x="285750" y="1085849"/>
            <a:ext cx="4705350" cy="3568701"/>
          </a:xfrm>
          <a:prstGeom prst="rect">
            <a:avLst/>
          </a:prstGeom>
        </p:spPr>
      </p:pic>
      <p:sp>
        <p:nvSpPr>
          <p:cNvPr id="6" name="Rectangle 1">
            <a:extLst>
              <a:ext uri="{FF2B5EF4-FFF2-40B4-BE49-F238E27FC236}">
                <a16:creationId xmlns:a16="http://schemas.microsoft.com/office/drawing/2014/main" id="{DF86063C-4474-0CE6-CE97-A247A5909C6F}"/>
              </a:ext>
            </a:extLst>
          </p:cNvPr>
          <p:cNvSpPr>
            <a:spLocks noChangeArrowheads="1"/>
          </p:cNvSpPr>
          <p:nvPr/>
        </p:nvSpPr>
        <p:spPr bwMode="auto">
          <a:xfrm rot="10800000" flipV="1">
            <a:off x="5206623" y="1220983"/>
            <a:ext cx="2913158" cy="2749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0" i="0" u="none" strike="noStrike" cap="none" normalizeH="0" baseline="0" dirty="0">
                <a:ln>
                  <a:noFill/>
                </a:ln>
                <a:solidFill>
                  <a:schemeClr val="tx1"/>
                </a:solidFill>
                <a:effectLst/>
                <a:latin typeface="Montserrat"/>
              </a:rPr>
              <a:t>Prices differ </a:t>
            </a:r>
            <a:r>
              <a:rPr kumimoji="0" lang="en-US" altLang="en-US" i="0" u="none" strike="noStrike" cap="none" normalizeH="0" baseline="0" dirty="0">
                <a:ln>
                  <a:noFill/>
                </a:ln>
                <a:solidFill>
                  <a:schemeClr val="tx1"/>
                </a:solidFill>
                <a:effectLst/>
                <a:latin typeface="Montserrat"/>
              </a:rPr>
              <a:t>widely by brand</a:t>
            </a:r>
            <a:r>
              <a:rPr kumimoji="0" lang="en-US" altLang="en-US" b="0" i="0" u="none" strike="noStrike" cap="none" normalizeH="0" baseline="0" dirty="0">
                <a:ln>
                  <a:noFill/>
                </a:ln>
                <a:solidFill>
                  <a:schemeClr val="tx1"/>
                </a:solidFill>
                <a:effectLst/>
                <a:latin typeface="Montserrat"/>
              </a:rPr>
              <a:t>.</a:t>
            </a:r>
            <a:endParaRPr lang="en-US">
              <a:solidFill>
                <a:schemeClr val="tx1"/>
              </a:solidFill>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0" i="0" u="none" strike="noStrike" cap="none" normalizeH="0" baseline="0" dirty="0">
                <a:ln>
                  <a:noFill/>
                </a:ln>
                <a:solidFill>
                  <a:schemeClr val="tx1"/>
                </a:solidFill>
                <a:effectLst/>
                <a:latin typeface="Montserrat"/>
              </a:rPr>
              <a:t>Some brands show </a:t>
            </a:r>
            <a:r>
              <a:rPr kumimoji="0" lang="en-US" altLang="en-US" i="0" u="none" strike="noStrike" cap="none" normalizeH="0" baseline="0" dirty="0">
                <a:ln>
                  <a:noFill/>
                </a:ln>
                <a:solidFill>
                  <a:schemeClr val="tx1"/>
                </a:solidFill>
                <a:effectLst/>
                <a:latin typeface="Montserrat"/>
              </a:rPr>
              <a:t>higher median prices</a:t>
            </a:r>
            <a:r>
              <a:rPr kumimoji="0" lang="en-US" altLang="en-US" b="0" i="0" u="none" strike="noStrike" cap="none" normalizeH="0" baseline="0" dirty="0">
                <a:ln>
                  <a:noFill/>
                </a:ln>
                <a:solidFill>
                  <a:schemeClr val="tx1"/>
                </a:solidFill>
                <a:effectLst/>
                <a:latin typeface="Montserrat"/>
              </a:rPr>
              <a:t> (premium).</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0" i="0" u="none" strike="noStrike" cap="none" normalizeH="0" baseline="0" dirty="0">
                <a:ln>
                  <a:noFill/>
                </a:ln>
                <a:solidFill>
                  <a:schemeClr val="tx1"/>
                </a:solidFill>
                <a:effectLst/>
                <a:latin typeface="Montserrat"/>
              </a:rPr>
              <a:t>Few brands have </a:t>
            </a:r>
            <a:r>
              <a:rPr kumimoji="0" lang="en-US" altLang="en-US" i="0" u="none" strike="noStrike" cap="none" normalizeH="0" baseline="0" dirty="0">
                <a:ln>
                  <a:noFill/>
                </a:ln>
                <a:solidFill>
                  <a:schemeClr val="tx1"/>
                </a:solidFill>
                <a:effectLst/>
                <a:latin typeface="Montserrat"/>
              </a:rPr>
              <a:t>wide price ranges</a:t>
            </a:r>
            <a:r>
              <a:rPr kumimoji="0" lang="en-US" altLang="en-US" b="0" i="0" u="none" strike="noStrike" cap="none" normalizeH="0" baseline="0" dirty="0">
                <a:ln>
                  <a:noFill/>
                </a:ln>
                <a:solidFill>
                  <a:schemeClr val="tx1"/>
                </a:solidFill>
                <a:effectLst/>
                <a:latin typeface="Montserrat"/>
              </a:rPr>
              <a:t> (budget to high-end).</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0" i="0" u="none" strike="noStrike" cap="none" normalizeH="0" baseline="0" dirty="0">
                <a:ln>
                  <a:noFill/>
                </a:ln>
                <a:solidFill>
                  <a:schemeClr val="tx1"/>
                </a:solidFill>
                <a:effectLst/>
                <a:latin typeface="Montserrat"/>
              </a:rPr>
              <a:t>Outliers show </a:t>
            </a:r>
            <a:r>
              <a:rPr kumimoji="0" lang="en-US" altLang="en-US" i="0" u="none" strike="noStrike" cap="none" normalizeH="0" baseline="0" dirty="0">
                <a:ln>
                  <a:noFill/>
                </a:ln>
                <a:solidFill>
                  <a:schemeClr val="tx1"/>
                </a:solidFill>
                <a:effectLst/>
                <a:latin typeface="Montserrat"/>
              </a:rPr>
              <a:t>very high-priced models</a:t>
            </a:r>
            <a:r>
              <a:rPr kumimoji="0" lang="en-US" altLang="en-US" b="0" i="0" u="none" strike="noStrike" cap="none" normalizeH="0" baseline="0" dirty="0">
                <a:ln>
                  <a:noFill/>
                </a:ln>
                <a:solidFill>
                  <a:schemeClr val="tx1"/>
                </a:solidFill>
                <a:effectLst/>
                <a:latin typeface="Montserrat"/>
              </a:rPr>
              <a:t>.</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i="0" u="none" strike="noStrike" cap="none" normalizeH="0" baseline="0" dirty="0">
                <a:ln>
                  <a:noFill/>
                </a:ln>
                <a:solidFill>
                  <a:schemeClr val="tx1"/>
                </a:solidFill>
                <a:effectLst/>
                <a:latin typeface="Montserrat"/>
              </a:rPr>
              <a:t>Brand strongly influences price</a:t>
            </a:r>
            <a:r>
              <a:rPr kumimoji="0" lang="en-US" altLang="en-US" sz="1600" b="0" i="0" u="none" strike="noStrike" cap="none" normalizeH="0" baseline="0" dirty="0">
                <a:ln>
                  <a:noFill/>
                </a:ln>
                <a:solidFill>
                  <a:schemeClr val="tx1"/>
                </a:solidFill>
                <a:effectLst/>
              </a:rPr>
              <a:t>.</a:t>
            </a:r>
            <a:endParaRPr lang="en-US" altLang="en-US" sz="1600" b="0" i="0" u="none" strike="noStrike" cap="none" normalizeH="0" baseline="0" dirty="0">
              <a:ln>
                <a:noFill/>
              </a:ln>
              <a:solidFill>
                <a:schemeClr val="tx1"/>
              </a:solidFill>
              <a:effectLst/>
            </a:endParaRPr>
          </a:p>
        </p:txBody>
      </p:sp>
      <p:pic>
        <p:nvPicPr>
          <p:cNvPr id="4" name="Picture 3" descr="Innomatics Technology Hub in JNTU, Kukatpally, Hyderabad">
            <a:extLst>
              <a:ext uri="{FF2B5EF4-FFF2-40B4-BE49-F238E27FC236}">
                <a16:creationId xmlns:a16="http://schemas.microsoft.com/office/drawing/2014/main" id="{3D669175-DCB2-B535-EC9A-D231FFAE6F0D}"/>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3"/>
        <p:cNvGrpSpPr/>
        <p:nvPr/>
      </p:nvGrpSpPr>
      <p:grpSpPr>
        <a:xfrm>
          <a:off x="0" y="0"/>
          <a:ext cx="0" cy="0"/>
          <a:chOff x="0" y="0"/>
          <a:chExt cx="0" cy="0"/>
        </a:xfrm>
      </p:grpSpPr>
      <p:sp>
        <p:nvSpPr>
          <p:cNvPr id="814" name="Google Shape;814;p87"/>
          <p:cNvSpPr txBox="1">
            <a:spLocks noGrp="1"/>
          </p:cNvSpPr>
          <p:nvPr>
            <p:ph type="title"/>
          </p:nvPr>
        </p:nvSpPr>
        <p:spPr>
          <a:xfrm>
            <a:off x="612372" y="335768"/>
            <a:ext cx="2397508" cy="572700"/>
          </a:xfrm>
          <a:prstGeom prst="rect">
            <a:avLst/>
          </a:prstGeom>
        </p:spPr>
        <p:txBody>
          <a:bodyPr spcFirstLastPara="1" wrap="square" lIns="91425" tIns="91425" rIns="91425" bIns="91425" anchor="t" anchorCtr="0">
            <a:noAutofit/>
          </a:bodyPr>
          <a:lstStyle/>
          <a:p>
            <a:pPr>
              <a:buSzPts val="1100"/>
            </a:pPr>
            <a:r>
              <a:rPr lang="en" dirty="0"/>
              <a:t>Violin Plot</a:t>
            </a:r>
          </a:p>
        </p:txBody>
      </p:sp>
      <p:sp>
        <p:nvSpPr>
          <p:cNvPr id="837" name="Google Shape;837;p87"/>
          <p:cNvSpPr txBox="1"/>
          <p:nvPr/>
        </p:nvSpPr>
        <p:spPr>
          <a:xfrm>
            <a:off x="4438650" y="1028700"/>
            <a:ext cx="3602016" cy="3000748"/>
          </a:xfrm>
          <a:prstGeom prst="rect">
            <a:avLst/>
          </a:prstGeom>
          <a:noFill/>
          <a:ln>
            <a:noFill/>
          </a:ln>
        </p:spPr>
        <p:txBody>
          <a:bodyPr spcFirstLastPara="1" wrap="square" lIns="91425" tIns="91425" rIns="91425" bIns="91425" anchor="t" anchorCtr="0">
            <a:noAutofit/>
          </a:bodyPr>
          <a:lstStyle/>
          <a:p>
            <a:pPr marL="285750" indent="-285750" algn="just">
              <a:spcAft>
                <a:spcPts val="500"/>
              </a:spcAft>
              <a:buFont typeface="Arial" panose="020B0604020202020204" pitchFamily="34" charset="0"/>
              <a:buChar char="•"/>
            </a:pPr>
            <a:r>
              <a:rPr lang="en-US" dirty="0">
                <a:latin typeface="Montserrat"/>
              </a:rPr>
              <a:t>Products with longer warranties tend to have higher and more consistent prices.</a:t>
            </a:r>
            <a:endParaRPr lang="en-US"/>
          </a:p>
          <a:p>
            <a:pPr marL="285750" indent="-285750" algn="just">
              <a:spcAft>
                <a:spcPts val="500"/>
              </a:spcAft>
              <a:buFont typeface="Arial" panose="020B0604020202020204" pitchFamily="34" charset="0"/>
              <a:buChar char="•"/>
            </a:pPr>
            <a:r>
              <a:rPr lang="en-US" dirty="0">
                <a:latin typeface="Montserrat"/>
              </a:rPr>
              <a:t>1-year warranty items show the widest price variation.</a:t>
            </a:r>
          </a:p>
          <a:p>
            <a:pPr marL="285750" indent="-285750" algn="just">
              <a:spcAft>
                <a:spcPts val="500"/>
              </a:spcAft>
              <a:buFont typeface="Arial" panose="020B0604020202020204" pitchFamily="34" charset="0"/>
              <a:buChar char="•"/>
            </a:pPr>
            <a:r>
              <a:rPr lang="en-US" dirty="0">
                <a:latin typeface="Montserrat"/>
              </a:rPr>
              <a:t>2-year and 10-year warranties fall in a stable mid-to-high price range.</a:t>
            </a:r>
          </a:p>
          <a:p>
            <a:pPr marL="285750" indent="-285750" algn="just">
              <a:spcAft>
                <a:spcPts val="500"/>
              </a:spcAft>
              <a:buFont typeface="Arial" panose="020B0604020202020204" pitchFamily="34" charset="0"/>
              <a:buChar char="•"/>
            </a:pPr>
            <a:r>
              <a:rPr lang="en-US" dirty="0">
                <a:latin typeface="Montserrat"/>
              </a:rPr>
              <a:t>Overall, warranty length has a noticeable influence on price.</a:t>
            </a:r>
          </a:p>
        </p:txBody>
      </p:sp>
      <p:pic>
        <p:nvPicPr>
          <p:cNvPr id="4" name="Picture 3">
            <a:extLst>
              <a:ext uri="{FF2B5EF4-FFF2-40B4-BE49-F238E27FC236}">
                <a16:creationId xmlns:a16="http://schemas.microsoft.com/office/drawing/2014/main" id="{E973BD69-1569-9027-4179-8FE71E1005D8}"/>
              </a:ext>
            </a:extLst>
          </p:cNvPr>
          <p:cNvPicPr>
            <a:picLocks noChangeAspect="1"/>
          </p:cNvPicPr>
          <p:nvPr/>
        </p:nvPicPr>
        <p:blipFill>
          <a:blip r:embed="rId3"/>
          <a:stretch>
            <a:fillRect/>
          </a:stretch>
        </p:blipFill>
        <p:spPr>
          <a:xfrm>
            <a:off x="292101" y="908468"/>
            <a:ext cx="3917949" cy="3530182"/>
          </a:xfrm>
          <a:prstGeom prst="rect">
            <a:avLst/>
          </a:prstGeom>
        </p:spPr>
      </p:pic>
      <p:pic>
        <p:nvPicPr>
          <p:cNvPr id="3" name="Picture 2" descr="Innomatics Technology Hub in JNTU, Kukatpally, Hyderabad">
            <a:extLst>
              <a:ext uri="{FF2B5EF4-FFF2-40B4-BE49-F238E27FC236}">
                <a16:creationId xmlns:a16="http://schemas.microsoft.com/office/drawing/2014/main" id="{6C80CC38-9FF3-547E-88F1-86C3E14EE476}"/>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9"/>
        <p:cNvGrpSpPr/>
        <p:nvPr/>
      </p:nvGrpSpPr>
      <p:grpSpPr>
        <a:xfrm>
          <a:off x="0" y="0"/>
          <a:ext cx="0" cy="0"/>
          <a:chOff x="0" y="0"/>
          <a:chExt cx="0" cy="0"/>
        </a:xfrm>
      </p:grpSpPr>
      <p:sp>
        <p:nvSpPr>
          <p:cNvPr id="870" name="Google Shape;870;p88"/>
          <p:cNvSpPr txBox="1">
            <a:spLocks noGrp="1"/>
          </p:cNvSpPr>
          <p:nvPr>
            <p:ph type="title"/>
          </p:nvPr>
        </p:nvSpPr>
        <p:spPr>
          <a:xfrm>
            <a:off x="720703" y="500154"/>
            <a:ext cx="3123000" cy="581491"/>
          </a:xfrm>
          <a:prstGeom prst="rect">
            <a:avLst/>
          </a:prstGeom>
        </p:spPr>
        <p:txBody>
          <a:bodyPr spcFirstLastPara="1" wrap="square" lIns="91425" tIns="91425" rIns="91425" bIns="91425" anchor="t" anchorCtr="0">
            <a:noAutofit/>
          </a:bodyPr>
          <a:lstStyle/>
          <a:p>
            <a:r>
              <a:rPr lang="en" sz="3000" dirty="0"/>
              <a:t>Bar Plot</a:t>
            </a:r>
          </a:p>
        </p:txBody>
      </p:sp>
      <p:sp>
        <p:nvSpPr>
          <p:cNvPr id="871" name="Google Shape;871;p88"/>
          <p:cNvSpPr txBox="1">
            <a:spLocks noGrp="1"/>
          </p:cNvSpPr>
          <p:nvPr>
            <p:ph type="subTitle" idx="1"/>
          </p:nvPr>
        </p:nvSpPr>
        <p:spPr>
          <a:xfrm>
            <a:off x="5181600" y="1285170"/>
            <a:ext cx="3557127" cy="3051879"/>
          </a:xfrm>
          <a:prstGeom prst="rect">
            <a:avLst/>
          </a:prstGeom>
        </p:spPr>
        <p:txBody>
          <a:bodyPr spcFirstLastPara="1" wrap="square" lIns="91425" tIns="91425" rIns="91425" bIns="91425" anchor="t" anchorCtr="0">
            <a:noAutofit/>
          </a:bodyPr>
          <a:lstStyle/>
          <a:p>
            <a:pPr marL="0" indent="0">
              <a:buNone/>
            </a:pPr>
            <a:endParaRPr lang="en-US" sz="1600"/>
          </a:p>
          <a:p>
            <a:pPr marL="0" lvl="0" indent="0" algn="l">
              <a:spcBef>
                <a:spcPts val="0"/>
              </a:spcBef>
              <a:spcAft>
                <a:spcPts val="1000"/>
              </a:spcAft>
              <a:buNone/>
            </a:pPr>
            <a:endParaRPr lang="en"/>
          </a:p>
        </p:txBody>
      </p:sp>
      <p:pic>
        <p:nvPicPr>
          <p:cNvPr id="4" name="Picture 3">
            <a:extLst>
              <a:ext uri="{FF2B5EF4-FFF2-40B4-BE49-F238E27FC236}">
                <a16:creationId xmlns:a16="http://schemas.microsoft.com/office/drawing/2014/main" id="{61D2B9FB-34BC-BFCE-EC3A-D800182E8753}"/>
              </a:ext>
            </a:extLst>
          </p:cNvPr>
          <p:cNvPicPr>
            <a:picLocks noChangeAspect="1"/>
          </p:cNvPicPr>
          <p:nvPr/>
        </p:nvPicPr>
        <p:blipFill>
          <a:blip r:embed="rId3"/>
          <a:stretch>
            <a:fillRect/>
          </a:stretch>
        </p:blipFill>
        <p:spPr>
          <a:xfrm>
            <a:off x="247651" y="1285171"/>
            <a:ext cx="4540249" cy="3382371"/>
          </a:xfrm>
          <a:prstGeom prst="rect">
            <a:avLst/>
          </a:prstGeom>
        </p:spPr>
      </p:pic>
      <p:sp>
        <p:nvSpPr>
          <p:cNvPr id="6" name="TextBox 5">
            <a:extLst>
              <a:ext uri="{FF2B5EF4-FFF2-40B4-BE49-F238E27FC236}">
                <a16:creationId xmlns:a16="http://schemas.microsoft.com/office/drawing/2014/main" id="{0362BBF7-2E42-1D40-BAFC-23B785C58949}"/>
              </a:ext>
            </a:extLst>
          </p:cNvPr>
          <p:cNvSpPr txBox="1"/>
          <p:nvPr/>
        </p:nvSpPr>
        <p:spPr>
          <a:xfrm>
            <a:off x="5178531" y="1194435"/>
            <a:ext cx="3334870" cy="2934137"/>
          </a:xfrm>
          <a:prstGeom prst="rect">
            <a:avLst/>
          </a:prstGeom>
          <a:noFill/>
        </p:spPr>
        <p:txBody>
          <a:bodyPr wrap="square" lIns="91440" tIns="45720" rIns="91440" bIns="45720" anchor="t">
            <a:spAutoFit/>
          </a:bodyPr>
          <a:lstStyle/>
          <a:p>
            <a:pPr algn="just"/>
            <a:endParaRPr lang="en-US" b="1" dirty="0"/>
          </a:p>
          <a:p>
            <a:pPr marL="285750" indent="-285750" algn="just">
              <a:spcAft>
                <a:spcPts val="500"/>
              </a:spcAft>
              <a:buFont typeface="Arial" panose="020B0604020202020204" pitchFamily="34" charset="0"/>
              <a:buChar char="•"/>
            </a:pPr>
            <a:r>
              <a:rPr lang="en-US" dirty="0">
                <a:latin typeface="Montserrat"/>
              </a:rPr>
              <a:t>4-Star models have the highest average price.</a:t>
            </a:r>
          </a:p>
          <a:p>
            <a:pPr marL="285750" indent="-285750" algn="just">
              <a:spcAft>
                <a:spcPts val="500"/>
              </a:spcAft>
              <a:buFont typeface="Arial" panose="020B0604020202020204" pitchFamily="34" charset="0"/>
              <a:buChar char="•"/>
            </a:pPr>
            <a:r>
              <a:rPr lang="en-US" dirty="0">
                <a:latin typeface="Montserrat"/>
              </a:rPr>
              <a:t>1-Star models are the least expensive.</a:t>
            </a:r>
          </a:p>
          <a:p>
            <a:pPr marL="285750" indent="-285750" algn="just">
              <a:spcAft>
                <a:spcPts val="500"/>
              </a:spcAft>
              <a:buFont typeface="Arial" panose="020B0604020202020204" pitchFamily="34" charset="0"/>
              <a:buChar char="•"/>
            </a:pPr>
            <a:r>
              <a:rPr lang="en-US" dirty="0">
                <a:latin typeface="Montserrat"/>
              </a:rPr>
              <a:t>5-Star models are slightly lower than 4-Star but still high-priced.</a:t>
            </a:r>
          </a:p>
          <a:p>
            <a:pPr marL="285750" indent="-285750" algn="just">
              <a:spcAft>
                <a:spcPts val="500"/>
              </a:spcAft>
              <a:buFont typeface="Arial" panose="020B0604020202020204" pitchFamily="34" charset="0"/>
              <a:buChar char="•"/>
            </a:pPr>
            <a:r>
              <a:rPr lang="en-US" dirty="0">
                <a:latin typeface="Montserrat"/>
              </a:rPr>
              <a:t>Average price increases with star rating overall.</a:t>
            </a:r>
          </a:p>
          <a:p>
            <a:pPr marL="285750" indent="-285750" algn="just">
              <a:spcAft>
                <a:spcPts val="500"/>
              </a:spcAft>
              <a:buFont typeface="Arial" panose="020B0604020202020204" pitchFamily="34" charset="0"/>
              <a:buChar char="•"/>
            </a:pPr>
            <a:r>
              <a:rPr lang="en-US" dirty="0">
                <a:latin typeface="Montserrat"/>
              </a:rPr>
              <a:t>Indicates better energy efficiency (higher stars) is associated with higher cost.</a:t>
            </a:r>
          </a:p>
        </p:txBody>
      </p:sp>
      <p:pic>
        <p:nvPicPr>
          <p:cNvPr id="3" name="Picture 2" descr="Innomatics Technology Hub in JNTU, Kukatpally, Hyderabad">
            <a:extLst>
              <a:ext uri="{FF2B5EF4-FFF2-40B4-BE49-F238E27FC236}">
                <a16:creationId xmlns:a16="http://schemas.microsoft.com/office/drawing/2014/main" id="{98018BBA-FBCF-F78F-382A-5BAA425EAB83}"/>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76"/>
        <p:cNvGrpSpPr/>
        <p:nvPr/>
      </p:nvGrpSpPr>
      <p:grpSpPr>
        <a:xfrm>
          <a:off x="0" y="0"/>
          <a:ext cx="0" cy="0"/>
          <a:chOff x="0" y="0"/>
          <a:chExt cx="0" cy="0"/>
        </a:xfrm>
      </p:grpSpPr>
      <p:sp>
        <p:nvSpPr>
          <p:cNvPr id="877" name="Google Shape;877;p89"/>
          <p:cNvSpPr txBox="1">
            <a:spLocks noGrp="1"/>
          </p:cNvSpPr>
          <p:nvPr>
            <p:ph type="title"/>
          </p:nvPr>
        </p:nvSpPr>
        <p:spPr>
          <a:xfrm>
            <a:off x="752079" y="326022"/>
            <a:ext cx="3123000" cy="692087"/>
          </a:xfrm>
          <a:prstGeom prst="rect">
            <a:avLst/>
          </a:prstGeom>
        </p:spPr>
        <p:txBody>
          <a:bodyPr spcFirstLastPara="1" wrap="square" lIns="91425" tIns="91425" rIns="91425" bIns="91425" anchor="t" anchorCtr="0">
            <a:noAutofit/>
          </a:bodyPr>
          <a:lstStyle/>
          <a:p>
            <a:pPr>
              <a:buSzPts val="1100"/>
            </a:pPr>
            <a:r>
              <a:rPr lang="en" sz="3000" dirty="0"/>
              <a:t>Barh Plot</a:t>
            </a:r>
          </a:p>
        </p:txBody>
      </p:sp>
      <p:pic>
        <p:nvPicPr>
          <p:cNvPr id="4" name="Picture 3">
            <a:extLst>
              <a:ext uri="{FF2B5EF4-FFF2-40B4-BE49-F238E27FC236}">
                <a16:creationId xmlns:a16="http://schemas.microsoft.com/office/drawing/2014/main" id="{614D4E4A-6B28-A4FE-8E3F-7982EA67A7C5}"/>
              </a:ext>
            </a:extLst>
          </p:cNvPr>
          <p:cNvPicPr>
            <a:picLocks noChangeAspect="1"/>
          </p:cNvPicPr>
          <p:nvPr/>
        </p:nvPicPr>
        <p:blipFill>
          <a:blip r:embed="rId3"/>
          <a:stretch>
            <a:fillRect/>
          </a:stretch>
        </p:blipFill>
        <p:spPr>
          <a:xfrm>
            <a:off x="387350" y="1018109"/>
            <a:ext cx="4953000" cy="3449380"/>
          </a:xfrm>
          <a:prstGeom prst="rect">
            <a:avLst/>
          </a:prstGeom>
        </p:spPr>
      </p:pic>
      <p:sp>
        <p:nvSpPr>
          <p:cNvPr id="5" name="Rectangle 1">
            <a:extLst>
              <a:ext uri="{FF2B5EF4-FFF2-40B4-BE49-F238E27FC236}">
                <a16:creationId xmlns:a16="http://schemas.microsoft.com/office/drawing/2014/main" id="{436C3835-FFD4-6807-E9E1-EB9B0C563248}"/>
              </a:ext>
            </a:extLst>
          </p:cNvPr>
          <p:cNvSpPr>
            <a:spLocks noGrp="1" noChangeArrowheads="1"/>
          </p:cNvSpPr>
          <p:nvPr>
            <p:ph type="subTitle" idx="1"/>
          </p:nvPr>
        </p:nvSpPr>
        <p:spPr bwMode="auto">
          <a:xfrm>
            <a:off x="5549900" y="1161833"/>
            <a:ext cx="2914831" cy="293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0" i="0" u="none" strike="noStrike" cap="none" normalizeH="0" baseline="0" dirty="0">
                <a:ln>
                  <a:noFill/>
                </a:ln>
                <a:solidFill>
                  <a:schemeClr val="tx1"/>
                </a:solidFill>
                <a:effectLst/>
              </a:rPr>
              <a:t>Brands clearly split into </a:t>
            </a:r>
            <a:r>
              <a:rPr kumimoji="0" lang="en-US" altLang="en-US" i="0" u="none" strike="noStrike" cap="none" normalizeH="0" baseline="0" dirty="0">
                <a:ln>
                  <a:noFill/>
                </a:ln>
                <a:solidFill>
                  <a:schemeClr val="tx1"/>
                </a:solidFill>
                <a:effectLst/>
              </a:rPr>
              <a:t>premium, mid-range, and budget</a:t>
            </a:r>
            <a:r>
              <a:rPr kumimoji="0" lang="en-US" altLang="en-US" b="0" i="0" u="none" strike="noStrike" cap="none" normalizeH="0" baseline="0" dirty="0">
                <a:ln>
                  <a:noFill/>
                </a:ln>
                <a:solidFill>
                  <a:schemeClr val="tx1"/>
                </a:solidFill>
                <a:effectLst/>
              </a:rPr>
              <a:t> groups by average price.</a:t>
            </a:r>
            <a:endParaRPr lang="en-US">
              <a:solidFill>
                <a:schemeClr val="tx1"/>
              </a:solidFill>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0" i="0" u="none" strike="noStrike" cap="none" normalizeH="0" baseline="0" dirty="0">
                <a:ln>
                  <a:noFill/>
                </a:ln>
                <a:solidFill>
                  <a:schemeClr val="tx1"/>
                </a:solidFill>
                <a:effectLst/>
              </a:rPr>
              <a:t>A few brands lead the </a:t>
            </a:r>
            <a:r>
              <a:rPr kumimoji="0" lang="en-US" altLang="en-US" i="0" u="none" strike="noStrike" cap="none" normalizeH="0" baseline="0" dirty="0">
                <a:ln>
                  <a:noFill/>
                </a:ln>
                <a:solidFill>
                  <a:schemeClr val="tx1"/>
                </a:solidFill>
                <a:effectLst/>
              </a:rPr>
              <a:t>high-price (premium)</a:t>
            </a:r>
            <a:r>
              <a:rPr kumimoji="0" lang="en-US" altLang="en-US" b="0" i="0" u="none" strike="noStrike" cap="none" normalizeH="0" baseline="0" dirty="0">
                <a:ln>
                  <a:noFill/>
                </a:ln>
                <a:solidFill>
                  <a:schemeClr val="tx1"/>
                </a:solidFill>
                <a:effectLst/>
              </a:rPr>
              <a:t> segment.</a:t>
            </a:r>
            <a:endParaRPr lang="en-US"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0" i="0" u="none" strike="noStrike" cap="none" normalizeH="0" baseline="0" dirty="0">
                <a:ln>
                  <a:noFill/>
                </a:ln>
                <a:solidFill>
                  <a:schemeClr val="tx1"/>
                </a:solidFill>
                <a:effectLst/>
              </a:rPr>
              <a:t>Several popular brands fall in the </a:t>
            </a:r>
            <a:r>
              <a:rPr kumimoji="0" lang="en-US" altLang="en-US" i="0" u="none" strike="noStrike" cap="none" normalizeH="0" baseline="0" dirty="0">
                <a:ln>
                  <a:noFill/>
                </a:ln>
                <a:solidFill>
                  <a:schemeClr val="tx1"/>
                </a:solidFill>
                <a:effectLst/>
              </a:rPr>
              <a:t>mid-price</a:t>
            </a:r>
            <a:r>
              <a:rPr kumimoji="0" lang="en-US" altLang="en-US" b="0" i="0" u="none" strike="noStrike" cap="none" normalizeH="0" baseline="0" dirty="0">
                <a:ln>
                  <a:noFill/>
                </a:ln>
                <a:solidFill>
                  <a:schemeClr val="tx1"/>
                </a:solidFill>
                <a:effectLst/>
              </a:rPr>
              <a:t> range.</a:t>
            </a:r>
            <a:endParaRPr lang="en-US"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0" i="0" u="none" strike="noStrike" cap="none" normalizeH="0" baseline="0" dirty="0">
                <a:ln>
                  <a:noFill/>
                </a:ln>
                <a:solidFill>
                  <a:schemeClr val="tx1"/>
                </a:solidFill>
                <a:effectLst/>
              </a:rPr>
              <a:t>Overall, </a:t>
            </a:r>
            <a:r>
              <a:rPr kumimoji="0" lang="en-US" altLang="en-US" i="0" u="none" strike="noStrike" cap="none" normalizeH="0" baseline="0" dirty="0">
                <a:ln>
                  <a:noFill/>
                </a:ln>
                <a:solidFill>
                  <a:schemeClr val="tx1"/>
                </a:solidFill>
                <a:effectLst/>
              </a:rPr>
              <a:t>brand positioning strongly determines pricing</a:t>
            </a:r>
            <a:r>
              <a:rPr kumimoji="0" lang="en-US" altLang="en-US" b="0" i="0" u="none" strike="noStrike" cap="none" normalizeH="0" baseline="0" dirty="0">
                <a:ln>
                  <a:noFill/>
                </a:ln>
                <a:solidFill>
                  <a:schemeClr val="tx1"/>
                </a:solidFill>
                <a:effectLst/>
              </a:rPr>
              <a:t>.</a:t>
            </a:r>
            <a:endParaRPr lang="en-US" altLang="en-US" b="0" i="0" u="none" strike="noStrike" cap="none" normalizeH="0" baseline="0" dirty="0">
              <a:ln>
                <a:noFill/>
              </a:ln>
              <a:solidFill>
                <a:schemeClr val="tx1"/>
              </a:solidFill>
              <a:effectLst/>
            </a:endParaRPr>
          </a:p>
        </p:txBody>
      </p:sp>
      <p:pic>
        <p:nvPicPr>
          <p:cNvPr id="3" name="Picture 2" descr="Innomatics Technology Hub in JNTU, Kukatpally, Hyderabad">
            <a:extLst>
              <a:ext uri="{FF2B5EF4-FFF2-40B4-BE49-F238E27FC236}">
                <a16:creationId xmlns:a16="http://schemas.microsoft.com/office/drawing/2014/main" id="{BC231DAE-7A69-17B9-1275-923A0A7C5217}"/>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3"/>
        <p:cNvGrpSpPr/>
        <p:nvPr/>
      </p:nvGrpSpPr>
      <p:grpSpPr>
        <a:xfrm>
          <a:off x="0" y="0"/>
          <a:ext cx="0" cy="0"/>
          <a:chOff x="0" y="0"/>
          <a:chExt cx="0" cy="0"/>
        </a:xfrm>
      </p:grpSpPr>
      <p:sp>
        <p:nvSpPr>
          <p:cNvPr id="884" name="Google Shape;884;p90"/>
          <p:cNvSpPr txBox="1">
            <a:spLocks noGrp="1"/>
          </p:cNvSpPr>
          <p:nvPr>
            <p:ph type="title"/>
          </p:nvPr>
        </p:nvSpPr>
        <p:spPr>
          <a:xfrm>
            <a:off x="519924" y="436622"/>
            <a:ext cx="2310420" cy="572700"/>
          </a:xfrm>
          <a:prstGeom prst="rect">
            <a:avLst/>
          </a:prstGeom>
        </p:spPr>
        <p:txBody>
          <a:bodyPr spcFirstLastPara="1" wrap="square" lIns="91425" tIns="91425" rIns="91425" bIns="91425" anchor="t" anchorCtr="0">
            <a:noAutofit/>
          </a:bodyPr>
          <a:lstStyle/>
          <a:p>
            <a:r>
              <a:rPr lang="en"/>
              <a:t>Count Plot</a:t>
            </a:r>
          </a:p>
        </p:txBody>
      </p:sp>
      <p:sp>
        <p:nvSpPr>
          <p:cNvPr id="15" name="TextBox 14">
            <a:extLst>
              <a:ext uri="{FF2B5EF4-FFF2-40B4-BE49-F238E27FC236}">
                <a16:creationId xmlns:a16="http://schemas.microsoft.com/office/drawing/2014/main" id="{36DFD080-5A4E-7EFC-D79E-CD713FBBC97B}"/>
              </a:ext>
            </a:extLst>
          </p:cNvPr>
          <p:cNvSpPr txBox="1"/>
          <p:nvPr/>
        </p:nvSpPr>
        <p:spPr>
          <a:xfrm>
            <a:off x="5137150" y="1295587"/>
            <a:ext cx="2919834" cy="29341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spcAft>
                <a:spcPts val="500"/>
              </a:spcAft>
              <a:buFont typeface="Arial" panose="020B0604020202020204" pitchFamily="34" charset="0"/>
              <a:buChar char="•"/>
            </a:pPr>
            <a:r>
              <a:rPr lang="en-US" dirty="0">
                <a:latin typeface="Montserrat"/>
              </a:rPr>
              <a:t>1-year warranty dominates for almost every brand.</a:t>
            </a:r>
            <a:endParaRPr lang="en-US"/>
          </a:p>
          <a:p>
            <a:pPr marL="285750" indent="-285750" algn="just">
              <a:spcAft>
                <a:spcPts val="500"/>
              </a:spcAft>
              <a:buFont typeface="Arial" panose="020B0604020202020204" pitchFamily="34" charset="0"/>
              <a:buChar char="•"/>
            </a:pPr>
            <a:r>
              <a:rPr lang="en-US" dirty="0">
                <a:latin typeface="Montserrat"/>
              </a:rPr>
              <a:t>Some major brands also offer 2-year and 5-year options.</a:t>
            </a:r>
          </a:p>
          <a:p>
            <a:pPr marL="285750" indent="-285750" algn="just">
              <a:spcAft>
                <a:spcPts val="500"/>
              </a:spcAft>
              <a:buFont typeface="Arial" panose="020B0604020202020204" pitchFamily="34" charset="0"/>
              <a:buChar char="•"/>
            </a:pPr>
            <a:r>
              <a:rPr lang="en-US" dirty="0">
                <a:latin typeface="Montserrat"/>
              </a:rPr>
              <a:t>10-year warranty is very rare. </a:t>
            </a:r>
          </a:p>
          <a:p>
            <a:pPr marL="285750" indent="-285750" algn="just">
              <a:spcAft>
                <a:spcPts val="500"/>
              </a:spcAft>
              <a:buFont typeface="Arial" panose="020B0604020202020204" pitchFamily="34" charset="0"/>
              <a:buChar char="•"/>
            </a:pPr>
            <a:r>
              <a:rPr lang="en-US" dirty="0">
                <a:latin typeface="Montserrat"/>
              </a:rPr>
              <a:t>Top brands show more variety in warranty periods.</a:t>
            </a:r>
          </a:p>
          <a:p>
            <a:pPr marL="285750" indent="-285750" algn="just">
              <a:spcAft>
                <a:spcPts val="500"/>
              </a:spcAft>
              <a:buFont typeface="Arial" panose="020B0604020202020204" pitchFamily="34" charset="0"/>
              <a:buChar char="•"/>
            </a:pPr>
            <a:r>
              <a:rPr lang="en-US" dirty="0">
                <a:latin typeface="Montserrat"/>
              </a:rPr>
              <a:t>Many smaller brands provide only 1-year warranty.</a:t>
            </a:r>
          </a:p>
        </p:txBody>
      </p:sp>
      <p:pic>
        <p:nvPicPr>
          <p:cNvPr id="3" name="Picture 2">
            <a:extLst>
              <a:ext uri="{FF2B5EF4-FFF2-40B4-BE49-F238E27FC236}">
                <a16:creationId xmlns:a16="http://schemas.microsoft.com/office/drawing/2014/main" id="{BD45D5E2-E9DC-86F1-BF02-A6F3AA19B4E4}"/>
              </a:ext>
            </a:extLst>
          </p:cNvPr>
          <p:cNvPicPr>
            <a:picLocks noChangeAspect="1"/>
          </p:cNvPicPr>
          <p:nvPr/>
        </p:nvPicPr>
        <p:blipFill>
          <a:blip r:embed="rId3"/>
          <a:stretch>
            <a:fillRect/>
          </a:stretch>
        </p:blipFill>
        <p:spPr>
          <a:xfrm>
            <a:off x="336551" y="1231900"/>
            <a:ext cx="4425949" cy="3295650"/>
          </a:xfrm>
          <a:prstGeom prst="rect">
            <a:avLst/>
          </a:prstGeom>
        </p:spPr>
      </p:pic>
      <p:pic>
        <p:nvPicPr>
          <p:cNvPr id="4" name="Picture 3" descr="Innomatics Technology Hub in JNTU, Kukatpally, Hyderabad">
            <a:extLst>
              <a:ext uri="{FF2B5EF4-FFF2-40B4-BE49-F238E27FC236}">
                <a16:creationId xmlns:a16="http://schemas.microsoft.com/office/drawing/2014/main" id="{711C373E-8DEF-7309-ABC7-B46D1DEC20CC}"/>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0"/>
        <p:cNvGrpSpPr/>
        <p:nvPr/>
      </p:nvGrpSpPr>
      <p:grpSpPr>
        <a:xfrm>
          <a:off x="0" y="0"/>
          <a:ext cx="0" cy="0"/>
          <a:chOff x="0" y="0"/>
          <a:chExt cx="0" cy="0"/>
        </a:xfrm>
      </p:grpSpPr>
      <p:sp>
        <p:nvSpPr>
          <p:cNvPr id="917" name="Google Shape;917;p91"/>
          <p:cNvSpPr txBox="1">
            <a:spLocks noGrp="1"/>
          </p:cNvSpPr>
          <p:nvPr>
            <p:ph type="title"/>
          </p:nvPr>
        </p:nvSpPr>
        <p:spPr>
          <a:xfrm>
            <a:off x="573359" y="387047"/>
            <a:ext cx="2216023" cy="572700"/>
          </a:xfrm>
          <a:prstGeom prst="rect">
            <a:avLst/>
          </a:prstGeom>
        </p:spPr>
        <p:txBody>
          <a:bodyPr spcFirstLastPara="1" wrap="square" lIns="91425" tIns="91425" rIns="91425" bIns="91425" anchor="t" anchorCtr="0">
            <a:noAutofit/>
          </a:bodyPr>
          <a:lstStyle/>
          <a:p>
            <a:r>
              <a:rPr lang="en"/>
              <a:t>Sub Plot</a:t>
            </a:r>
          </a:p>
        </p:txBody>
      </p:sp>
      <p:sp>
        <p:nvSpPr>
          <p:cNvPr id="25" name="Subtitle 24">
            <a:extLst>
              <a:ext uri="{FF2B5EF4-FFF2-40B4-BE49-F238E27FC236}">
                <a16:creationId xmlns:a16="http://schemas.microsoft.com/office/drawing/2014/main" id="{67A9C995-D5EB-D0C2-1824-779BC1F0F95B}"/>
              </a:ext>
            </a:extLst>
          </p:cNvPr>
          <p:cNvSpPr>
            <a:spLocks noGrp="1"/>
          </p:cNvSpPr>
          <p:nvPr>
            <p:ph type="subTitle" idx="15"/>
          </p:nvPr>
        </p:nvSpPr>
        <p:spPr>
          <a:xfrm>
            <a:off x="5634180" y="957449"/>
            <a:ext cx="2904664" cy="3686959"/>
          </a:xfrm>
        </p:spPr>
        <p:txBody>
          <a:bodyPr/>
          <a:lstStyle/>
          <a:p>
            <a:pPr marL="114300" indent="0" algn="l">
              <a:spcAft>
                <a:spcPts val="600"/>
              </a:spcAft>
            </a:pPr>
            <a:endParaRPr lang="en-US" sz="1600"/>
          </a:p>
          <a:p>
            <a:pPr marL="285750" indent="-285750" algn="l">
              <a:buFont typeface="Arial"/>
              <a:buChar char="•"/>
            </a:pPr>
            <a:endParaRPr lang="en-US" sz="1600">
              <a:highlight>
                <a:srgbClr val="FFFFFF"/>
              </a:highlight>
            </a:endParaRPr>
          </a:p>
        </p:txBody>
      </p:sp>
      <p:pic>
        <p:nvPicPr>
          <p:cNvPr id="3" name="Picture 2">
            <a:extLst>
              <a:ext uri="{FF2B5EF4-FFF2-40B4-BE49-F238E27FC236}">
                <a16:creationId xmlns:a16="http://schemas.microsoft.com/office/drawing/2014/main" id="{7C30FA9D-6846-8489-1EE6-8CA1FE92A2AE}"/>
              </a:ext>
            </a:extLst>
          </p:cNvPr>
          <p:cNvPicPr>
            <a:picLocks noChangeAspect="1"/>
          </p:cNvPicPr>
          <p:nvPr/>
        </p:nvPicPr>
        <p:blipFill>
          <a:blip r:embed="rId3"/>
          <a:stretch>
            <a:fillRect/>
          </a:stretch>
        </p:blipFill>
        <p:spPr>
          <a:xfrm>
            <a:off x="63501" y="1098551"/>
            <a:ext cx="4876799" cy="3178412"/>
          </a:xfrm>
          <a:prstGeom prst="rect">
            <a:avLst/>
          </a:prstGeom>
        </p:spPr>
      </p:pic>
      <p:sp>
        <p:nvSpPr>
          <p:cNvPr id="4" name="Rectangle 1">
            <a:extLst>
              <a:ext uri="{FF2B5EF4-FFF2-40B4-BE49-F238E27FC236}">
                <a16:creationId xmlns:a16="http://schemas.microsoft.com/office/drawing/2014/main" id="{244AD4FB-63FE-C0C7-E2A7-0135345B05C4}"/>
              </a:ext>
            </a:extLst>
          </p:cNvPr>
          <p:cNvSpPr>
            <a:spLocks noChangeArrowheads="1"/>
          </p:cNvSpPr>
          <p:nvPr/>
        </p:nvSpPr>
        <p:spPr bwMode="auto">
          <a:xfrm rot="10800000" flipV="1">
            <a:off x="5156200" y="1024791"/>
            <a:ext cx="3632200" cy="2964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i="0" u="none" strike="noStrike" cap="none" normalizeH="0" baseline="0" dirty="0">
                <a:ln>
                  <a:noFill/>
                </a:ln>
                <a:solidFill>
                  <a:schemeClr val="tx1"/>
                </a:solidFill>
                <a:effectLst/>
                <a:latin typeface="Montserrat"/>
              </a:rPr>
              <a:t>Clear price variation by brand; some brands are premium, others budget.</a:t>
            </a:r>
            <a:endParaRPr lang="en-US">
              <a:solidFill>
                <a:schemeClr val="tx1"/>
              </a:solidFill>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sz="1600" i="0" u="none" strike="noStrike" cap="none" normalizeH="0" baseline="0" dirty="0">
                <a:ln>
                  <a:noFill/>
                </a:ln>
                <a:solidFill>
                  <a:schemeClr val="tx1"/>
                </a:solidFill>
                <a:effectLst/>
                <a:latin typeface="Montserrat"/>
              </a:rPr>
              <a:t>A few brands show wide price ranges (mixed segments).</a:t>
            </a:r>
            <a:endParaRPr lang="en-US" altLang="en-US" sz="160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sz="1600" i="0" u="none" strike="noStrike" cap="none" normalizeH="0" baseline="0" dirty="0">
                <a:ln>
                  <a:noFill/>
                </a:ln>
                <a:solidFill>
                  <a:schemeClr val="tx1"/>
                </a:solidFill>
                <a:effectLst/>
                <a:latin typeface="Montserrat"/>
              </a:rPr>
              <a:t>1-year warranty products dominate the count.</a:t>
            </a:r>
            <a:endParaRPr lang="en-US" altLang="en-US" sz="160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sz="1600" i="0" u="none" strike="noStrike" cap="none" normalizeH="0" baseline="0" dirty="0">
                <a:ln>
                  <a:noFill/>
                </a:ln>
                <a:solidFill>
                  <a:schemeClr val="tx1"/>
                </a:solidFill>
                <a:effectLst/>
                <a:latin typeface="Montserrat"/>
              </a:rPr>
              <a:t>5-year warranty is present but much fewer.</a:t>
            </a:r>
            <a:endParaRPr lang="en-US" altLang="en-US" sz="160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sz="1600" i="0" u="none" strike="noStrike" cap="none" normalizeH="0" baseline="0" dirty="0">
                <a:ln>
                  <a:noFill/>
                </a:ln>
                <a:solidFill>
                  <a:schemeClr val="tx1"/>
                </a:solidFill>
                <a:effectLst/>
                <a:latin typeface="Montserrat"/>
              </a:rPr>
              <a:t>10-year warranty is almost absent.</a:t>
            </a:r>
            <a:endParaRPr lang="en-US" altLang="en-US" sz="1600" i="0" u="none" strike="noStrike" cap="none" normalizeH="0" baseline="0" dirty="0">
              <a:ln>
                <a:noFill/>
              </a:ln>
              <a:solidFill>
                <a:schemeClr val="tx1"/>
              </a:solidFill>
              <a:effectLst/>
              <a:latin typeface="Montserrat"/>
            </a:endParaRPr>
          </a:p>
        </p:txBody>
      </p:sp>
      <p:pic>
        <p:nvPicPr>
          <p:cNvPr id="5" name="Picture 4" descr="Innomatics Technology Hub in JNTU, Kukatpally, Hyderabad">
            <a:extLst>
              <a:ext uri="{FF2B5EF4-FFF2-40B4-BE49-F238E27FC236}">
                <a16:creationId xmlns:a16="http://schemas.microsoft.com/office/drawing/2014/main" id="{04986BDB-24F3-ACA3-F4E3-A3E76ED23B32}"/>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4"/>
        <p:cNvGrpSpPr/>
        <p:nvPr/>
      </p:nvGrpSpPr>
      <p:grpSpPr>
        <a:xfrm>
          <a:off x="0" y="0"/>
          <a:ext cx="0" cy="0"/>
          <a:chOff x="0" y="0"/>
          <a:chExt cx="0" cy="0"/>
        </a:xfrm>
      </p:grpSpPr>
      <p:sp>
        <p:nvSpPr>
          <p:cNvPr id="975" name="Google Shape;975;p93"/>
          <p:cNvSpPr txBox="1">
            <a:spLocks noGrp="1"/>
          </p:cNvSpPr>
          <p:nvPr>
            <p:ph type="title"/>
          </p:nvPr>
        </p:nvSpPr>
        <p:spPr>
          <a:xfrm>
            <a:off x="862311" y="718351"/>
            <a:ext cx="2135022" cy="572700"/>
          </a:xfrm>
          <a:prstGeom prst="rect">
            <a:avLst/>
          </a:prstGeom>
        </p:spPr>
        <p:txBody>
          <a:bodyPr spcFirstLastPara="1" wrap="square" lIns="91425" tIns="91425" rIns="91425" bIns="91425" anchor="t" anchorCtr="0">
            <a:noAutofit/>
          </a:bodyPr>
          <a:lstStyle/>
          <a:p>
            <a:r>
              <a:rPr lang="en"/>
              <a:t>Heat Plot</a:t>
            </a:r>
            <a:endParaRPr/>
          </a:p>
        </p:txBody>
      </p:sp>
      <p:sp>
        <p:nvSpPr>
          <p:cNvPr id="996" name="Google Shape;996;p93"/>
          <p:cNvSpPr txBox="1"/>
          <p:nvPr/>
        </p:nvSpPr>
        <p:spPr>
          <a:xfrm>
            <a:off x="4095066" y="461048"/>
            <a:ext cx="4638921" cy="3780059"/>
          </a:xfrm>
          <a:prstGeom prst="rect">
            <a:avLst/>
          </a:prstGeom>
          <a:noFill/>
          <a:ln>
            <a:noFill/>
          </a:ln>
        </p:spPr>
        <p:txBody>
          <a:bodyPr spcFirstLastPara="1" wrap="square" lIns="0" tIns="0" rIns="91425" bIns="91425" anchor="t" anchorCtr="0">
            <a:noAutofit/>
          </a:bodyPr>
          <a:lstStyle/>
          <a:p>
            <a:pPr marL="285750">
              <a:spcAft>
                <a:spcPts val="600"/>
              </a:spcAft>
            </a:pPr>
            <a:endParaRPr lang="en" sz="1600">
              <a:solidFill>
                <a:schemeClr val="dk1"/>
              </a:solidFill>
              <a:latin typeface="Montserrat"/>
              <a:ea typeface="Montserrat"/>
              <a:cs typeface="Montserrat"/>
            </a:endParaRPr>
          </a:p>
        </p:txBody>
      </p:sp>
      <p:sp>
        <p:nvSpPr>
          <p:cNvPr id="3" name="TextBox 2">
            <a:extLst>
              <a:ext uri="{FF2B5EF4-FFF2-40B4-BE49-F238E27FC236}">
                <a16:creationId xmlns:a16="http://schemas.microsoft.com/office/drawing/2014/main" id="{2A2A8656-4D67-6D49-3A05-963B9A16D537}"/>
              </a:ext>
            </a:extLst>
          </p:cNvPr>
          <p:cNvSpPr txBox="1"/>
          <p:nvPr/>
        </p:nvSpPr>
        <p:spPr>
          <a:xfrm>
            <a:off x="786848" y="294033"/>
            <a:ext cx="228600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latin typeface="Vidaloka"/>
              </a:rPr>
              <a:t>Multivariate</a:t>
            </a:r>
          </a:p>
          <a:p>
            <a:pPr algn="ctr"/>
            <a:endParaRPr lang="en-US"/>
          </a:p>
        </p:txBody>
      </p:sp>
      <p:pic>
        <p:nvPicPr>
          <p:cNvPr id="5" name="Picture 4">
            <a:extLst>
              <a:ext uri="{FF2B5EF4-FFF2-40B4-BE49-F238E27FC236}">
                <a16:creationId xmlns:a16="http://schemas.microsoft.com/office/drawing/2014/main" id="{9570B151-64D7-9018-2F9F-E4446398495B}"/>
              </a:ext>
            </a:extLst>
          </p:cNvPr>
          <p:cNvPicPr>
            <a:picLocks noChangeAspect="1"/>
          </p:cNvPicPr>
          <p:nvPr/>
        </p:nvPicPr>
        <p:blipFill>
          <a:blip r:embed="rId3"/>
          <a:stretch>
            <a:fillRect/>
          </a:stretch>
        </p:blipFill>
        <p:spPr>
          <a:xfrm>
            <a:off x="171451" y="1286012"/>
            <a:ext cx="3911599" cy="3212398"/>
          </a:xfrm>
          <a:prstGeom prst="rect">
            <a:avLst/>
          </a:prstGeom>
        </p:spPr>
      </p:pic>
      <p:sp>
        <p:nvSpPr>
          <p:cNvPr id="6" name="Rectangle 1">
            <a:extLst>
              <a:ext uri="{FF2B5EF4-FFF2-40B4-BE49-F238E27FC236}">
                <a16:creationId xmlns:a16="http://schemas.microsoft.com/office/drawing/2014/main" id="{28A292F6-EA42-ADCB-9CAD-5D04809F831C}"/>
              </a:ext>
            </a:extLst>
          </p:cNvPr>
          <p:cNvSpPr>
            <a:spLocks noChangeArrowheads="1"/>
          </p:cNvSpPr>
          <p:nvPr/>
        </p:nvSpPr>
        <p:spPr bwMode="auto">
          <a:xfrm rot="10800000" flipV="1">
            <a:off x="3939060" y="644212"/>
            <a:ext cx="4647496" cy="3708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1" i="0" u="none" strike="noStrike" cap="none" normalizeH="0" baseline="0" dirty="0">
                <a:ln>
                  <a:noFill/>
                </a:ln>
                <a:solidFill>
                  <a:schemeClr val="tx1"/>
                </a:solidFill>
                <a:effectLst/>
                <a:latin typeface="Montserrat"/>
              </a:rPr>
              <a:t>Room Size and Tons are very strongly correlated (≈0.96).</a:t>
            </a:r>
            <a:endParaRPr lang="en-US" b="1">
              <a:solidFill>
                <a:schemeClr val="tx1"/>
              </a:solidFill>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1" i="0" u="none" strike="noStrike" cap="none" normalizeH="0" baseline="0" dirty="0">
                <a:ln>
                  <a:noFill/>
                </a:ln>
                <a:solidFill>
                  <a:schemeClr val="tx1"/>
                </a:solidFill>
                <a:effectLst/>
                <a:latin typeface="Montserrat"/>
              </a:rPr>
              <a:t>Price has strong positive correlation with Original Price (≈0.67) and Tons (≈0.51).</a:t>
            </a:r>
            <a:endParaRPr lang="en-US" altLang="en-US" b="1"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b="1" i="0" u="none" strike="noStrike" cap="none" normalizeH="0" baseline="0" dirty="0">
                <a:ln>
                  <a:noFill/>
                </a:ln>
                <a:solidFill>
                  <a:schemeClr val="tx1"/>
                </a:solidFill>
                <a:effectLst/>
                <a:latin typeface="Montserrat"/>
              </a:rPr>
              <a:t>Stars moderately correlates with Price and Original Price.</a:t>
            </a:r>
            <a:endParaRPr lang="en-US" altLang="en-US" b="1" i="0" u="none" strike="noStrike" cap="none" normalizeH="0" baseline="0" dirty="0">
              <a:ln>
                <a:noFill/>
              </a:ln>
              <a:solidFill>
                <a:schemeClr val="tx1"/>
              </a:solidFill>
              <a:effectLst/>
              <a:latin typeface="Montserrat"/>
            </a:endParaRPr>
          </a:p>
          <a:p>
            <a:pPr marL="171450" indent="-171450" algn="just" eaLnBrk="0" fontAlgn="base" hangingPunct="0">
              <a:spcAft>
                <a:spcPts val="500"/>
              </a:spcAft>
              <a:buClrTx/>
              <a:buFont typeface="Arial"/>
              <a:buChar char="•"/>
            </a:pPr>
            <a:r>
              <a:rPr lang="en-US" altLang="en-US" b="1" dirty="0">
                <a:solidFill>
                  <a:schemeClr val="tx1"/>
                </a:solidFill>
                <a:latin typeface="Montserrat"/>
              </a:rPr>
              <a:t>   </a:t>
            </a:r>
            <a:r>
              <a:rPr kumimoji="0" lang="en-US" altLang="en-US" b="1" i="0" u="none" strike="noStrike" cap="none" normalizeH="0" baseline="0" dirty="0">
                <a:ln>
                  <a:noFill/>
                </a:ln>
                <a:solidFill>
                  <a:schemeClr val="tx1"/>
                </a:solidFill>
                <a:effectLst/>
                <a:latin typeface="Montserrat"/>
              </a:rPr>
              <a:t>Discount relates more to Original Price than to final Price.</a:t>
            </a:r>
            <a:endParaRPr lang="en-US" altLang="en-US" b="1" i="0" u="none" strike="noStrike" cap="none" normalizeH="0" baseline="0" dirty="0">
              <a:ln>
                <a:noFill/>
              </a:ln>
              <a:solidFill>
                <a:schemeClr val="tx1"/>
              </a:solidFill>
              <a:effectLst/>
              <a:latin typeface="Montserrat"/>
            </a:endParaRPr>
          </a:p>
          <a:p>
            <a:pPr marL="171450" indent="-171450" algn="just">
              <a:spcAft>
                <a:spcPts val="500"/>
              </a:spcAft>
              <a:buClrTx/>
              <a:buFont typeface="Arial"/>
              <a:buChar char="•"/>
            </a:pPr>
            <a:r>
              <a:rPr lang="en-US" altLang="en-US" b="1" dirty="0">
                <a:solidFill>
                  <a:schemeClr val="tx1"/>
                </a:solidFill>
                <a:latin typeface="Montserrat"/>
              </a:rPr>
              <a:t>   No. of Ratings and No. of Reviews are almost perfectly correlated (≈0.97).</a:t>
            </a:r>
            <a:endParaRPr lang="en-US" b="1">
              <a:solidFill>
                <a:schemeClr val="tx1"/>
              </a:solidFill>
              <a:latin typeface="Montserrat"/>
            </a:endParaRPr>
          </a:p>
          <a:p>
            <a:pPr marL="171450" indent="-171450" algn="just">
              <a:spcAft>
                <a:spcPts val="500"/>
              </a:spcAft>
              <a:buClrTx/>
              <a:buFont typeface="Arial"/>
              <a:buChar char="•"/>
            </a:pPr>
            <a:r>
              <a:rPr lang="en-US" altLang="en-US" b="1" dirty="0">
                <a:solidFill>
                  <a:schemeClr val="tx1"/>
                </a:solidFill>
                <a:latin typeface="Montserrat"/>
              </a:rPr>
              <a:t>  Warranty and Launch Year show very weak correlation with most variables.</a:t>
            </a:r>
            <a:endParaRPr lang="en-US" b="1">
              <a:solidFill>
                <a:schemeClr val="tx1"/>
              </a:solidFill>
              <a:latin typeface="Montserrat"/>
            </a:endParaRPr>
          </a:p>
          <a:p>
            <a:pPr marL="171450" indent="-171450" algn="just">
              <a:spcAft>
                <a:spcPts val="500"/>
              </a:spcAft>
              <a:buClrTx/>
              <a:buFont typeface="Arial"/>
              <a:buChar char="•"/>
            </a:pPr>
            <a:r>
              <a:rPr lang="en-US" altLang="en-US" b="1" dirty="0">
                <a:solidFill>
                  <a:schemeClr val="tx1"/>
                </a:solidFill>
                <a:latin typeface="Montserrat"/>
              </a:rPr>
              <a:t>Overall, AC capacity (Tons/Room Size) and Original Price are key factors influencing Price.</a:t>
            </a:r>
            <a:endParaRPr lang="en-US" b="1">
              <a:solidFill>
                <a:schemeClr val="tx1"/>
              </a:solidFill>
              <a:latin typeface="Montserrat"/>
            </a:endParaRPr>
          </a:p>
        </p:txBody>
      </p:sp>
      <p:pic>
        <p:nvPicPr>
          <p:cNvPr id="4" name="Picture 3" descr="Innomatics Technology Hub in JNTU, Kukatpally, Hyderabad">
            <a:extLst>
              <a:ext uri="{FF2B5EF4-FFF2-40B4-BE49-F238E27FC236}">
                <a16:creationId xmlns:a16="http://schemas.microsoft.com/office/drawing/2014/main" id="{EB0BEAC2-D50F-9E3E-EF5D-A25335A1AE33}"/>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0"/>
        <p:cNvGrpSpPr/>
        <p:nvPr/>
      </p:nvGrpSpPr>
      <p:grpSpPr>
        <a:xfrm>
          <a:off x="0" y="0"/>
          <a:ext cx="0" cy="0"/>
          <a:chOff x="0" y="0"/>
          <a:chExt cx="0" cy="0"/>
        </a:xfrm>
      </p:grpSpPr>
      <p:sp>
        <p:nvSpPr>
          <p:cNvPr id="1021" name="Google Shape;1021;p94"/>
          <p:cNvSpPr txBox="1">
            <a:spLocks noGrp="1"/>
          </p:cNvSpPr>
          <p:nvPr>
            <p:ph type="title"/>
          </p:nvPr>
        </p:nvSpPr>
        <p:spPr>
          <a:xfrm>
            <a:off x="486306" y="318958"/>
            <a:ext cx="1881916" cy="497061"/>
          </a:xfrm>
          <a:prstGeom prst="rect">
            <a:avLst/>
          </a:prstGeom>
        </p:spPr>
        <p:txBody>
          <a:bodyPr spcFirstLastPara="1" wrap="square" lIns="91425" tIns="91425" rIns="91425" bIns="91425" anchor="t" anchorCtr="0">
            <a:noAutofit/>
          </a:bodyPr>
          <a:lstStyle/>
          <a:p>
            <a:r>
              <a:rPr lang="en"/>
              <a:t>Pair Plot</a:t>
            </a:r>
          </a:p>
        </p:txBody>
      </p:sp>
      <p:pic>
        <p:nvPicPr>
          <p:cNvPr id="5" name="Picture 4">
            <a:extLst>
              <a:ext uri="{FF2B5EF4-FFF2-40B4-BE49-F238E27FC236}">
                <a16:creationId xmlns:a16="http://schemas.microsoft.com/office/drawing/2014/main" id="{0E560EB0-E665-692F-C270-6F2F6C4CD452}"/>
              </a:ext>
            </a:extLst>
          </p:cNvPr>
          <p:cNvPicPr>
            <a:picLocks noChangeAspect="1"/>
          </p:cNvPicPr>
          <p:nvPr/>
        </p:nvPicPr>
        <p:blipFill>
          <a:blip r:embed="rId3"/>
          <a:stretch>
            <a:fillRect/>
          </a:stretch>
        </p:blipFill>
        <p:spPr>
          <a:xfrm>
            <a:off x="482556" y="859451"/>
            <a:ext cx="4522601" cy="3645062"/>
          </a:xfrm>
          <a:prstGeom prst="rect">
            <a:avLst/>
          </a:prstGeom>
        </p:spPr>
      </p:pic>
      <p:sp>
        <p:nvSpPr>
          <p:cNvPr id="6" name="Rectangle 1">
            <a:extLst>
              <a:ext uri="{FF2B5EF4-FFF2-40B4-BE49-F238E27FC236}">
                <a16:creationId xmlns:a16="http://schemas.microsoft.com/office/drawing/2014/main" id="{42AD9039-F3F2-6EC8-2DBB-A25F833D125E}"/>
              </a:ext>
            </a:extLst>
          </p:cNvPr>
          <p:cNvSpPr>
            <a:spLocks noChangeArrowheads="1"/>
          </p:cNvSpPr>
          <p:nvPr/>
        </p:nvSpPr>
        <p:spPr bwMode="auto">
          <a:xfrm rot="10800000" flipV="1">
            <a:off x="4907697" y="434060"/>
            <a:ext cx="3437885"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Aft>
                <a:spcPts val="800"/>
              </a:spcAft>
              <a:buClrTx/>
              <a:buSzTx/>
              <a:buFont typeface="Arial"/>
              <a:buChar char="•"/>
              <a:tabLst/>
            </a:pPr>
            <a:r>
              <a:rPr kumimoji="0" lang="en-US" altLang="en-US" b="0" i="0" u="none" strike="noStrike" cap="none" normalizeH="0" baseline="0" dirty="0">
                <a:ln>
                  <a:noFill/>
                </a:ln>
                <a:solidFill>
                  <a:schemeClr val="tx1"/>
                </a:solidFill>
                <a:effectLst/>
                <a:latin typeface="Montserrat"/>
              </a:rPr>
              <a:t>Strong relationship between </a:t>
            </a:r>
            <a:r>
              <a:rPr kumimoji="0" lang="en-US" altLang="en-US" i="0" u="none" strike="noStrike" cap="none" normalizeH="0" baseline="0" dirty="0">
                <a:ln>
                  <a:noFill/>
                </a:ln>
                <a:solidFill>
                  <a:schemeClr val="tx1"/>
                </a:solidFill>
                <a:effectLst/>
                <a:latin typeface="Montserrat"/>
              </a:rPr>
              <a:t>Room Size, Tons, and Price</a:t>
            </a:r>
            <a:r>
              <a:rPr kumimoji="0" lang="en-US" altLang="en-US" b="0" i="0" u="none" strike="noStrike" cap="none" normalizeH="0" baseline="0" dirty="0">
                <a:ln>
                  <a:noFill/>
                </a:ln>
                <a:solidFill>
                  <a:schemeClr val="tx1"/>
                </a:solidFill>
                <a:effectLst/>
                <a:latin typeface="Montserrat"/>
              </a:rPr>
              <a:t>.</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800"/>
              </a:spcAft>
              <a:buClrTx/>
              <a:buSzTx/>
              <a:buFont typeface="Arial"/>
              <a:buChar char="•"/>
              <a:tabLst/>
            </a:pPr>
            <a:r>
              <a:rPr kumimoji="0" lang="en-US" altLang="en-US" i="0" u="none" strike="noStrike" cap="none" normalizeH="0" baseline="0" dirty="0">
                <a:ln>
                  <a:noFill/>
                </a:ln>
                <a:solidFill>
                  <a:schemeClr val="tx1"/>
                </a:solidFill>
                <a:effectLst/>
                <a:latin typeface="Montserrat"/>
              </a:rPr>
              <a:t>Original Price and Price</a:t>
            </a:r>
            <a:r>
              <a:rPr kumimoji="0" lang="en-US" altLang="en-US" b="0" i="0" u="none" strike="noStrike" cap="none" normalizeH="0" baseline="0" dirty="0">
                <a:ln>
                  <a:noFill/>
                </a:ln>
                <a:solidFill>
                  <a:schemeClr val="tx1"/>
                </a:solidFill>
                <a:effectLst/>
                <a:latin typeface="Montserrat"/>
              </a:rPr>
              <a:t> move closely together.</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a:lnSpc>
                <a:spcPct val="100000"/>
              </a:lnSpc>
              <a:spcAft>
                <a:spcPts val="800"/>
              </a:spcAft>
              <a:buClrTx/>
              <a:buSzTx/>
              <a:buFont typeface="Arial"/>
              <a:buChar char="•"/>
              <a:tabLst/>
            </a:pPr>
            <a:r>
              <a:rPr kumimoji="0" lang="en-US" altLang="en-US" b="0" i="0" u="none" strike="noStrike" cap="none" normalizeH="0" baseline="0" dirty="0">
                <a:ln>
                  <a:noFill/>
                </a:ln>
                <a:solidFill>
                  <a:schemeClr val="tx1"/>
                </a:solidFill>
                <a:effectLst/>
                <a:latin typeface="Montserrat"/>
              </a:rPr>
              <a:t>Most brands cluster in similar ranges with some brand-specific spread.</a:t>
            </a:r>
            <a:endParaRPr lang="en-US">
              <a:solidFill>
                <a:schemeClr val="tx1"/>
              </a:solidFill>
            </a:endParaRPr>
          </a:p>
          <a:p>
            <a:pPr marL="285750" marR="0" lvl="0" indent="-285750" algn="just" defTabSz="914400" rtl="0" eaLnBrk="0" fontAlgn="base" latinLnBrk="0" hangingPunct="0">
              <a:lnSpc>
                <a:spcPct val="100000"/>
              </a:lnSpc>
              <a:spcAft>
                <a:spcPts val="800"/>
              </a:spcAft>
              <a:buClrTx/>
              <a:buSzTx/>
              <a:buFont typeface="Arial"/>
              <a:buChar char="•"/>
              <a:tabLst/>
            </a:pPr>
            <a:r>
              <a:rPr kumimoji="0" lang="en-US" altLang="en-US" i="0" u="none" strike="noStrike" cap="none" normalizeH="0" baseline="0" dirty="0">
                <a:ln>
                  <a:noFill/>
                </a:ln>
                <a:solidFill>
                  <a:schemeClr val="tx1"/>
                </a:solidFill>
                <a:effectLst/>
                <a:latin typeface="Montserrat"/>
              </a:rPr>
              <a:t>Power usage</a:t>
            </a:r>
            <a:r>
              <a:rPr kumimoji="0" lang="en-US" altLang="en-US" b="0" i="0" u="none" strike="noStrike" cap="none" normalizeH="0" baseline="0" dirty="0">
                <a:ln>
                  <a:noFill/>
                </a:ln>
                <a:solidFill>
                  <a:schemeClr val="tx1"/>
                </a:solidFill>
                <a:effectLst/>
                <a:latin typeface="Montserrat"/>
              </a:rPr>
              <a:t> increases with </a:t>
            </a:r>
            <a:r>
              <a:rPr kumimoji="0" lang="en-US" altLang="en-US" i="0" u="none" strike="noStrike" cap="none" normalizeH="0" baseline="0" dirty="0">
                <a:ln>
                  <a:noFill/>
                </a:ln>
                <a:solidFill>
                  <a:schemeClr val="tx1"/>
                </a:solidFill>
                <a:effectLst/>
                <a:latin typeface="Montserrat"/>
              </a:rPr>
              <a:t>Tons/Room Size</a:t>
            </a:r>
            <a:r>
              <a:rPr kumimoji="0" lang="en-US" altLang="en-US" b="0" i="0" u="none" strike="noStrike" cap="none" normalizeH="0" baseline="0" dirty="0">
                <a:ln>
                  <a:noFill/>
                </a:ln>
                <a:solidFill>
                  <a:schemeClr val="tx1"/>
                </a:solidFill>
                <a:effectLst/>
                <a:latin typeface="Montserrat"/>
              </a:rPr>
              <a:t>.</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800"/>
              </a:spcAft>
              <a:buClrTx/>
              <a:buSzTx/>
              <a:buFont typeface="Arial"/>
              <a:buChar char="•"/>
              <a:tabLst/>
            </a:pPr>
            <a:r>
              <a:rPr kumimoji="0" lang="en-US" altLang="en-US" b="0" i="0" u="none" strike="noStrike" cap="none" normalizeH="0" baseline="0" dirty="0">
                <a:ln>
                  <a:noFill/>
                </a:ln>
                <a:solidFill>
                  <a:schemeClr val="tx1"/>
                </a:solidFill>
                <a:effectLst/>
                <a:latin typeface="Montserrat"/>
              </a:rPr>
              <a:t>Ratings, reviews, and warranty show </a:t>
            </a:r>
            <a:r>
              <a:rPr kumimoji="0" lang="en-US" altLang="en-US" i="0" u="none" strike="noStrike" cap="none" normalizeH="0" baseline="0" dirty="0">
                <a:ln>
                  <a:noFill/>
                </a:ln>
                <a:solidFill>
                  <a:schemeClr val="tx1"/>
                </a:solidFill>
                <a:effectLst/>
                <a:latin typeface="Montserrat"/>
              </a:rPr>
              <a:t>weak relationships</a:t>
            </a:r>
            <a:r>
              <a:rPr kumimoji="0" lang="en-US" altLang="en-US" b="0" i="0" u="none" strike="noStrike" cap="none" normalizeH="0" baseline="0" dirty="0">
                <a:ln>
                  <a:noFill/>
                </a:ln>
                <a:solidFill>
                  <a:schemeClr val="tx1"/>
                </a:solidFill>
                <a:effectLst/>
                <a:latin typeface="Montserrat"/>
              </a:rPr>
              <a:t> with other variables.</a:t>
            </a:r>
            <a:endParaRPr lang="en-US" altLang="en-US" b="0" i="0" u="none" strike="noStrike" cap="none" normalizeH="0" baseline="0" dirty="0">
              <a:ln>
                <a:noFill/>
              </a:ln>
              <a:solidFill>
                <a:schemeClr val="tx1"/>
              </a:solidFill>
              <a:effectLst/>
              <a:latin typeface="Montserrat"/>
            </a:endParaRPr>
          </a:p>
          <a:p>
            <a:pPr marL="285750" marR="0" lvl="0" indent="-285750" algn="just" defTabSz="914400" rtl="0" eaLnBrk="0" fontAlgn="base" latinLnBrk="0" hangingPunct="0">
              <a:lnSpc>
                <a:spcPct val="100000"/>
              </a:lnSpc>
              <a:spcAft>
                <a:spcPts val="800"/>
              </a:spcAft>
              <a:buClrTx/>
              <a:buSzTx/>
              <a:buFont typeface="Arial"/>
              <a:buChar char="•"/>
              <a:tabLst/>
            </a:pPr>
            <a:r>
              <a:rPr kumimoji="0" lang="en-US" altLang="en-US" b="0" i="0" u="none" strike="noStrike" cap="none" normalizeH="0" baseline="0" dirty="0">
                <a:ln>
                  <a:noFill/>
                </a:ln>
                <a:solidFill>
                  <a:schemeClr val="tx1"/>
                </a:solidFill>
                <a:effectLst/>
                <a:latin typeface="Montserrat"/>
              </a:rPr>
              <a:t>Overall, </a:t>
            </a:r>
            <a:r>
              <a:rPr kumimoji="0" lang="en-US" altLang="en-US" i="0" u="none" strike="noStrike" cap="none" normalizeH="0" baseline="0" dirty="0">
                <a:ln>
                  <a:noFill/>
                </a:ln>
                <a:solidFill>
                  <a:schemeClr val="tx1"/>
                </a:solidFill>
                <a:effectLst/>
                <a:latin typeface="Montserrat"/>
              </a:rPr>
              <a:t>capacity-related features</a:t>
            </a:r>
            <a:r>
              <a:rPr kumimoji="0" lang="en-US" altLang="en-US" b="0" i="0" u="none" strike="noStrike" cap="none" normalizeH="0" baseline="0" dirty="0">
                <a:ln>
                  <a:noFill/>
                </a:ln>
                <a:solidFill>
                  <a:schemeClr val="tx1"/>
                </a:solidFill>
                <a:effectLst/>
                <a:latin typeface="Montserrat"/>
              </a:rPr>
              <a:t> drive most patterns in the data.</a:t>
            </a:r>
            <a:endParaRPr lang="en-US" altLang="en-US" b="0" i="0" u="none" strike="noStrike" cap="none" normalizeH="0" baseline="0" dirty="0">
              <a:ln>
                <a:noFill/>
              </a:ln>
              <a:solidFill>
                <a:schemeClr val="tx1"/>
              </a:solidFill>
              <a:effectLst/>
              <a:latin typeface="Montserrat"/>
            </a:endParaRPr>
          </a:p>
          <a:p>
            <a:pPr marL="0" marR="0" lvl="0" indent="0" algn="just" defTabSz="914400" rtl="0" eaLnBrk="0" fontAlgn="base" latinLnBrk="0" hangingPunct="0">
              <a:lnSpc>
                <a:spcPct val="100000"/>
              </a:lnSpc>
              <a:spcAft>
                <a:spcPts val="800"/>
              </a:spcAft>
              <a:buClrTx/>
              <a:buSzTx/>
              <a:buFontTx/>
              <a:buNone/>
              <a:tabLst/>
            </a:pPr>
            <a:endParaRPr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descr="Innomatics Technology Hub in JNTU, Kukatpally, Hyderabad">
            <a:extLst>
              <a:ext uri="{FF2B5EF4-FFF2-40B4-BE49-F238E27FC236}">
                <a16:creationId xmlns:a16="http://schemas.microsoft.com/office/drawing/2014/main" id="{8AE05504-D9B7-103F-3179-B84739C25D6B}"/>
              </a:ext>
            </a:extLst>
          </p:cNvPr>
          <p:cNvPicPr>
            <a:picLocks noChangeAspect="1"/>
          </p:cNvPicPr>
          <p:nvPr/>
        </p:nvPicPr>
        <p:blipFill>
          <a:blip r:embed="rId4"/>
          <a:stretch>
            <a:fillRect/>
          </a:stretch>
        </p:blipFill>
        <p:spPr>
          <a:xfrm>
            <a:off x="7355421" y="4228345"/>
            <a:ext cx="1402344" cy="54777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2"/>
        <p:cNvGrpSpPr/>
        <p:nvPr/>
      </p:nvGrpSpPr>
      <p:grpSpPr>
        <a:xfrm>
          <a:off x="0" y="0"/>
          <a:ext cx="0" cy="0"/>
          <a:chOff x="0" y="0"/>
          <a:chExt cx="0" cy="0"/>
        </a:xfrm>
      </p:grpSpPr>
      <p:sp>
        <p:nvSpPr>
          <p:cNvPr id="1063" name="Google Shape;1063;p95"/>
          <p:cNvSpPr txBox="1">
            <a:spLocks noGrp="1"/>
          </p:cNvSpPr>
          <p:nvPr>
            <p:ph type="title"/>
          </p:nvPr>
        </p:nvSpPr>
        <p:spPr>
          <a:xfrm>
            <a:off x="772056" y="227972"/>
            <a:ext cx="2052927"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Summary</a:t>
            </a:r>
            <a:endParaRPr lang="en" dirty="0" err="1"/>
          </a:p>
        </p:txBody>
      </p:sp>
      <p:sp>
        <p:nvSpPr>
          <p:cNvPr id="2" name="Rectangle 1">
            <a:extLst>
              <a:ext uri="{FF2B5EF4-FFF2-40B4-BE49-F238E27FC236}">
                <a16:creationId xmlns:a16="http://schemas.microsoft.com/office/drawing/2014/main" id="{4D4FD8A2-6017-BD15-6BF7-DD8BE4E619AC}"/>
              </a:ext>
            </a:extLst>
          </p:cNvPr>
          <p:cNvSpPr>
            <a:spLocks noChangeArrowheads="1"/>
          </p:cNvSpPr>
          <p:nvPr/>
        </p:nvSpPr>
        <p:spPr bwMode="auto">
          <a:xfrm>
            <a:off x="663373" y="875258"/>
            <a:ext cx="7397565" cy="3621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Dataset is dominated by a few major brands; many brands have very low counts.</a:t>
            </a:r>
            <a:endParaRPr lang="en-US" altLang="en-US">
              <a:solidFill>
                <a:schemeClr val="tx1"/>
              </a:solidFill>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Most products fall in the mid-price range (₹25k–₹40k) with some high-price outliers.</a:t>
            </a:r>
            <a:endParaRPr lang="en-US" altLang="en-US" dirty="0">
              <a:solidFill>
                <a:schemeClr val="tx1"/>
              </a:solidFill>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Tons and Room Size are very strongly related and are key drivers of Price.</a:t>
            </a:r>
            <a:endParaRPr lang="en-US" altLang="en-US" dirty="0">
              <a:solidFill>
                <a:schemeClr val="tx1"/>
              </a:solidFill>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Original Price has a strong influence on the final Price; discounts relate more to original price.</a:t>
            </a:r>
            <a:endParaRPr lang="en-US" altLang="en-US" dirty="0">
              <a:solidFill>
                <a:schemeClr val="tx1"/>
              </a:solidFill>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Majority of products offer 1-year warranty; longer warranties are rare.</a:t>
            </a:r>
            <a:endParaRPr lang="en-US" altLang="en-US" dirty="0">
              <a:solidFill>
                <a:schemeClr val="tx1"/>
              </a:solidFill>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3-Star models are most common; higher stars generally mean higher prices.</a:t>
            </a:r>
            <a:endParaRPr lang="en-US" altLang="en-US" dirty="0">
              <a:solidFill>
                <a:schemeClr val="tx1"/>
              </a:solidFill>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Power usage increases with room size and tons, but not perfectly linearly.</a:t>
            </a:r>
            <a:endParaRPr lang="en-US" altLang="en-US" dirty="0">
              <a:solidFill>
                <a:schemeClr val="tx1"/>
              </a:solidFill>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Brand positioning clearly splits products into premium, mid-range, and budget segments.</a:t>
            </a:r>
            <a:endParaRPr lang="en-US" altLang="en-US" dirty="0">
              <a:solidFill>
                <a:schemeClr val="tx1"/>
              </a:solidFill>
              <a:latin typeface="Montserrat"/>
            </a:endParaRPr>
          </a:p>
          <a:p>
            <a:pPr marL="285750" marR="0" lvl="0" indent="-285750" algn="just" defTabSz="914400" rtl="0" eaLnBrk="0" fontAlgn="base" latinLnBrk="0" hangingPunct="0">
              <a:lnSpc>
                <a:spcPct val="100000"/>
              </a:lnSpc>
              <a:spcAft>
                <a:spcPts val="500"/>
              </a:spcAft>
              <a:buClrTx/>
              <a:buSzTx/>
              <a:buFont typeface="Arial"/>
              <a:buChar char="•"/>
              <a:tabLst/>
            </a:pPr>
            <a:r>
              <a:rPr kumimoji="0" lang="en-US" altLang="en-US" dirty="0">
                <a:solidFill>
                  <a:schemeClr val="tx1"/>
                </a:solidFill>
                <a:latin typeface="Montserrat"/>
              </a:rPr>
              <a:t>Ratings and reviews are highly correlated with each other but weakly with price/capacity.</a:t>
            </a:r>
            <a:endParaRPr lang="en-US" altLang="en-US" dirty="0">
              <a:solidFill>
                <a:schemeClr val="tx1"/>
              </a:solidFill>
              <a:latin typeface="Montserrat"/>
            </a:endParaRPr>
          </a:p>
        </p:txBody>
      </p:sp>
      <p:pic>
        <p:nvPicPr>
          <p:cNvPr id="4" name="Picture 3" descr="Innomatics Technology Hub in JNTU, Kukatpally, Hyderabad">
            <a:extLst>
              <a:ext uri="{FF2B5EF4-FFF2-40B4-BE49-F238E27FC236}">
                <a16:creationId xmlns:a16="http://schemas.microsoft.com/office/drawing/2014/main" id="{94EFFE3D-4EFF-9489-2980-E2B2CD9B38B1}"/>
              </a:ext>
            </a:extLst>
          </p:cNvPr>
          <p:cNvPicPr>
            <a:picLocks noChangeAspect="1"/>
          </p:cNvPicPr>
          <p:nvPr/>
        </p:nvPicPr>
        <p:blipFill>
          <a:blip r:embed="rId3"/>
          <a:stretch>
            <a:fillRect/>
          </a:stretch>
        </p:blipFill>
        <p:spPr>
          <a:xfrm>
            <a:off x="7355421" y="4228345"/>
            <a:ext cx="1402344" cy="54777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8"/>
        <p:cNvGrpSpPr/>
        <p:nvPr/>
      </p:nvGrpSpPr>
      <p:grpSpPr>
        <a:xfrm>
          <a:off x="0" y="0"/>
          <a:ext cx="0" cy="0"/>
          <a:chOff x="0" y="0"/>
          <a:chExt cx="0" cy="0"/>
        </a:xfrm>
      </p:grpSpPr>
      <p:sp>
        <p:nvSpPr>
          <p:cNvPr id="1069" name="Google Shape;1069;p96"/>
          <p:cNvSpPr txBox="1">
            <a:spLocks noGrp="1"/>
          </p:cNvSpPr>
          <p:nvPr>
            <p:ph type="title"/>
          </p:nvPr>
        </p:nvSpPr>
        <p:spPr>
          <a:xfrm>
            <a:off x="353129" y="263268"/>
            <a:ext cx="3188700" cy="7319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p>
        </p:txBody>
      </p:sp>
      <p:sp>
        <p:nvSpPr>
          <p:cNvPr id="13" name="Subtitle 12">
            <a:extLst>
              <a:ext uri="{FF2B5EF4-FFF2-40B4-BE49-F238E27FC236}">
                <a16:creationId xmlns:a16="http://schemas.microsoft.com/office/drawing/2014/main" id="{4A06D5A5-2003-0789-D4D1-B40663A26FCC}"/>
              </a:ext>
            </a:extLst>
          </p:cNvPr>
          <p:cNvSpPr>
            <a:spLocks noGrp="1"/>
          </p:cNvSpPr>
          <p:nvPr>
            <p:ph type="subTitle" idx="6"/>
          </p:nvPr>
        </p:nvSpPr>
        <p:spPr>
          <a:xfrm>
            <a:off x="713271" y="1182573"/>
            <a:ext cx="7861658" cy="3102427"/>
          </a:xfrm>
        </p:spPr>
        <p:txBody>
          <a:bodyPr/>
          <a:lstStyle/>
          <a:p>
            <a:pPr marL="114300" indent="0" algn="l">
              <a:spcAft>
                <a:spcPts val="300"/>
              </a:spcAft>
            </a:pPr>
            <a:r>
              <a:rPr lang="en-US" sz="1600">
                <a:highlight>
                  <a:srgbClr val="FFFFFF"/>
                </a:highlight>
              </a:rPr>
              <a:t>.</a:t>
            </a:r>
            <a:endParaRPr lang="en-US" sz="1600"/>
          </a:p>
          <a:p>
            <a:pPr algn="l">
              <a:buFont typeface="Wingdings"/>
              <a:buChar char="§"/>
            </a:pPr>
            <a:endParaRPr lang="en-US" sz="1600"/>
          </a:p>
        </p:txBody>
      </p:sp>
      <p:sp>
        <p:nvSpPr>
          <p:cNvPr id="2" name="Rectangle 1">
            <a:extLst>
              <a:ext uri="{FF2B5EF4-FFF2-40B4-BE49-F238E27FC236}">
                <a16:creationId xmlns:a16="http://schemas.microsoft.com/office/drawing/2014/main" id="{0B279E4F-B354-FAAD-C269-31E04B5290F6}"/>
              </a:ext>
            </a:extLst>
          </p:cNvPr>
          <p:cNvSpPr>
            <a:spLocks noChangeArrowheads="1"/>
          </p:cNvSpPr>
          <p:nvPr/>
        </p:nvSpPr>
        <p:spPr bwMode="auto">
          <a:xfrm rot="10800000" flipV="1">
            <a:off x="612116" y="906633"/>
            <a:ext cx="7883526" cy="364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spcAft>
                <a:spcPts val="500"/>
              </a:spcAft>
              <a:buClrTx/>
              <a:buChar char="•"/>
            </a:pPr>
            <a:r>
              <a:rPr lang="en-US" sz="1600" dirty="0">
                <a:solidFill>
                  <a:schemeClr val="tx1"/>
                </a:solidFill>
                <a:latin typeface="Montserrat"/>
              </a:rPr>
              <a:t>Dataset reflects real market behavior with natural price skew and brand imbalance</a:t>
            </a:r>
            <a:endParaRPr lang="en-US" altLang="en-US" sz="1600" dirty="0">
              <a:solidFill>
                <a:schemeClr val="tx1"/>
              </a:solidFill>
              <a:latin typeface="Montserrat"/>
            </a:endParaRPr>
          </a:p>
          <a:p>
            <a:pPr marL="285750" indent="-285750" algn="just">
              <a:spcAft>
                <a:spcPts val="500"/>
              </a:spcAft>
              <a:buClrTx/>
              <a:buChar char="•"/>
            </a:pPr>
            <a:r>
              <a:rPr lang="en-US" sz="1600" dirty="0">
                <a:solidFill>
                  <a:schemeClr val="tx1"/>
                </a:solidFill>
                <a:latin typeface="Montserrat"/>
              </a:rPr>
              <a:t>Capacity (tons/room size) is the strongest predictor of price, more than ratings or warranty</a:t>
            </a:r>
          </a:p>
          <a:p>
            <a:pPr marL="285750" indent="-285750" algn="just">
              <a:spcAft>
                <a:spcPts val="500"/>
              </a:spcAft>
              <a:buClrTx/>
              <a:buChar char="•"/>
            </a:pPr>
            <a:r>
              <a:rPr lang="en-US" sz="1600" dirty="0">
                <a:solidFill>
                  <a:schemeClr val="tx1"/>
                </a:solidFill>
                <a:latin typeface="Montserrat"/>
              </a:rPr>
              <a:t>Energy efficiency adds cost, but consumers prefer balanced affordability (3-Star segment)</a:t>
            </a:r>
          </a:p>
          <a:p>
            <a:pPr marL="285750" indent="-285750" algn="just">
              <a:spcAft>
                <a:spcPts val="500"/>
              </a:spcAft>
              <a:buClrTx/>
              <a:buChar char="•"/>
            </a:pPr>
            <a:r>
              <a:rPr lang="en-US" sz="1600" dirty="0">
                <a:solidFill>
                  <a:schemeClr val="tx1"/>
                </a:solidFill>
                <a:latin typeface="Montserrat"/>
              </a:rPr>
              <a:t>Customer satisfaction is independent of price tier → expensive ≠ better ratings</a:t>
            </a:r>
          </a:p>
          <a:p>
            <a:pPr marL="285750" indent="-285750" algn="just">
              <a:spcAft>
                <a:spcPts val="500"/>
              </a:spcAft>
              <a:buClrTx/>
              <a:buChar char="•"/>
            </a:pPr>
            <a:r>
              <a:rPr lang="en-US" sz="1600" dirty="0">
                <a:solidFill>
                  <a:schemeClr val="tx1"/>
                </a:solidFill>
                <a:latin typeface="Montserrat"/>
              </a:rPr>
              <a:t>Market competition is driven more by brand positioning than technical differences</a:t>
            </a:r>
          </a:p>
          <a:p>
            <a:pPr marL="285750" indent="-285750" algn="just">
              <a:spcAft>
                <a:spcPts val="500"/>
              </a:spcAft>
              <a:buClrTx/>
              <a:buChar char="•"/>
            </a:pPr>
            <a:r>
              <a:rPr lang="en-US" sz="1600" dirty="0">
                <a:solidFill>
                  <a:schemeClr val="tx1"/>
                </a:solidFill>
                <a:latin typeface="Montserrat"/>
              </a:rPr>
              <a:t>Cleaned dataset is reliable and ready for future prediction or recommendation modeling</a:t>
            </a:r>
          </a:p>
          <a:p>
            <a:pPr marL="571500" marR="0" lvl="0" indent="-285750" algn="just" defTabSz="914400">
              <a:lnSpc>
                <a:spcPct val="100000"/>
              </a:lnSpc>
              <a:spcAft>
                <a:spcPts val="500"/>
              </a:spcAft>
              <a:buClrTx/>
              <a:buSzTx/>
              <a:buChar char="•"/>
              <a:tabLst/>
            </a:pPr>
            <a:endParaRPr lang="en-US" altLang="en-US" sz="1600" b="0" i="0" u="none" strike="noStrike" cap="none" normalizeH="0" baseline="0" dirty="0">
              <a:ln>
                <a:noFill/>
              </a:ln>
              <a:solidFill>
                <a:schemeClr val="tx1"/>
              </a:solidFill>
              <a:effectLst/>
              <a:latin typeface="Montserrat"/>
            </a:endParaRPr>
          </a:p>
        </p:txBody>
      </p:sp>
      <p:pic>
        <p:nvPicPr>
          <p:cNvPr id="4" name="Picture 3" descr="Innomatics Technology Hub in JNTU, Kukatpally, Hyderabad">
            <a:extLst>
              <a:ext uri="{FF2B5EF4-FFF2-40B4-BE49-F238E27FC236}">
                <a16:creationId xmlns:a16="http://schemas.microsoft.com/office/drawing/2014/main" id="{66F1C63F-F3C8-5475-8E76-73D046FA0C3B}"/>
              </a:ext>
            </a:extLst>
          </p:cNvPr>
          <p:cNvPicPr>
            <a:picLocks noChangeAspect="1"/>
          </p:cNvPicPr>
          <p:nvPr/>
        </p:nvPicPr>
        <p:blipFill>
          <a:blip r:embed="rId3"/>
          <a:stretch>
            <a:fillRect/>
          </a:stretch>
        </p:blipFill>
        <p:spPr>
          <a:xfrm>
            <a:off x="7355421" y="4228345"/>
            <a:ext cx="1402344" cy="54777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descr="A handshake with a white background&#10;&#10;AI-generated content may be incorrect.">
            <a:extLst>
              <a:ext uri="{FF2B5EF4-FFF2-40B4-BE49-F238E27FC236}">
                <a16:creationId xmlns:a16="http://schemas.microsoft.com/office/drawing/2014/main" id="{B161AD36-8237-1A72-ECA2-EE6169A16DD9}"/>
              </a:ext>
            </a:extLst>
          </p:cNvPr>
          <p:cNvPicPr>
            <a:picLocks noChangeAspect="1"/>
          </p:cNvPicPr>
          <p:nvPr/>
        </p:nvPicPr>
        <p:blipFill>
          <a:blip r:embed="rId2"/>
          <a:srcRect r="-939" b="332"/>
          <a:stretch>
            <a:fillRect/>
          </a:stretch>
        </p:blipFill>
        <p:spPr>
          <a:xfrm>
            <a:off x="5055083" y="1177371"/>
            <a:ext cx="3564449" cy="2490563"/>
          </a:xfrm>
          <a:prstGeom prst="rect">
            <a:avLst/>
          </a:prstGeom>
        </p:spPr>
      </p:pic>
      <p:sp>
        <p:nvSpPr>
          <p:cNvPr id="12" name="TextBox 11">
            <a:extLst>
              <a:ext uri="{FF2B5EF4-FFF2-40B4-BE49-F238E27FC236}">
                <a16:creationId xmlns:a16="http://schemas.microsoft.com/office/drawing/2014/main" id="{7EE21F28-B1BC-6E6A-9D58-02C79582EF03}"/>
              </a:ext>
            </a:extLst>
          </p:cNvPr>
          <p:cNvSpPr txBox="1"/>
          <p:nvPr/>
        </p:nvSpPr>
        <p:spPr>
          <a:xfrm>
            <a:off x="1316935" y="2008533"/>
            <a:ext cx="3453848"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latin typeface="Vidaloka"/>
              </a:rPr>
              <a:t>Thank You</a:t>
            </a:r>
          </a:p>
          <a:p>
            <a:pPr algn="ctr"/>
            <a:endParaRPr lang="en-US"/>
          </a:p>
        </p:txBody>
      </p:sp>
      <p:pic>
        <p:nvPicPr>
          <p:cNvPr id="14" name="Picture 13" descr="Innomatics Technology Hub in JNTU, Kukatpally, Hyderabad">
            <a:extLst>
              <a:ext uri="{FF2B5EF4-FFF2-40B4-BE49-F238E27FC236}">
                <a16:creationId xmlns:a16="http://schemas.microsoft.com/office/drawing/2014/main" id="{04D195DD-0222-9622-F3B8-AB9A66A81FF9}"/>
              </a:ext>
            </a:extLst>
          </p:cNvPr>
          <p:cNvPicPr>
            <a:picLocks noChangeAspect="1"/>
          </p:cNvPicPr>
          <p:nvPr/>
        </p:nvPicPr>
        <p:blipFill>
          <a:blip r:embed="rId3"/>
          <a:stretch>
            <a:fillRect/>
          </a:stretch>
        </p:blipFill>
        <p:spPr>
          <a:xfrm>
            <a:off x="7355421" y="4228345"/>
            <a:ext cx="1402344" cy="547776"/>
          </a:xfrm>
          <a:prstGeom prst="rect">
            <a:avLst/>
          </a:prstGeom>
        </p:spPr>
      </p:pic>
    </p:spTree>
    <p:extLst>
      <p:ext uri="{BB962C8B-B14F-4D97-AF65-F5344CB8AC3E}">
        <p14:creationId xmlns:p14="http://schemas.microsoft.com/office/powerpoint/2010/main" val="3969423718"/>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38</Slides>
  <Notes>31</Notes>
  <HiddenSlides>0</HiddenSlides>
  <ScaleCrop>false</ScaleCrop>
  <HeadingPairs>
    <vt:vector size="4" baseType="variant">
      <vt:variant>
        <vt:lpstr>Theme</vt:lpstr>
      </vt:variant>
      <vt:variant>
        <vt:i4>3</vt:i4>
      </vt:variant>
      <vt:variant>
        <vt:lpstr>Slide Titles</vt:lpstr>
      </vt:variant>
      <vt:variant>
        <vt:i4>38</vt:i4>
      </vt:variant>
    </vt:vector>
  </HeadingPairs>
  <TitlesOfParts>
    <vt:vector size="41" baseType="lpstr">
      <vt:lpstr>Minimalist Business Slides XL by Slidesgo</vt:lpstr>
      <vt:lpstr>Slidesgo Final Pages</vt:lpstr>
      <vt:lpstr>Slidesgo Final Pages</vt:lpstr>
      <vt:lpstr>AC Analysis</vt:lpstr>
      <vt:lpstr>Introduction</vt:lpstr>
      <vt:lpstr>Data Overview</vt:lpstr>
      <vt:lpstr>Key Columns Overview </vt:lpstr>
      <vt:lpstr>Problem Statement</vt:lpstr>
      <vt:lpstr>Tools &amp; libraries </vt:lpstr>
      <vt:lpstr>Web Scrapping</vt:lpstr>
      <vt:lpstr>Raw Data Set</vt:lpstr>
      <vt:lpstr>Loading to CSV</vt:lpstr>
      <vt:lpstr>Data Cleaning Using Regex</vt:lpstr>
      <vt:lpstr>PowerPoint Presentation</vt:lpstr>
      <vt:lpstr>Data Structure </vt:lpstr>
      <vt:lpstr>Statistics observation </vt:lpstr>
      <vt:lpstr>PowerPoint Presentation</vt:lpstr>
      <vt:lpstr>Filling Missing Values</vt:lpstr>
      <vt:lpstr>Converting Datatype </vt:lpstr>
      <vt:lpstr>Duplicates</vt:lpstr>
      <vt:lpstr>Unique Values  </vt:lpstr>
      <vt:lpstr>Statistical Summary</vt:lpstr>
      <vt:lpstr>Skewness Observation</vt:lpstr>
      <vt:lpstr>PowerPoint Presentation</vt:lpstr>
      <vt:lpstr>Barplot</vt:lpstr>
      <vt:lpstr>Hist Plot  </vt:lpstr>
      <vt:lpstr>Pie Plot</vt:lpstr>
      <vt:lpstr>Count Plot</vt:lpstr>
      <vt:lpstr>Scatter Plot</vt:lpstr>
      <vt:lpstr>Line Plot</vt:lpstr>
      <vt:lpstr>Box Plot</vt:lpstr>
      <vt:lpstr>Violin Plot</vt:lpstr>
      <vt:lpstr>Bar Plot</vt:lpstr>
      <vt:lpstr>Barh Plot</vt:lpstr>
      <vt:lpstr>Count Plot</vt:lpstr>
      <vt:lpstr>Sub Plot</vt:lpstr>
      <vt:lpstr>Heat Plot</vt:lpstr>
      <vt:lpstr>Pair Plot</vt:lpstr>
      <vt:lpstr>Summary</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pravallika</dc:creator>
  <cp:revision>342</cp:revision>
  <dcterms:modified xsi:type="dcterms:W3CDTF">2026-02-11T04:06:55Z</dcterms:modified>
</cp:coreProperties>
</file>